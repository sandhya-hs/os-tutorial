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73" r:id="rId11"/>
    <p:sldId id="265" r:id="rId12"/>
    <p:sldId id="271" r:id="rId13"/>
    <p:sldId id="267" r:id="rId14"/>
    <p:sldId id="269" r:id="rId15"/>
    <p:sldId id="268" r:id="rId16"/>
    <p:sldId id="272" r:id="rId17"/>
    <p:sldId id="274" r:id="rId18"/>
    <p:sldId id="275" r:id="rId19"/>
    <p:sldId id="276" r:id="rId20"/>
    <p:sldId id="270" r:id="rId21"/>
    <p:sldId id="277"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2705" autoAdjust="0"/>
  </p:normalViewPr>
  <p:slideViewPr>
    <p:cSldViewPr snapToGrid="0">
      <p:cViewPr>
        <p:scale>
          <a:sx n="81" d="100"/>
          <a:sy n="81" d="100"/>
        </p:scale>
        <p:origin x="-300" y="21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2CF6849-20AA-43E0-A27F-9779161156B5}" type="datetimeFigureOut">
              <a:rPr lang="en-US" smtClean="0"/>
              <a:t>1/2/2022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97EA472-DEFF-40AC-B886-7E8EBE320FD1}" type="slidenum">
              <a:rPr lang="en-US" smtClean="0"/>
              <a:t>‹#›</a:t>
            </a:fld>
            <a:endParaRPr lang="en-US"/>
          </a:p>
        </p:txBody>
      </p:sp>
    </p:spTree>
    <p:extLst>
      <p:ext uri="{BB962C8B-B14F-4D97-AF65-F5344CB8AC3E}">
        <p14:creationId xmlns:p14="http://schemas.microsoft.com/office/powerpoint/2010/main" val="34267114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62CF6849-20AA-43E0-A27F-9779161156B5}" type="datetimeFigureOut">
              <a:rPr lang="en-US" smtClean="0"/>
              <a:t>1/2/2022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97EA472-DEFF-40AC-B886-7E8EBE320FD1}" type="slidenum">
              <a:rPr lang="en-US" smtClean="0"/>
              <a:t>‹#›</a:t>
            </a:fld>
            <a:endParaRPr lang="en-US"/>
          </a:p>
        </p:txBody>
      </p:sp>
    </p:spTree>
    <p:extLst>
      <p:ext uri="{BB962C8B-B14F-4D97-AF65-F5344CB8AC3E}">
        <p14:creationId xmlns:p14="http://schemas.microsoft.com/office/powerpoint/2010/main" val="36211055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2CF6849-20AA-43E0-A27F-9779161156B5}" type="datetimeFigureOut">
              <a:rPr lang="en-US" smtClean="0"/>
              <a:t>1/2/2022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97EA472-DEFF-40AC-B886-7E8EBE320FD1}" type="slidenum">
              <a:rPr lang="en-US" smtClean="0"/>
              <a:t>‹#›</a:t>
            </a:fld>
            <a:endParaRPr lang="en-US"/>
          </a:p>
        </p:txBody>
      </p:sp>
    </p:spTree>
    <p:extLst>
      <p:ext uri="{BB962C8B-B14F-4D97-AF65-F5344CB8AC3E}">
        <p14:creationId xmlns:p14="http://schemas.microsoft.com/office/powerpoint/2010/main" val="29784263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62CF6849-20AA-43E0-A27F-9779161156B5}" type="datetimeFigureOut">
              <a:rPr lang="en-US" smtClean="0"/>
              <a:t>1/2/2022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97EA472-DEFF-40AC-B886-7E8EBE320FD1}" type="slidenum">
              <a:rPr lang="en-US" smtClean="0"/>
              <a:t>‹#›</a:t>
            </a:fld>
            <a:endParaRPr lang="en-US"/>
          </a:p>
        </p:txBody>
      </p:sp>
    </p:spTree>
    <p:extLst>
      <p:ext uri="{BB962C8B-B14F-4D97-AF65-F5344CB8AC3E}">
        <p14:creationId xmlns:p14="http://schemas.microsoft.com/office/powerpoint/2010/main" val="42136949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62CF6849-20AA-43E0-A27F-9779161156B5}" type="datetimeFigureOut">
              <a:rPr lang="en-US" smtClean="0"/>
              <a:t>1/2/2022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97EA472-DEFF-40AC-B886-7E8EBE320FD1}" type="slidenum">
              <a:rPr lang="en-US" smtClean="0"/>
              <a:t>‹#›</a:t>
            </a:fld>
            <a:endParaRPr lang="en-US"/>
          </a:p>
        </p:txBody>
      </p:sp>
    </p:spTree>
    <p:extLst>
      <p:ext uri="{BB962C8B-B14F-4D97-AF65-F5344CB8AC3E}">
        <p14:creationId xmlns:p14="http://schemas.microsoft.com/office/powerpoint/2010/main" val="12219887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2CF6849-20AA-43E0-A27F-9779161156B5}" type="datetimeFigureOut">
              <a:rPr lang="en-US" smtClean="0"/>
              <a:t>1/2/2022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97EA472-DEFF-40AC-B886-7E8EBE320FD1}" type="slidenum">
              <a:rPr lang="en-US" smtClean="0"/>
              <a:t>‹#›</a:t>
            </a:fld>
            <a:endParaRPr lang="en-US"/>
          </a:p>
        </p:txBody>
      </p:sp>
    </p:spTree>
    <p:extLst>
      <p:ext uri="{BB962C8B-B14F-4D97-AF65-F5344CB8AC3E}">
        <p14:creationId xmlns:p14="http://schemas.microsoft.com/office/powerpoint/2010/main" val="19813058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2CF6849-20AA-43E0-A27F-9779161156B5}" type="datetimeFigureOut">
              <a:rPr lang="en-US" smtClean="0"/>
              <a:t>1/2/2022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97EA472-DEFF-40AC-B886-7E8EBE320FD1}" type="slidenum">
              <a:rPr lang="en-US" smtClean="0"/>
              <a:t>‹#›</a:t>
            </a:fld>
            <a:endParaRPr lang="en-US"/>
          </a:p>
        </p:txBody>
      </p:sp>
    </p:spTree>
    <p:extLst>
      <p:ext uri="{BB962C8B-B14F-4D97-AF65-F5344CB8AC3E}">
        <p14:creationId xmlns:p14="http://schemas.microsoft.com/office/powerpoint/2010/main" val="40130152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62CF6849-20AA-43E0-A27F-9779161156B5}" type="datetimeFigureOut">
              <a:rPr lang="en-US" smtClean="0"/>
              <a:t>1/2/2022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97EA472-DEFF-40AC-B886-7E8EBE320FD1}" type="slidenum">
              <a:rPr lang="en-US" smtClean="0"/>
              <a:t>‹#›</a:t>
            </a:fld>
            <a:endParaRPr lang="en-US"/>
          </a:p>
        </p:txBody>
      </p:sp>
    </p:spTree>
    <p:extLst>
      <p:ext uri="{BB962C8B-B14F-4D97-AF65-F5344CB8AC3E}">
        <p14:creationId xmlns:p14="http://schemas.microsoft.com/office/powerpoint/2010/main" val="17472128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62CF6849-20AA-43E0-A27F-9779161156B5}" type="datetimeFigureOut">
              <a:rPr lang="en-US" smtClean="0"/>
              <a:t>1/2/2022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97EA472-DEFF-40AC-B886-7E8EBE320FD1}" type="slidenum">
              <a:rPr lang="en-US" smtClean="0"/>
              <a:t>‹#›</a:t>
            </a:fld>
            <a:endParaRPr lang="en-US"/>
          </a:p>
        </p:txBody>
      </p:sp>
    </p:spTree>
    <p:extLst>
      <p:ext uri="{BB962C8B-B14F-4D97-AF65-F5344CB8AC3E}">
        <p14:creationId xmlns:p14="http://schemas.microsoft.com/office/powerpoint/2010/main" val="7279806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62CF6849-20AA-43E0-A27F-9779161156B5}" type="datetimeFigureOut">
              <a:rPr lang="en-US" smtClean="0"/>
              <a:t>1/2/2022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97EA472-DEFF-40AC-B886-7E8EBE320FD1}" type="slidenum">
              <a:rPr lang="en-US" smtClean="0"/>
              <a:t>‹#›</a:t>
            </a:fld>
            <a:endParaRPr lang="en-US"/>
          </a:p>
        </p:txBody>
      </p:sp>
    </p:spTree>
    <p:extLst>
      <p:ext uri="{BB962C8B-B14F-4D97-AF65-F5344CB8AC3E}">
        <p14:creationId xmlns:p14="http://schemas.microsoft.com/office/powerpoint/2010/main" val="16531860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62CF6849-20AA-43E0-A27F-9779161156B5}" type="datetimeFigureOut">
              <a:rPr lang="en-US" smtClean="0"/>
              <a:t>1/2/2022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97EA472-DEFF-40AC-B886-7E8EBE320FD1}" type="slidenum">
              <a:rPr lang="en-US" smtClean="0"/>
              <a:t>‹#›</a:t>
            </a:fld>
            <a:endParaRPr lang="en-US"/>
          </a:p>
        </p:txBody>
      </p:sp>
    </p:spTree>
    <p:extLst>
      <p:ext uri="{BB962C8B-B14F-4D97-AF65-F5344CB8AC3E}">
        <p14:creationId xmlns:p14="http://schemas.microsoft.com/office/powerpoint/2010/main" val="21136281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2CF6849-20AA-43E0-A27F-9779161156B5}" type="datetimeFigureOut">
              <a:rPr lang="en-US" smtClean="0"/>
              <a:t>1/2/2022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97EA472-DEFF-40AC-B886-7E8EBE320FD1}" type="slidenum">
              <a:rPr lang="en-US" smtClean="0"/>
              <a:t>‹#›</a:t>
            </a:fld>
            <a:endParaRPr lang="en-US"/>
          </a:p>
        </p:txBody>
      </p:sp>
    </p:spTree>
    <p:extLst>
      <p:ext uri="{BB962C8B-B14F-4D97-AF65-F5344CB8AC3E}">
        <p14:creationId xmlns:p14="http://schemas.microsoft.com/office/powerpoint/2010/main" val="272015510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stretch>
            <a:fillRect/>
          </a:stretch>
        </p:blipFill>
        <p:spPr>
          <a:xfrm>
            <a:off x="1490480" y="404949"/>
            <a:ext cx="9466145" cy="1636189"/>
          </a:xfrm>
          <a:prstGeom prst="rect">
            <a:avLst/>
          </a:prstGeom>
        </p:spPr>
      </p:pic>
      <p:graphicFrame>
        <p:nvGraphicFramePr>
          <p:cNvPr id="14" name="Table 13"/>
          <p:cNvGraphicFramePr>
            <a:graphicFrameLocks noGrp="1"/>
          </p:cNvGraphicFramePr>
          <p:nvPr>
            <p:extLst>
              <p:ext uri="{D42A27DB-BD31-4B8C-83A1-F6EECF244321}">
                <p14:modId xmlns:p14="http://schemas.microsoft.com/office/powerpoint/2010/main" val="3470714025"/>
              </p:ext>
            </p:extLst>
          </p:nvPr>
        </p:nvGraphicFramePr>
        <p:xfrm>
          <a:off x="2013542" y="5294231"/>
          <a:ext cx="8414822" cy="1335940"/>
        </p:xfrm>
        <a:graphic>
          <a:graphicData uri="http://schemas.openxmlformats.org/drawingml/2006/table">
            <a:tbl>
              <a:tblPr firstRow="1" firstCol="1" lastRow="1" lastCol="1" bandRow="1" bandCol="1"/>
              <a:tblGrid>
                <a:gridCol w="1373654">
                  <a:extLst>
                    <a:ext uri="{9D8B030D-6E8A-4147-A177-3AD203B41FA5}">
                      <a16:colId xmlns="" xmlns:a16="http://schemas.microsoft.com/office/drawing/2014/main" val="3909881184"/>
                    </a:ext>
                  </a:extLst>
                </a:gridCol>
                <a:gridCol w="2836409">
                  <a:extLst>
                    <a:ext uri="{9D8B030D-6E8A-4147-A177-3AD203B41FA5}">
                      <a16:colId xmlns="" xmlns:a16="http://schemas.microsoft.com/office/drawing/2014/main" val="2311398943"/>
                    </a:ext>
                  </a:extLst>
                </a:gridCol>
                <a:gridCol w="4204759">
                  <a:extLst>
                    <a:ext uri="{9D8B030D-6E8A-4147-A177-3AD203B41FA5}">
                      <a16:colId xmlns="" xmlns:a16="http://schemas.microsoft.com/office/drawing/2014/main" val="899798524"/>
                    </a:ext>
                  </a:extLst>
                </a:gridCol>
              </a:tblGrid>
              <a:tr h="431074">
                <a:tc>
                  <a:txBody>
                    <a:bodyPr/>
                    <a:lstStyle/>
                    <a:p>
                      <a:pPr marL="75565" marR="0">
                        <a:lnSpc>
                          <a:spcPts val="1600"/>
                        </a:lnSpc>
                        <a:spcBef>
                          <a:spcPts val="0"/>
                        </a:spcBef>
                        <a:spcAft>
                          <a:spcPts val="0"/>
                        </a:spcAft>
                      </a:pPr>
                      <a:r>
                        <a:rPr lang="en-US" sz="1400" b="1" dirty="0">
                          <a:effectLst/>
                          <a:latin typeface="Times New Roman" panose="02020603050405020304" pitchFamily="18" charset="0"/>
                          <a:ea typeface="Carlito"/>
                          <a:cs typeface="Carlito"/>
                        </a:rPr>
                        <a:t>Sl. No.</a:t>
                      </a:r>
                      <a:endParaRPr lang="en-US" sz="1200" dirty="0">
                        <a:effectLst/>
                        <a:latin typeface="Carlito"/>
                        <a:ea typeface="Carlito"/>
                        <a:cs typeface="Carlito"/>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75565" marR="0" algn="ctr">
                        <a:lnSpc>
                          <a:spcPts val="1600"/>
                        </a:lnSpc>
                        <a:spcBef>
                          <a:spcPts val="0"/>
                        </a:spcBef>
                        <a:spcAft>
                          <a:spcPts val="0"/>
                        </a:spcAft>
                      </a:pPr>
                      <a:r>
                        <a:rPr lang="en-US" sz="1600" b="1" dirty="0">
                          <a:effectLst/>
                          <a:latin typeface="Times New Roman" panose="02020603050405020304" pitchFamily="18" charset="0"/>
                          <a:ea typeface="Carlito"/>
                          <a:cs typeface="Carlito"/>
                        </a:rPr>
                        <a:t>USN</a:t>
                      </a:r>
                      <a:endParaRPr lang="en-US" sz="1400" dirty="0">
                        <a:effectLst/>
                        <a:latin typeface="Carlito"/>
                        <a:ea typeface="Carlito"/>
                        <a:cs typeface="Carlito"/>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74295" marR="0" algn="ctr">
                        <a:lnSpc>
                          <a:spcPts val="1600"/>
                        </a:lnSpc>
                        <a:spcBef>
                          <a:spcPts val="0"/>
                        </a:spcBef>
                        <a:spcAft>
                          <a:spcPts val="0"/>
                        </a:spcAft>
                      </a:pPr>
                      <a:r>
                        <a:rPr lang="en-US" sz="1800" b="1" dirty="0">
                          <a:effectLst/>
                          <a:latin typeface="Times New Roman" panose="02020603050405020304" pitchFamily="18" charset="0"/>
                          <a:ea typeface="Carlito"/>
                          <a:cs typeface="Carlito"/>
                        </a:rPr>
                        <a:t>NAME</a:t>
                      </a:r>
                      <a:endParaRPr lang="en-US" sz="1600" dirty="0">
                        <a:effectLst/>
                        <a:latin typeface="Carlito"/>
                        <a:ea typeface="Carlito"/>
                        <a:cs typeface="Carlito"/>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234524197"/>
                  </a:ext>
                </a:extLst>
              </a:tr>
              <a:tr h="470263">
                <a:tc>
                  <a:txBody>
                    <a:bodyPr/>
                    <a:lstStyle/>
                    <a:p>
                      <a:pPr marL="0" marR="0" lvl="0" indent="0" algn="ctr">
                        <a:lnSpc>
                          <a:spcPts val="1600"/>
                        </a:lnSpc>
                        <a:spcBef>
                          <a:spcPts val="10"/>
                        </a:spcBef>
                        <a:spcAft>
                          <a:spcPts val="0"/>
                        </a:spcAft>
                        <a:buFont typeface="+mj-lt"/>
                        <a:buNone/>
                      </a:pPr>
                      <a:r>
                        <a:rPr lang="en-US" sz="1600" dirty="0" smtClean="0">
                          <a:effectLst/>
                          <a:latin typeface="Times New Roman" panose="02020603050405020304" pitchFamily="18" charset="0"/>
                          <a:ea typeface="Carlito"/>
                          <a:cs typeface="Carlito"/>
                        </a:rPr>
                        <a:t>1.</a:t>
                      </a:r>
                      <a:endParaRPr lang="en-US" sz="1400" dirty="0">
                        <a:effectLst/>
                        <a:latin typeface="Carlito"/>
                        <a:ea typeface="Carlito"/>
                        <a:cs typeface="Carlito"/>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75565" marR="0" algn="ctr">
                        <a:lnSpc>
                          <a:spcPts val="1600"/>
                        </a:lnSpc>
                        <a:spcBef>
                          <a:spcPts val="10"/>
                        </a:spcBef>
                        <a:spcAft>
                          <a:spcPts val="0"/>
                        </a:spcAft>
                      </a:pPr>
                      <a:r>
                        <a:rPr lang="en-US" sz="1600" dirty="0" smtClean="0">
                          <a:effectLst/>
                          <a:latin typeface="Times New Roman" panose="02020603050405020304" pitchFamily="18" charset="0"/>
                          <a:ea typeface="Carlito"/>
                          <a:cs typeface="Carlito"/>
                        </a:rPr>
                        <a:t>4NI19CS097</a:t>
                      </a:r>
                      <a:endParaRPr lang="en-US" sz="1400" dirty="0">
                        <a:effectLst/>
                        <a:latin typeface="Carlito"/>
                        <a:ea typeface="Carlito"/>
                        <a:cs typeface="Carlito"/>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74295" marR="0">
                        <a:lnSpc>
                          <a:spcPts val="1600"/>
                        </a:lnSpc>
                        <a:spcBef>
                          <a:spcPts val="10"/>
                        </a:spcBef>
                        <a:spcAft>
                          <a:spcPts val="0"/>
                        </a:spcAft>
                      </a:pPr>
                      <a:r>
                        <a:rPr lang="en-US" sz="1600" dirty="0" smtClean="0">
                          <a:effectLst/>
                          <a:latin typeface="Times New Roman" panose="02020603050405020304" pitchFamily="18" charset="0"/>
                          <a:ea typeface="Carlito"/>
                          <a:cs typeface="Carlito"/>
                        </a:rPr>
                        <a:t>SANJANA</a:t>
                      </a:r>
                      <a:r>
                        <a:rPr lang="en-US" sz="1600" baseline="0" dirty="0" smtClean="0">
                          <a:effectLst/>
                          <a:latin typeface="Times New Roman" panose="02020603050405020304" pitchFamily="18" charset="0"/>
                          <a:ea typeface="Carlito"/>
                          <a:cs typeface="Carlito"/>
                        </a:rPr>
                        <a:t> URS K</a:t>
                      </a:r>
                      <a:endParaRPr lang="en-US" sz="1400" dirty="0">
                        <a:effectLst/>
                        <a:latin typeface="Carlito"/>
                        <a:ea typeface="Carlito"/>
                        <a:cs typeface="Carlito"/>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3975341937"/>
                  </a:ext>
                </a:extLst>
              </a:tr>
              <a:tr h="434603">
                <a:tc>
                  <a:txBody>
                    <a:bodyPr/>
                    <a:lstStyle/>
                    <a:p>
                      <a:pPr marL="0" marR="0" lvl="0" indent="0" algn="ctr">
                        <a:lnSpc>
                          <a:spcPts val="1600"/>
                        </a:lnSpc>
                        <a:spcBef>
                          <a:spcPts val="10"/>
                        </a:spcBef>
                        <a:spcAft>
                          <a:spcPts val="0"/>
                        </a:spcAft>
                        <a:buFont typeface="+mj-lt"/>
                        <a:buNone/>
                      </a:pPr>
                      <a:r>
                        <a:rPr lang="en-US" sz="1600" dirty="0" smtClean="0">
                          <a:effectLst/>
                          <a:latin typeface="Times New Roman" panose="02020603050405020304" pitchFamily="18" charset="0"/>
                          <a:ea typeface="Carlito"/>
                          <a:cs typeface="Carlito"/>
                        </a:rPr>
                        <a:t>2.</a:t>
                      </a:r>
                      <a:endParaRPr lang="en-US" sz="1400" dirty="0">
                        <a:effectLst/>
                        <a:latin typeface="Carlito"/>
                        <a:ea typeface="Carlito"/>
                        <a:cs typeface="Carlito"/>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75565" marR="0" algn="ctr">
                        <a:lnSpc>
                          <a:spcPts val="1600"/>
                        </a:lnSpc>
                        <a:spcBef>
                          <a:spcPts val="10"/>
                        </a:spcBef>
                        <a:spcAft>
                          <a:spcPts val="0"/>
                        </a:spcAft>
                      </a:pPr>
                      <a:r>
                        <a:rPr lang="en-US" sz="1600" dirty="0" smtClean="0">
                          <a:effectLst/>
                          <a:latin typeface="Times New Roman" panose="02020603050405020304" pitchFamily="18" charset="0"/>
                          <a:ea typeface="Carlito"/>
                          <a:cs typeface="Carlito"/>
                        </a:rPr>
                        <a:t>4NI20CS406</a:t>
                      </a:r>
                      <a:endParaRPr lang="en-US" sz="1400" dirty="0">
                        <a:effectLst/>
                        <a:latin typeface="Carlito"/>
                        <a:ea typeface="Carlito"/>
                        <a:cs typeface="Carlito"/>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74295" marR="0">
                        <a:lnSpc>
                          <a:spcPts val="1600"/>
                        </a:lnSpc>
                        <a:spcBef>
                          <a:spcPts val="10"/>
                        </a:spcBef>
                        <a:spcAft>
                          <a:spcPts val="0"/>
                        </a:spcAft>
                      </a:pPr>
                      <a:r>
                        <a:rPr lang="en-US" sz="1600" dirty="0" smtClean="0">
                          <a:effectLst/>
                          <a:latin typeface="Times New Roman" panose="02020603050405020304" pitchFamily="18" charset="0"/>
                          <a:ea typeface="Carlito"/>
                          <a:cs typeface="Carlito"/>
                        </a:rPr>
                        <a:t>SANDHYA</a:t>
                      </a:r>
                      <a:r>
                        <a:rPr lang="en-US" sz="1600" baseline="0" dirty="0" smtClean="0">
                          <a:effectLst/>
                          <a:latin typeface="Times New Roman" panose="02020603050405020304" pitchFamily="18" charset="0"/>
                          <a:ea typeface="Carlito"/>
                          <a:cs typeface="Carlito"/>
                        </a:rPr>
                        <a:t> HS</a:t>
                      </a:r>
                      <a:endParaRPr lang="en-US" sz="1400" dirty="0">
                        <a:effectLst/>
                        <a:latin typeface="Carlito"/>
                        <a:ea typeface="Carlito"/>
                        <a:cs typeface="Carlito"/>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64840359"/>
                  </a:ext>
                </a:extLst>
              </a:tr>
            </a:tbl>
          </a:graphicData>
        </a:graphic>
      </p:graphicFrame>
      <p:sp>
        <p:nvSpPr>
          <p:cNvPr id="15" name="Rectangle 6"/>
          <p:cNvSpPr>
            <a:spLocks noChangeArrowheads="1"/>
          </p:cNvSpPr>
          <p:nvPr/>
        </p:nvSpPr>
        <p:spPr bwMode="auto">
          <a:xfrm>
            <a:off x="3300660" y="1922634"/>
            <a:ext cx="5840586" cy="27238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30163" algn="ctr" defTabSz="914400" rtl="0" eaLnBrk="0" fontAlgn="base" latinLnBrk="0" hangingPunct="0">
              <a:lnSpc>
                <a:spcPct val="150000"/>
              </a:lnSpc>
              <a:spcBef>
                <a:spcPct val="0"/>
              </a:spcBef>
              <a:spcAft>
                <a:spcPct val="0"/>
              </a:spcAft>
              <a:buClrTx/>
              <a:buSzTx/>
              <a:buFontTx/>
              <a:buNone/>
              <a:tabLst/>
            </a:pPr>
            <a:r>
              <a:rPr kumimoji="0" lang="en-US" altLang="en-US" sz="1600" b="0" i="0" u="none" strike="noStrike" cap="none" normalizeH="0" baseline="0" dirty="0" smtClean="0">
                <a:ln>
                  <a:noFill/>
                </a:ln>
                <a:solidFill>
                  <a:schemeClr val="tx1"/>
                </a:solidFill>
                <a:effectLst/>
                <a:latin typeface="Arial" panose="020B0604020202020204" pitchFamily="34" charset="0"/>
                <a:ea typeface="Times New Roman" panose="02020603050405020304" pitchFamily="18" charset="0"/>
              </a:rPr>
              <a:t>  </a:t>
            </a:r>
            <a:r>
              <a:rPr kumimoji="0" lang="en-US" altLang="en-US" sz="2000" b="0" i="0" u="none" strike="noStrike" cap="none" normalizeH="0" baseline="0" dirty="0" smtClean="0">
                <a:ln>
                  <a:noFill/>
                </a:ln>
                <a:solidFill>
                  <a:schemeClr val="tx1"/>
                </a:solidFill>
                <a:effectLst/>
                <a:latin typeface="Arial" panose="020B0604020202020204" pitchFamily="34" charset="0"/>
                <a:ea typeface="Times New Roman" panose="02020603050405020304" pitchFamily="18" charset="0"/>
              </a:rPr>
              <a:t>Operating System tutorials (CS5C02) – 2021-22</a:t>
            </a:r>
          </a:p>
          <a:p>
            <a:pPr marL="0" marR="0" lvl="0" indent="30163" algn="ctr" defTabSz="914400" rtl="0" eaLnBrk="0" fontAlgn="base" latinLnBrk="0" hangingPunct="0">
              <a:lnSpc>
                <a:spcPct val="150000"/>
              </a:lnSpc>
              <a:spcBef>
                <a:spcPct val="0"/>
              </a:spcBef>
              <a:spcAft>
                <a:spcPct val="0"/>
              </a:spcAft>
              <a:buClrTx/>
              <a:buSzTx/>
              <a:buFontTx/>
              <a:buNone/>
              <a:tabLst/>
            </a:pPr>
            <a:r>
              <a:rPr lang="en-US" altLang="en-US" sz="2000" dirty="0" smtClean="0">
                <a:ea typeface="Times New Roman" panose="02020603050405020304" pitchFamily="18" charset="0"/>
              </a:rPr>
              <a:t>To the Course Instructor</a:t>
            </a:r>
          </a:p>
          <a:p>
            <a:pPr marL="0" marR="0" lvl="0" indent="30163" algn="ctr" defTabSz="914400" rtl="0" eaLnBrk="0" fontAlgn="base" latinLnBrk="0" hangingPunct="0">
              <a:lnSpc>
                <a:spcPct val="150000"/>
              </a:lnSpc>
              <a:spcBef>
                <a:spcPct val="0"/>
              </a:spcBef>
              <a:spcAft>
                <a:spcPct val="0"/>
              </a:spcAft>
              <a:buClrTx/>
              <a:buSzTx/>
              <a:buFontTx/>
              <a:buNone/>
              <a:tabLst/>
            </a:pPr>
            <a:r>
              <a:rPr kumimoji="0" lang="en-US" altLang="en-US" sz="2000" b="0" i="0" u="none" strike="noStrike" cap="none" normalizeH="0" baseline="0" dirty="0" smtClean="0">
                <a:ln>
                  <a:noFill/>
                </a:ln>
                <a:solidFill>
                  <a:schemeClr val="tx1"/>
                </a:solidFill>
                <a:effectLst/>
                <a:latin typeface="Arial" panose="020B0604020202020204" pitchFamily="34" charset="0"/>
                <a:ea typeface="Times New Roman" panose="02020603050405020304" pitchFamily="18" charset="0"/>
              </a:rPr>
              <a:t>Dr.</a:t>
            </a:r>
            <a:r>
              <a:rPr kumimoji="0" lang="en-US" altLang="en-US" sz="2000" b="0" i="0" u="none" strike="noStrike" cap="none" normalizeH="0" dirty="0" smtClean="0">
                <a:ln>
                  <a:noFill/>
                </a:ln>
                <a:solidFill>
                  <a:schemeClr val="tx1"/>
                </a:solidFill>
                <a:effectLst/>
                <a:latin typeface="Arial" panose="020B0604020202020204" pitchFamily="34" charset="0"/>
                <a:ea typeface="Times New Roman" panose="02020603050405020304" pitchFamily="18" charset="0"/>
              </a:rPr>
              <a:t> JAYASRI BS</a:t>
            </a:r>
          </a:p>
          <a:p>
            <a:pPr marL="0" marR="0" lvl="0" indent="30163" algn="ctr" defTabSz="914400" rtl="0" eaLnBrk="0" fontAlgn="base" latinLnBrk="0" hangingPunct="0">
              <a:lnSpc>
                <a:spcPct val="150000"/>
              </a:lnSpc>
              <a:spcBef>
                <a:spcPct val="0"/>
              </a:spcBef>
              <a:spcAft>
                <a:spcPct val="0"/>
              </a:spcAft>
              <a:buClrTx/>
              <a:buSzTx/>
              <a:buFontTx/>
              <a:buNone/>
              <a:tabLst/>
            </a:pPr>
            <a:r>
              <a:rPr lang="en-US" altLang="en-US" sz="2000" baseline="0" dirty="0" smtClean="0">
                <a:ea typeface="Times New Roman" panose="02020603050405020304" pitchFamily="18" charset="0"/>
              </a:rPr>
              <a:t>(Associate</a:t>
            </a:r>
            <a:r>
              <a:rPr lang="en-US" altLang="en-US" sz="2000" dirty="0" smtClean="0">
                <a:ea typeface="Times New Roman" panose="02020603050405020304" pitchFamily="18" charset="0"/>
              </a:rPr>
              <a:t> Professor)</a:t>
            </a:r>
            <a:r>
              <a:rPr kumimoji="0" lang="en-US" altLang="en-US" sz="2000" b="0" i="0" u="none" strike="noStrike" cap="none" normalizeH="0" baseline="0" dirty="0" smtClean="0">
                <a:ln>
                  <a:noFill/>
                </a:ln>
                <a:solidFill>
                  <a:schemeClr val="tx1"/>
                </a:solidFill>
                <a:effectLst/>
                <a:latin typeface="Arial" panose="020B0604020202020204" pitchFamily="34" charset="0"/>
                <a:ea typeface="Times New Roman" panose="02020603050405020304" pitchFamily="18" charset="0"/>
              </a:rPr>
              <a:t/>
            </a:r>
            <a:br>
              <a:rPr kumimoji="0" lang="en-US" altLang="en-US" sz="2000" b="0" i="0" u="none" strike="noStrike" cap="none" normalizeH="0" baseline="0" dirty="0" smtClean="0">
                <a:ln>
                  <a:noFill/>
                </a:ln>
                <a:solidFill>
                  <a:schemeClr val="tx1"/>
                </a:solidFill>
                <a:effectLst/>
                <a:latin typeface="Arial" panose="020B0604020202020204" pitchFamily="34" charset="0"/>
                <a:ea typeface="Times New Roman" panose="02020603050405020304" pitchFamily="18" charset="0"/>
              </a:rPr>
            </a:br>
            <a:r>
              <a:rPr kumimoji="0" lang="en-US" altLang="en-US" sz="2000" b="0" i="0" u="none" strike="noStrike" cap="none" normalizeH="0" baseline="0" dirty="0" smtClean="0">
                <a:ln>
                  <a:noFill/>
                </a:ln>
                <a:solidFill>
                  <a:schemeClr val="tx1"/>
                </a:solidFill>
                <a:effectLst/>
                <a:latin typeface="Arial" panose="020B0604020202020204" pitchFamily="34" charset="0"/>
                <a:ea typeface="Times New Roman" panose="02020603050405020304" pitchFamily="18" charset="0"/>
              </a:rPr>
              <a:t>    </a:t>
            </a:r>
            <a:r>
              <a:rPr kumimoji="0" lang="en-US" altLang="en-US" b="1" i="0" u="sng" strike="noStrike" cap="none" normalizeH="0" baseline="0" dirty="0" smtClean="0">
                <a:ln>
                  <a:noFill/>
                </a:ln>
                <a:solidFill>
                  <a:schemeClr val="tx1"/>
                </a:solidFill>
                <a:effectLst/>
                <a:latin typeface="Arial" panose="020B0604020202020204" pitchFamily="34" charset="0"/>
                <a:ea typeface="Times New Roman" panose="02020603050405020304" pitchFamily="18" charset="0"/>
              </a:rPr>
              <a:t>Operating System Report</a:t>
            </a:r>
            <a:endParaRPr kumimoji="0" lang="en-US" altLang="en-US" sz="1600" b="0" i="0" u="none" strike="noStrike" cap="none" normalizeH="0" baseline="0" dirty="0" smtClean="0">
              <a:ln>
                <a:noFill/>
              </a:ln>
              <a:solidFill>
                <a:schemeClr val="tx1"/>
              </a:solidFill>
              <a:effectLst/>
              <a:latin typeface="Arial" panose="020B0604020202020204" pitchFamily="34" charset="0"/>
            </a:endParaRPr>
          </a:p>
          <a:p>
            <a:pPr marL="0" marR="0" lvl="0" indent="30163" algn="ctr" defTabSz="914400" rtl="0" eaLnBrk="0" fontAlgn="base" latinLnBrk="0" hangingPunct="0">
              <a:lnSpc>
                <a:spcPct val="150000"/>
              </a:lnSpc>
              <a:spcBef>
                <a:spcPct val="0"/>
              </a:spcBef>
              <a:spcAft>
                <a:spcPct val="0"/>
              </a:spcAft>
              <a:buClrTx/>
              <a:buSzTx/>
              <a:buFontTx/>
              <a:buNone/>
              <a:tabLst/>
            </a:pPr>
            <a:r>
              <a:rPr kumimoji="0" lang="en-US" altLang="en-US" b="1" i="0" u="none" strike="noStrike" cap="none" normalizeH="0" baseline="0" dirty="0" smtClean="0">
                <a:ln>
                  <a:noFill/>
                </a:ln>
                <a:solidFill>
                  <a:schemeClr val="tx1"/>
                </a:solidFill>
                <a:effectLst/>
                <a:latin typeface="Arial" panose="020B0604020202020204" pitchFamily="34" charset="0"/>
                <a:ea typeface="Times New Roman" panose="02020603050405020304" pitchFamily="18" charset="0"/>
              </a:rPr>
              <a:t>Title: Page replacement and Scheduling Algorithms</a:t>
            </a:r>
            <a:endParaRPr kumimoji="0" lang="en-US" altLang="en-US" sz="2000" b="1" i="0" u="none" strike="noStrike" cap="none" normalizeH="0" baseline="0" dirty="0" smtClean="0">
              <a:ln>
                <a:noFill/>
              </a:ln>
              <a:solidFill>
                <a:schemeClr val="tx1"/>
              </a:solidFill>
              <a:effectLst/>
              <a:latin typeface="Arial" panose="020B0604020202020204" pitchFamily="34" charset="0"/>
              <a:ea typeface="Times New Roman" panose="02020603050405020304" pitchFamily="18" charset="0"/>
            </a:endParaRPr>
          </a:p>
        </p:txBody>
      </p:sp>
      <p:sp>
        <p:nvSpPr>
          <p:cNvPr id="16" name="TextBox 15"/>
          <p:cNvSpPr txBox="1"/>
          <p:nvPr/>
        </p:nvSpPr>
        <p:spPr>
          <a:xfrm>
            <a:off x="1800651" y="4700884"/>
            <a:ext cx="1746184" cy="615553"/>
          </a:xfrm>
          <a:prstGeom prst="rect">
            <a:avLst/>
          </a:prstGeom>
          <a:noFill/>
        </p:spPr>
        <p:txBody>
          <a:bodyPr wrap="none" rtlCol="0">
            <a:spAutoFit/>
          </a:bodyPr>
          <a:lstStyle/>
          <a:p>
            <a:pPr lvl="0"/>
            <a:r>
              <a:rPr lang="en-US" altLang="en-US" sz="2000" b="1" dirty="0">
                <a:latin typeface="Arial" panose="020B0604020202020204" pitchFamily="34" charset="0"/>
                <a:ea typeface="Times New Roman" panose="02020603050405020304" pitchFamily="18" charset="0"/>
              </a:rPr>
              <a:t>Team Details</a:t>
            </a:r>
            <a:endParaRPr kumimoji="0" lang="en-US" altLang="en-US" sz="2000" b="1" i="0" u="none" strike="noStrike" cap="none" normalizeH="0" baseline="0" dirty="0" smtClean="0">
              <a:ln>
                <a:noFill/>
              </a:ln>
              <a:solidFill>
                <a:schemeClr val="tx1"/>
              </a:solidFill>
              <a:effectLst/>
              <a:latin typeface="Arial" panose="020B0604020202020204" pitchFamily="34" charset="0"/>
              <a:ea typeface="Times New Roman" panose="02020603050405020304" pitchFamily="18" charset="0"/>
            </a:endParaRPr>
          </a:p>
          <a:p>
            <a:endParaRPr lang="en-US" sz="1400" dirty="0"/>
          </a:p>
        </p:txBody>
      </p:sp>
    </p:spTree>
    <p:extLst>
      <p:ext uri="{BB962C8B-B14F-4D97-AF65-F5344CB8AC3E}">
        <p14:creationId xmlns:p14="http://schemas.microsoft.com/office/powerpoint/2010/main" val="370845286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954224"/>
          </a:xfrm>
        </p:spPr>
        <p:txBody>
          <a:bodyPr>
            <a:normAutofit fontScale="90000"/>
          </a:bodyPr>
          <a:lstStyle/>
          <a:p>
            <a:r>
              <a:rPr lang="en-US" sz="4000" b="1" dirty="0" smtClean="0">
                <a:latin typeface="Bahnschrift SemiBold" panose="020B0502040204020203" pitchFamily="34" charset="0"/>
              </a:rPr>
              <a:t>FIFO</a:t>
            </a:r>
            <a:r>
              <a:rPr lang="en-US" sz="4000" dirty="0" smtClean="0"/>
              <a:t> (First In First Out page replacement algorithm)</a:t>
            </a:r>
            <a:endParaRPr lang="en-US" sz="4000" dirty="0"/>
          </a:p>
        </p:txBody>
      </p:sp>
      <p:sp>
        <p:nvSpPr>
          <p:cNvPr id="3" name="Content Placeholder 2"/>
          <p:cNvSpPr>
            <a:spLocks noGrp="1"/>
          </p:cNvSpPr>
          <p:nvPr>
            <p:ph idx="1"/>
          </p:nvPr>
        </p:nvSpPr>
        <p:spPr>
          <a:xfrm>
            <a:off x="838200" y="1528356"/>
            <a:ext cx="10515600" cy="4872444"/>
          </a:xfrm>
        </p:spPr>
        <p:txBody>
          <a:bodyPr>
            <a:normAutofit fontScale="62500" lnSpcReduction="20000"/>
          </a:bodyPr>
          <a:lstStyle/>
          <a:p>
            <a:pPr marL="0" indent="0">
              <a:lnSpc>
                <a:spcPct val="170000"/>
              </a:lnSpc>
              <a:buNone/>
            </a:pPr>
            <a:r>
              <a:rPr lang="en-US" sz="4500" dirty="0" smtClean="0"/>
              <a:t>Introduction</a:t>
            </a:r>
          </a:p>
          <a:p>
            <a:pPr marL="0" marR="294005" algn="just">
              <a:lnSpc>
                <a:spcPct val="150000"/>
              </a:lnSpc>
              <a:spcBef>
                <a:spcPts val="0"/>
              </a:spcBef>
              <a:spcAft>
                <a:spcPts val="0"/>
              </a:spcAft>
            </a:pPr>
            <a:r>
              <a:rPr lang="en-US" sz="3200" dirty="0" smtClean="0">
                <a:latin typeface="Times New Roman" panose="02020603050405020304" pitchFamily="18" charset="0"/>
                <a:ea typeface="Carlito"/>
                <a:cs typeface="Carlito"/>
              </a:rPr>
              <a:t>In </a:t>
            </a:r>
            <a:r>
              <a:rPr lang="en-US" sz="3200" dirty="0">
                <a:latin typeface="Times New Roman" panose="02020603050405020304" pitchFamily="18" charset="0"/>
                <a:ea typeface="Carlito"/>
                <a:cs typeface="Carlito"/>
              </a:rPr>
              <a:t>operating systems that use paging for memory management, page replacement algorithm are needed to decide which page needed to be replaced when new page comes in. Whenever a new page is referred and not present in </a:t>
            </a:r>
            <a:r>
              <a:rPr lang="en-US" sz="3200" dirty="0" smtClean="0">
                <a:latin typeface="Times New Roman" panose="02020603050405020304" pitchFamily="18" charset="0"/>
                <a:ea typeface="Carlito"/>
                <a:cs typeface="Carlito"/>
              </a:rPr>
              <a:t>memory</a:t>
            </a:r>
            <a:r>
              <a:rPr lang="en-US" sz="3200" dirty="0">
                <a:latin typeface="Times New Roman" panose="02020603050405020304" pitchFamily="18" charset="0"/>
                <a:ea typeface="Carlito"/>
                <a:cs typeface="Carlito"/>
              </a:rPr>
              <a:t>, page fault occurs and Operating System replaces one of the existing pages with newly needed page. Different page replacement algorithms suggest different ways to decide which page to replace. The target for all algorithms is to reduce number of page faults.</a:t>
            </a:r>
            <a:endParaRPr lang="en-US" sz="3800" dirty="0" smtClean="0">
              <a:effectLst/>
              <a:latin typeface="Carlito"/>
              <a:ea typeface="Carlito"/>
              <a:cs typeface="Carlito"/>
            </a:endParaRPr>
          </a:p>
          <a:p>
            <a:pPr marL="0" marR="294005" algn="just">
              <a:lnSpc>
                <a:spcPct val="150000"/>
              </a:lnSpc>
              <a:spcBef>
                <a:spcPts val="0"/>
              </a:spcBef>
              <a:spcAft>
                <a:spcPts val="0"/>
              </a:spcAft>
            </a:pPr>
            <a:r>
              <a:rPr lang="en-US" sz="3200" dirty="0">
                <a:latin typeface="Times New Roman" panose="02020603050405020304" pitchFamily="18" charset="0"/>
                <a:ea typeface="Carlito"/>
                <a:cs typeface="Carlito"/>
              </a:rPr>
              <a:t>First In First Out (</a:t>
            </a:r>
            <a:r>
              <a:rPr lang="en-US" sz="3200" b="1" dirty="0">
                <a:latin typeface="Times New Roman" panose="02020603050405020304" pitchFamily="18" charset="0"/>
                <a:ea typeface="Carlito"/>
                <a:cs typeface="Carlito"/>
              </a:rPr>
              <a:t>FIFO</a:t>
            </a:r>
            <a:r>
              <a:rPr lang="en-US" sz="3200" dirty="0">
                <a:latin typeface="Times New Roman" panose="02020603050405020304" pitchFamily="18" charset="0"/>
                <a:ea typeface="Carlito"/>
                <a:cs typeface="Carlito"/>
              </a:rPr>
              <a:t>) page replacement algorithm is the simplest page replacement algorithm. In this algorithm, operating system keeps track of all pages in the memory in a queue, oldest page is in the front of the queue. When a page needs to be replaced page in the front of the queue is selected for removal.</a:t>
            </a:r>
            <a:endParaRPr lang="en-US" sz="3800" dirty="0" smtClean="0">
              <a:effectLst/>
              <a:latin typeface="Carlito"/>
              <a:ea typeface="Carlito"/>
              <a:cs typeface="Carlito"/>
            </a:endParaRPr>
          </a:p>
          <a:p>
            <a:pPr marL="0" indent="0">
              <a:buNone/>
            </a:pPr>
            <a:endParaRPr lang="en-US" dirty="0"/>
          </a:p>
        </p:txBody>
      </p:sp>
    </p:spTree>
    <p:extLst>
      <p:ext uri="{BB962C8B-B14F-4D97-AF65-F5344CB8AC3E}">
        <p14:creationId xmlns:p14="http://schemas.microsoft.com/office/powerpoint/2010/main" val="384785087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800" b="1" dirty="0" smtClean="0">
                <a:latin typeface="Times New Roman" panose="02020603050405020304" pitchFamily="18" charset="0"/>
                <a:cs typeface="Times New Roman" panose="02020603050405020304" pitchFamily="18" charset="0"/>
              </a:rPr>
              <a:t>How it works !</a:t>
            </a:r>
            <a:endParaRPr lang="en-US" sz="4800" b="1"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p:txBody>
          <a:bodyPr>
            <a:normAutofit fontScale="85000" lnSpcReduction="20000"/>
          </a:bodyPr>
          <a:lstStyle/>
          <a:p>
            <a:pPr>
              <a:lnSpc>
                <a:spcPct val="150000"/>
              </a:lnSpc>
            </a:pPr>
            <a:r>
              <a:rPr lang="en-US" sz="2400" dirty="0" smtClean="0">
                <a:latin typeface="Times New Roman" panose="02020603050405020304" pitchFamily="18" charset="0"/>
                <a:cs typeface="Times New Roman" panose="02020603050405020304" pitchFamily="18" charset="0"/>
              </a:rPr>
              <a:t>Operating system keeps track of all the pages in a queue</a:t>
            </a:r>
          </a:p>
          <a:p>
            <a:pPr>
              <a:lnSpc>
                <a:spcPct val="150000"/>
              </a:lnSpc>
            </a:pPr>
            <a:r>
              <a:rPr lang="en-US" sz="2400" dirty="0" smtClean="0">
                <a:latin typeface="Times New Roman" panose="02020603050405020304" pitchFamily="18" charset="0"/>
                <a:cs typeface="Times New Roman" panose="02020603050405020304" pitchFamily="18" charset="0"/>
              </a:rPr>
              <a:t>If a page is already present in set, it’s a hit and there will be no change in the queue. If the page in the string is not present, it’s a page fault.</a:t>
            </a:r>
          </a:p>
          <a:p>
            <a:pPr>
              <a:lnSpc>
                <a:spcPct val="150000"/>
              </a:lnSpc>
            </a:pPr>
            <a:r>
              <a:rPr lang="en-US" sz="2400" dirty="0" smtClean="0">
                <a:latin typeface="Times New Roman" panose="02020603050405020304" pitchFamily="18" charset="0"/>
                <a:cs typeface="Times New Roman" panose="02020603050405020304" pitchFamily="18" charset="0"/>
              </a:rPr>
              <a:t>If set holds less pages than capacity, insert page into the set one by one until all page requests are processed. Simultaneously maintain the pages in the queue to perform FIFO and increment page faults. If current page is already present, it does nothing.</a:t>
            </a:r>
          </a:p>
          <a:p>
            <a:pPr>
              <a:lnSpc>
                <a:spcPct val="150000"/>
              </a:lnSpc>
            </a:pPr>
            <a:r>
              <a:rPr lang="en-US" sz="2400" dirty="0" smtClean="0">
                <a:latin typeface="Times New Roman" panose="02020603050405020304" pitchFamily="18" charset="0"/>
                <a:cs typeface="Times New Roman" panose="02020603050405020304" pitchFamily="18" charset="0"/>
              </a:rPr>
              <a:t>If the queue is full, remove the first page from the queue, replace that first page with current page in the string and store it back in the queue.</a:t>
            </a:r>
          </a:p>
          <a:p>
            <a:pPr>
              <a:lnSpc>
                <a:spcPct val="150000"/>
              </a:lnSpc>
            </a:pPr>
            <a:r>
              <a:rPr lang="en-US" sz="2400" dirty="0" smtClean="0">
                <a:latin typeface="Times New Roman" panose="02020603050405020304" pitchFamily="18" charset="0"/>
                <a:cs typeface="Times New Roman" panose="02020603050405020304" pitchFamily="18" charset="0"/>
              </a:rPr>
              <a:t>Then page faults are incremented.</a:t>
            </a: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5732699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31520" y="365126"/>
            <a:ext cx="10622280" cy="601526"/>
          </a:xfrm>
        </p:spPr>
        <p:txBody>
          <a:bodyPr>
            <a:noAutofit/>
          </a:bodyPr>
          <a:lstStyle/>
          <a:p>
            <a:r>
              <a:rPr lang="en-US" b="1" dirty="0" smtClean="0">
                <a:latin typeface="Times New Roman" panose="02020603050405020304" pitchFamily="18" charset="0"/>
                <a:cs typeface="Times New Roman" panose="02020603050405020304" pitchFamily="18" charset="0"/>
              </a:rPr>
              <a:t>Pseudocode</a:t>
            </a:r>
            <a:endParaRPr lang="en-US" b="1"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29640" y="1280160"/>
            <a:ext cx="10515600" cy="5210311"/>
          </a:xfrm>
        </p:spPr>
        <p:txBody>
          <a:bodyPr>
            <a:noAutofit/>
          </a:bodyPr>
          <a:lstStyle/>
          <a:p>
            <a:pPr marL="0" indent="0">
              <a:buNone/>
            </a:pPr>
            <a:r>
              <a:rPr lang="en-US" sz="2000" dirty="0" smtClean="0"/>
              <a:t>Data: Pages P, Number of Pages N, Capacity C</a:t>
            </a:r>
          </a:p>
          <a:p>
            <a:pPr marL="0" indent="0">
              <a:buNone/>
            </a:pPr>
            <a:r>
              <a:rPr lang="en-US" sz="2000" dirty="0" smtClean="0"/>
              <a:t>Result: Number of page fault PF</a:t>
            </a:r>
          </a:p>
          <a:p>
            <a:pPr marL="0" indent="0">
              <a:buNone/>
            </a:pPr>
            <a:r>
              <a:rPr lang="en-US" sz="2000" dirty="0" smtClean="0"/>
              <a:t>Function </a:t>
            </a:r>
            <a:r>
              <a:rPr lang="en-US" sz="2000" dirty="0" err="1" smtClean="0"/>
              <a:t>FindPage</a:t>
            </a:r>
            <a:r>
              <a:rPr lang="en-US" sz="2000" dirty="0" smtClean="0"/>
              <a:t> Fault(P, N, C)</a:t>
            </a:r>
          </a:p>
          <a:p>
            <a:pPr marL="0" indent="0">
              <a:buNone/>
            </a:pPr>
            <a:r>
              <a:rPr lang="en-US" sz="2000" dirty="0" smtClean="0"/>
              <a:t>S = set();</a:t>
            </a:r>
          </a:p>
          <a:p>
            <a:pPr marL="0" indent="0">
              <a:buNone/>
            </a:pPr>
            <a:r>
              <a:rPr lang="en-US" sz="2000" dirty="0" err="1" smtClean="0"/>
              <a:t>QPage</a:t>
            </a:r>
            <a:r>
              <a:rPr lang="en-US" sz="2000" dirty="0" smtClean="0"/>
              <a:t> Queue();</a:t>
            </a:r>
          </a:p>
          <a:p>
            <a:pPr marL="0" indent="0">
              <a:buNone/>
            </a:pPr>
            <a:r>
              <a:rPr lang="en-US" sz="2000" dirty="0" smtClean="0"/>
              <a:t>PF = 0;</a:t>
            </a:r>
          </a:p>
          <a:p>
            <a:pPr marL="0" indent="0">
              <a:buNone/>
            </a:pPr>
            <a:r>
              <a:rPr lang="en-US" sz="2000" dirty="0" smtClean="0"/>
              <a:t>for </a:t>
            </a:r>
            <a:r>
              <a:rPr lang="en-US" sz="2000" dirty="0" err="1" smtClean="0"/>
              <a:t>i</a:t>
            </a:r>
            <a:r>
              <a:rPr lang="en-US" sz="2000" dirty="0" smtClean="0"/>
              <a:t> = 0 to length(N) do</a:t>
            </a:r>
          </a:p>
          <a:p>
            <a:pPr marL="0" indent="0">
              <a:buNone/>
            </a:pPr>
            <a:r>
              <a:rPr lang="en-US" sz="2000" dirty="0" smtClean="0"/>
              <a:t>    if length(S) &lt; C then</a:t>
            </a:r>
          </a:p>
          <a:p>
            <a:pPr marL="0" indent="0">
              <a:buNone/>
            </a:pPr>
            <a:r>
              <a:rPr lang="en-US" sz="2000" dirty="0" smtClean="0"/>
              <a:t>       if P[</a:t>
            </a:r>
            <a:r>
              <a:rPr lang="en-US" sz="2000" dirty="0" err="1" smtClean="0"/>
              <a:t>i</a:t>
            </a:r>
            <a:r>
              <a:rPr lang="en-US" sz="2000" dirty="0" smtClean="0"/>
              <a:t>] not in S then</a:t>
            </a:r>
          </a:p>
          <a:p>
            <a:pPr marL="0" indent="0">
              <a:buNone/>
            </a:pPr>
            <a:r>
              <a:rPr lang="en-US" sz="2000" dirty="0" smtClean="0"/>
              <a:t>         </a:t>
            </a:r>
            <a:r>
              <a:rPr lang="en-US" sz="2000" dirty="0" err="1" smtClean="0"/>
              <a:t>S.add</a:t>
            </a:r>
            <a:r>
              <a:rPr lang="en-US" sz="2000" dirty="0" smtClean="0"/>
              <a:t>(P[</a:t>
            </a:r>
            <a:r>
              <a:rPr lang="en-US" sz="2000" dirty="0" err="1" smtClean="0"/>
              <a:t>i</a:t>
            </a:r>
            <a:r>
              <a:rPr lang="en-US" sz="2000" dirty="0" smtClean="0"/>
              <a:t>]);</a:t>
            </a:r>
          </a:p>
          <a:p>
            <a:pPr marL="0" indent="0">
              <a:buNone/>
            </a:pPr>
            <a:r>
              <a:rPr lang="en-US" sz="2000" dirty="0" smtClean="0"/>
              <a:t>         PF = PF +1;</a:t>
            </a:r>
          </a:p>
          <a:p>
            <a:pPr marL="0" indent="0">
              <a:buNone/>
            </a:pPr>
            <a:r>
              <a:rPr lang="en-US" sz="2000" dirty="0" smtClean="0"/>
              <a:t>         </a:t>
            </a:r>
            <a:r>
              <a:rPr lang="en-US" sz="2000" dirty="0" err="1" smtClean="0"/>
              <a:t>QPage.put</a:t>
            </a:r>
            <a:r>
              <a:rPr lang="en-US" sz="2000" dirty="0" smtClean="0"/>
              <a:t>(P[</a:t>
            </a:r>
            <a:r>
              <a:rPr lang="en-US" sz="2000" dirty="0" err="1" smtClean="0"/>
              <a:t>i</a:t>
            </a:r>
            <a:r>
              <a:rPr lang="en-US" sz="2000" dirty="0" smtClean="0"/>
              <a:t>]);</a:t>
            </a:r>
          </a:p>
          <a:p>
            <a:pPr marL="0" indent="0">
              <a:buNone/>
            </a:pPr>
            <a:r>
              <a:rPr lang="en-US" sz="2000" dirty="0" smtClean="0"/>
              <a:t>     end</a:t>
            </a:r>
          </a:p>
        </p:txBody>
      </p:sp>
    </p:spTree>
    <p:extLst>
      <p:ext uri="{BB962C8B-B14F-4D97-AF65-F5344CB8AC3E}">
        <p14:creationId xmlns:p14="http://schemas.microsoft.com/office/powerpoint/2010/main" val="117770911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91343" y="911225"/>
            <a:ext cx="10515600" cy="4351338"/>
          </a:xfrm>
        </p:spPr>
        <p:txBody>
          <a:bodyPr>
            <a:normAutofit fontScale="77500" lnSpcReduction="20000"/>
          </a:bodyPr>
          <a:lstStyle/>
          <a:p>
            <a:pPr marL="0" indent="0">
              <a:buNone/>
            </a:pPr>
            <a:r>
              <a:rPr lang="en-US" dirty="0" smtClean="0"/>
              <a:t>     else</a:t>
            </a:r>
          </a:p>
          <a:p>
            <a:pPr marL="0" indent="0">
              <a:buNone/>
            </a:pPr>
            <a:r>
              <a:rPr lang="en-US" dirty="0" smtClean="0"/>
              <a:t>        if P[</a:t>
            </a:r>
            <a:r>
              <a:rPr lang="en-US" dirty="0" err="1" smtClean="0"/>
              <a:t>i</a:t>
            </a:r>
            <a:r>
              <a:rPr lang="en-US" dirty="0" smtClean="0"/>
              <a:t>] </a:t>
            </a:r>
            <a:r>
              <a:rPr lang="en-US" dirty="0"/>
              <a:t>not in S then</a:t>
            </a:r>
          </a:p>
          <a:p>
            <a:pPr marL="0" indent="0">
              <a:buNone/>
            </a:pPr>
            <a:r>
              <a:rPr lang="en-US" dirty="0" smtClean="0"/>
              <a:t>           </a:t>
            </a:r>
            <a:r>
              <a:rPr lang="en-US" dirty="0" err="1" smtClean="0"/>
              <a:t>val</a:t>
            </a:r>
            <a:r>
              <a:rPr lang="en-US" dirty="0" smtClean="0"/>
              <a:t> = </a:t>
            </a:r>
            <a:r>
              <a:rPr lang="en-US" dirty="0" err="1" smtClean="0"/>
              <a:t>QPage.queue</a:t>
            </a:r>
            <a:r>
              <a:rPr lang="en-US" dirty="0" smtClean="0"/>
              <a:t>[0</a:t>
            </a:r>
            <a:r>
              <a:rPr lang="en-US" dirty="0"/>
              <a:t>];</a:t>
            </a:r>
          </a:p>
          <a:p>
            <a:pPr marL="0" indent="0">
              <a:buNone/>
            </a:pPr>
            <a:r>
              <a:rPr lang="en-US" dirty="0" smtClean="0"/>
              <a:t>           </a:t>
            </a:r>
            <a:r>
              <a:rPr lang="en-US" dirty="0" err="1" smtClean="0"/>
              <a:t>QPage.get</a:t>
            </a:r>
            <a:r>
              <a:rPr lang="en-US" dirty="0"/>
              <a:t>();</a:t>
            </a:r>
          </a:p>
          <a:p>
            <a:pPr marL="0" indent="0">
              <a:buNone/>
            </a:pPr>
            <a:r>
              <a:rPr lang="en-US" dirty="0" smtClean="0"/>
              <a:t>           </a:t>
            </a:r>
            <a:r>
              <a:rPr lang="en-US" dirty="0" err="1" smtClean="0"/>
              <a:t>S.remove</a:t>
            </a:r>
            <a:r>
              <a:rPr lang="en-US" dirty="0" smtClean="0"/>
              <a:t>(</a:t>
            </a:r>
            <a:r>
              <a:rPr lang="en-US" dirty="0" err="1" smtClean="0"/>
              <a:t>val</a:t>
            </a:r>
            <a:r>
              <a:rPr lang="en-US" dirty="0"/>
              <a:t>);</a:t>
            </a:r>
          </a:p>
          <a:p>
            <a:pPr marL="0" indent="0">
              <a:buNone/>
            </a:pPr>
            <a:r>
              <a:rPr lang="en-US" dirty="0" smtClean="0"/>
              <a:t>           </a:t>
            </a:r>
            <a:r>
              <a:rPr lang="en-US" dirty="0" err="1" smtClean="0"/>
              <a:t>S.add</a:t>
            </a:r>
            <a:r>
              <a:rPr lang="en-US" dirty="0" smtClean="0"/>
              <a:t>(P[</a:t>
            </a:r>
            <a:r>
              <a:rPr lang="en-US" dirty="0" err="1" smtClean="0"/>
              <a:t>i</a:t>
            </a:r>
            <a:r>
              <a:rPr lang="en-US" dirty="0" smtClean="0"/>
              <a:t>]);</a:t>
            </a:r>
            <a:endParaRPr lang="en-US" dirty="0"/>
          </a:p>
          <a:p>
            <a:pPr marL="0" indent="0">
              <a:buNone/>
            </a:pPr>
            <a:r>
              <a:rPr lang="en-US" dirty="0" smtClean="0"/>
              <a:t>           </a:t>
            </a:r>
            <a:r>
              <a:rPr lang="en-US" dirty="0" err="1" smtClean="0"/>
              <a:t>QPage.put</a:t>
            </a:r>
            <a:r>
              <a:rPr lang="en-US" dirty="0" smtClean="0"/>
              <a:t>(P[</a:t>
            </a:r>
            <a:r>
              <a:rPr lang="en-US" dirty="0" err="1" smtClean="0"/>
              <a:t>i</a:t>
            </a:r>
            <a:r>
              <a:rPr lang="en-US" dirty="0" smtClean="0"/>
              <a:t>]);</a:t>
            </a:r>
            <a:endParaRPr lang="en-US" dirty="0"/>
          </a:p>
          <a:p>
            <a:pPr marL="0" indent="0">
              <a:buNone/>
            </a:pPr>
            <a:r>
              <a:rPr lang="en-US" dirty="0" smtClean="0"/>
              <a:t>           PF </a:t>
            </a:r>
            <a:r>
              <a:rPr lang="en-US" dirty="0"/>
              <a:t>= PF +1</a:t>
            </a:r>
            <a:r>
              <a:rPr lang="en-US" dirty="0" smtClean="0"/>
              <a:t>;</a:t>
            </a:r>
          </a:p>
          <a:p>
            <a:pPr marL="0" indent="0">
              <a:buNone/>
            </a:pPr>
            <a:r>
              <a:rPr lang="en-US" dirty="0" smtClean="0"/>
              <a:t>       end</a:t>
            </a:r>
          </a:p>
          <a:p>
            <a:pPr marL="0" indent="0">
              <a:buNone/>
            </a:pPr>
            <a:r>
              <a:rPr lang="en-US" dirty="0" smtClean="0"/>
              <a:t>    end</a:t>
            </a:r>
          </a:p>
          <a:p>
            <a:pPr marL="0" indent="0">
              <a:buNone/>
            </a:pPr>
            <a:r>
              <a:rPr lang="en-US" dirty="0"/>
              <a:t> </a:t>
            </a:r>
            <a:r>
              <a:rPr lang="en-US" dirty="0" smtClean="0"/>
              <a:t>end</a:t>
            </a:r>
          </a:p>
          <a:p>
            <a:pPr marL="0" indent="0">
              <a:buNone/>
            </a:pPr>
            <a:r>
              <a:rPr lang="en-US" dirty="0" smtClean="0"/>
              <a:t>return </a:t>
            </a:r>
            <a:r>
              <a:rPr lang="en-US" dirty="0"/>
              <a:t>PF:</a:t>
            </a:r>
          </a:p>
          <a:p>
            <a:pPr marL="0" indent="0">
              <a:buNone/>
            </a:pPr>
            <a:endParaRPr lang="en-US" dirty="0"/>
          </a:p>
        </p:txBody>
      </p:sp>
    </p:spTree>
    <p:extLst>
      <p:ext uri="{BB962C8B-B14F-4D97-AF65-F5344CB8AC3E}">
        <p14:creationId xmlns:p14="http://schemas.microsoft.com/office/powerpoint/2010/main" val="133444720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627652"/>
          </a:xfrm>
        </p:spPr>
        <p:txBody>
          <a:bodyPr>
            <a:normAutofit fontScale="90000"/>
          </a:bodyPr>
          <a:lstStyle/>
          <a:p>
            <a:r>
              <a:rPr lang="en-US" sz="5400" b="1" dirty="0" smtClean="0"/>
              <a:t>Program</a:t>
            </a:r>
            <a:endParaRPr lang="en-US" sz="5400" b="1" dirty="0"/>
          </a:p>
        </p:txBody>
      </p:sp>
      <p:sp>
        <p:nvSpPr>
          <p:cNvPr id="4" name="Rectangle 1"/>
          <p:cNvSpPr>
            <a:spLocks noGrp="1" noChangeArrowheads="1"/>
          </p:cNvSpPr>
          <p:nvPr>
            <p:ph idx="1"/>
          </p:nvPr>
        </p:nvSpPr>
        <p:spPr bwMode="auto">
          <a:xfrm>
            <a:off x="838200" y="1432503"/>
            <a:ext cx="9690463" cy="492442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smtClean="0">
                <a:ln>
                  <a:noFill/>
                </a:ln>
                <a:effectLst/>
                <a:latin typeface="Consolas" panose="020B0609020204030204" pitchFamily="49" charset="0"/>
              </a:rPr>
              <a:t>#include&lt;bits/</a:t>
            </a:r>
            <a:r>
              <a:rPr kumimoji="0" lang="en-US" altLang="en-US" sz="2000" b="0" i="0" u="none" strike="noStrike" cap="none" normalizeH="0" baseline="0" dirty="0" err="1" smtClean="0">
                <a:ln>
                  <a:noFill/>
                </a:ln>
                <a:effectLst/>
                <a:latin typeface="Consolas" panose="020B0609020204030204" pitchFamily="49" charset="0"/>
              </a:rPr>
              <a:t>stdc</a:t>
            </a:r>
            <a:r>
              <a:rPr kumimoji="0" lang="en-US" altLang="en-US" sz="2000" b="0" i="0" u="none" strike="noStrike" cap="none" normalizeH="0" baseline="0" dirty="0" smtClean="0">
                <a:ln>
                  <a:noFill/>
                </a:ln>
                <a:effectLst/>
                <a:latin typeface="Consolas" panose="020B0609020204030204" pitchFamily="49" charset="0"/>
              </a:rPr>
              <a:t>++.h&gt;</a:t>
            </a:r>
            <a:endParaRPr kumimoji="0" lang="en-US" altLang="en-US" sz="2000" b="0" i="0" u="none" strike="noStrike" cap="none" normalizeH="0" baseline="0" dirty="0" smtClean="0">
              <a:ln>
                <a:noFill/>
              </a:ln>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1" i="0" u="none" strike="noStrike" cap="none" normalizeH="0" baseline="0" dirty="0" smtClean="0">
                <a:ln>
                  <a:noFill/>
                </a:ln>
                <a:effectLst/>
                <a:latin typeface="Consolas" panose="020B0609020204030204" pitchFamily="49" charset="0"/>
              </a:rPr>
              <a:t>using</a:t>
            </a:r>
            <a:r>
              <a:rPr kumimoji="0" lang="en-US" altLang="en-US" sz="2000" b="0" i="0" u="none" strike="noStrike" cap="none" normalizeH="0" baseline="0" dirty="0" smtClean="0">
                <a:ln>
                  <a:noFill/>
                </a:ln>
                <a:effectLst/>
                <a:latin typeface="Consolas" panose="020B0609020204030204" pitchFamily="49" charset="0"/>
              </a:rPr>
              <a:t> </a:t>
            </a:r>
            <a:r>
              <a:rPr kumimoji="0" lang="en-US" altLang="en-US" sz="2000" b="1" i="0" u="none" strike="noStrike" cap="none" normalizeH="0" baseline="0" dirty="0" smtClean="0">
                <a:ln>
                  <a:noFill/>
                </a:ln>
                <a:effectLst/>
                <a:latin typeface="Consolas" panose="020B0609020204030204" pitchFamily="49" charset="0"/>
              </a:rPr>
              <a:t>namespace</a:t>
            </a:r>
            <a:r>
              <a:rPr kumimoji="0" lang="en-US" altLang="en-US" sz="2000" b="0" i="0" u="none" strike="noStrike" cap="none" normalizeH="0" baseline="0" dirty="0" smtClean="0">
                <a:ln>
                  <a:noFill/>
                </a:ln>
                <a:effectLst/>
                <a:latin typeface="Consolas" panose="020B0609020204030204" pitchFamily="49" charset="0"/>
              </a:rPr>
              <a:t> </a:t>
            </a:r>
            <a:r>
              <a:rPr kumimoji="0" lang="en-US" altLang="en-US" sz="2000" b="0" i="0" u="none" strike="noStrike" cap="none" normalizeH="0" baseline="0" dirty="0" err="1" smtClean="0">
                <a:ln>
                  <a:noFill/>
                </a:ln>
                <a:effectLst/>
                <a:latin typeface="Consolas" panose="020B0609020204030204" pitchFamily="49" charset="0"/>
              </a:rPr>
              <a:t>std</a:t>
            </a:r>
            <a:r>
              <a:rPr kumimoji="0" lang="en-US" altLang="en-US" sz="2000" b="0" i="0" u="none" strike="noStrike" cap="none" normalizeH="0" baseline="0" dirty="0" smtClean="0">
                <a:ln>
                  <a:noFill/>
                </a:ln>
                <a:effectLst/>
                <a:latin typeface="Consolas" panose="020B0609020204030204" pitchFamily="49" charset="0"/>
              </a:rPr>
              <a:t>;</a:t>
            </a:r>
            <a:endParaRPr kumimoji="0" lang="en-US" altLang="en-US" sz="2000" b="0" i="0" u="none" strike="noStrike" cap="none" normalizeH="0" baseline="0" dirty="0" smtClean="0">
              <a:ln>
                <a:noFill/>
              </a:ln>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smtClean="0">
                <a:ln>
                  <a:noFill/>
                </a:ln>
                <a:effectLst/>
                <a:latin typeface="Consolas" panose="020B0609020204030204" pitchFamily="49" charset="0"/>
              </a:rPr>
              <a:t>  </a:t>
            </a:r>
            <a:endParaRPr kumimoji="0" lang="en-US" altLang="en-US" sz="3600" b="0" i="0" u="none" strike="noStrike" cap="none" normalizeH="0" baseline="0" dirty="0" smtClean="0">
              <a:ln>
                <a:noFill/>
              </a:ln>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smtClean="0">
                <a:ln>
                  <a:noFill/>
                </a:ln>
                <a:solidFill>
                  <a:schemeClr val="accent3"/>
                </a:solidFill>
                <a:effectLst/>
                <a:latin typeface="Consolas" panose="020B0609020204030204" pitchFamily="49" charset="0"/>
              </a:rPr>
              <a:t>// Function to find page faults using FIFO</a:t>
            </a:r>
            <a:endParaRPr kumimoji="0" lang="en-US" altLang="en-US" sz="2000" b="0" i="0" u="none" strike="noStrike" cap="none" normalizeH="0" baseline="0" dirty="0" smtClean="0">
              <a:ln>
                <a:noFill/>
              </a:ln>
              <a:solidFill>
                <a:schemeClr val="accent3"/>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1" i="0" u="none" strike="noStrike" cap="none" normalizeH="0" baseline="0" dirty="0" err="1" smtClean="0">
                <a:ln>
                  <a:noFill/>
                </a:ln>
                <a:effectLst/>
                <a:latin typeface="Consolas" panose="020B0609020204030204" pitchFamily="49" charset="0"/>
              </a:rPr>
              <a:t>int</a:t>
            </a:r>
            <a:r>
              <a:rPr kumimoji="0" lang="en-US" altLang="en-US" sz="2000" b="0" i="0" u="none" strike="noStrike" cap="none" normalizeH="0" baseline="0" dirty="0" smtClean="0">
                <a:ln>
                  <a:noFill/>
                </a:ln>
                <a:effectLst/>
                <a:latin typeface="Consolas" panose="020B0609020204030204" pitchFamily="49" charset="0"/>
              </a:rPr>
              <a:t> </a:t>
            </a:r>
            <a:r>
              <a:rPr kumimoji="0" lang="en-US" altLang="en-US" sz="2000" b="0" i="0" u="none" strike="noStrike" cap="none" normalizeH="0" baseline="0" dirty="0" err="1" smtClean="0">
                <a:ln>
                  <a:noFill/>
                </a:ln>
                <a:effectLst/>
                <a:latin typeface="Consolas" panose="020B0609020204030204" pitchFamily="49" charset="0"/>
              </a:rPr>
              <a:t>pageFaults</a:t>
            </a:r>
            <a:r>
              <a:rPr kumimoji="0" lang="en-US" altLang="en-US" sz="2000" b="0" i="0" u="none" strike="noStrike" cap="none" normalizeH="0" baseline="0" dirty="0" smtClean="0">
                <a:ln>
                  <a:noFill/>
                </a:ln>
                <a:effectLst/>
                <a:latin typeface="Consolas" panose="020B0609020204030204" pitchFamily="49" charset="0"/>
              </a:rPr>
              <a:t>(</a:t>
            </a:r>
            <a:r>
              <a:rPr kumimoji="0" lang="en-US" altLang="en-US" sz="2000" b="1" i="0" u="none" strike="noStrike" cap="none" normalizeH="0" baseline="0" dirty="0" err="1" smtClean="0">
                <a:ln>
                  <a:noFill/>
                </a:ln>
                <a:effectLst/>
                <a:latin typeface="Consolas" panose="020B0609020204030204" pitchFamily="49" charset="0"/>
              </a:rPr>
              <a:t>int</a:t>
            </a:r>
            <a:r>
              <a:rPr kumimoji="0" lang="en-US" altLang="en-US" sz="2000" b="0" i="0" u="none" strike="noStrike" cap="none" normalizeH="0" baseline="0" dirty="0" smtClean="0">
                <a:ln>
                  <a:noFill/>
                </a:ln>
                <a:effectLst/>
                <a:latin typeface="Consolas" panose="020B0609020204030204" pitchFamily="49" charset="0"/>
              </a:rPr>
              <a:t> pages[], </a:t>
            </a:r>
            <a:r>
              <a:rPr kumimoji="0" lang="en-US" altLang="en-US" sz="2000" b="1" i="0" u="none" strike="noStrike" cap="none" normalizeH="0" baseline="0" dirty="0" err="1" smtClean="0">
                <a:ln>
                  <a:noFill/>
                </a:ln>
                <a:effectLst/>
                <a:latin typeface="Consolas" panose="020B0609020204030204" pitchFamily="49" charset="0"/>
              </a:rPr>
              <a:t>int</a:t>
            </a:r>
            <a:r>
              <a:rPr kumimoji="0" lang="en-US" altLang="en-US" sz="2000" b="0" i="0" u="none" strike="noStrike" cap="none" normalizeH="0" baseline="0" dirty="0" smtClean="0">
                <a:ln>
                  <a:noFill/>
                </a:ln>
                <a:effectLst/>
                <a:latin typeface="Consolas" panose="020B0609020204030204" pitchFamily="49" charset="0"/>
              </a:rPr>
              <a:t> n, </a:t>
            </a:r>
            <a:r>
              <a:rPr kumimoji="0" lang="en-US" altLang="en-US" sz="2000" b="1" i="0" u="none" strike="noStrike" cap="none" normalizeH="0" baseline="0" dirty="0" err="1" smtClean="0">
                <a:ln>
                  <a:noFill/>
                </a:ln>
                <a:effectLst/>
                <a:latin typeface="Consolas" panose="020B0609020204030204" pitchFamily="49" charset="0"/>
              </a:rPr>
              <a:t>int</a:t>
            </a:r>
            <a:r>
              <a:rPr kumimoji="0" lang="en-US" altLang="en-US" sz="2000" b="0" i="0" u="none" strike="noStrike" cap="none" normalizeH="0" baseline="0" dirty="0" smtClean="0">
                <a:ln>
                  <a:noFill/>
                </a:ln>
                <a:effectLst/>
                <a:latin typeface="Consolas" panose="020B0609020204030204" pitchFamily="49" charset="0"/>
              </a:rPr>
              <a:t> capacity)</a:t>
            </a:r>
            <a:endParaRPr kumimoji="0" lang="en-US" altLang="en-US" sz="2000" b="0" i="0" u="none" strike="noStrike" cap="none" normalizeH="0" baseline="0" dirty="0" smtClean="0">
              <a:ln>
                <a:noFill/>
              </a:ln>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smtClean="0">
                <a:ln>
                  <a:noFill/>
                </a:ln>
                <a:effectLst/>
                <a:latin typeface="Consolas" panose="020B0609020204030204" pitchFamily="49" charset="0"/>
              </a:rPr>
              <a:t>{</a:t>
            </a:r>
            <a:endParaRPr kumimoji="0" lang="en-US" altLang="en-US" sz="2000" b="0" i="0" u="none" strike="noStrike" cap="none" normalizeH="0" baseline="0" dirty="0" smtClean="0">
              <a:ln>
                <a:noFill/>
              </a:ln>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smtClean="0">
                <a:ln>
                  <a:noFill/>
                </a:ln>
                <a:effectLst/>
                <a:latin typeface="Consolas" panose="020B0609020204030204" pitchFamily="49" charset="0"/>
              </a:rPr>
              <a:t>    </a:t>
            </a:r>
            <a:r>
              <a:rPr kumimoji="0" lang="en-US" altLang="en-US" sz="2000" b="0" i="0" u="none" strike="noStrike" cap="none" normalizeH="0" baseline="0" dirty="0" smtClean="0">
                <a:ln>
                  <a:noFill/>
                </a:ln>
                <a:solidFill>
                  <a:schemeClr val="accent3"/>
                </a:solidFill>
                <a:effectLst/>
                <a:latin typeface="Consolas" panose="020B0609020204030204" pitchFamily="49" charset="0"/>
              </a:rPr>
              <a:t>/* To represent set of current pages. We use</a:t>
            </a:r>
            <a:r>
              <a:rPr lang="en-US" altLang="en-US" sz="2000" dirty="0">
                <a:solidFill>
                  <a:schemeClr val="accent3"/>
                </a:solidFill>
              </a:rPr>
              <a:t> </a:t>
            </a:r>
            <a:r>
              <a:rPr kumimoji="0" lang="en-US" altLang="en-US" sz="2000" b="0" i="0" u="none" strike="noStrike" cap="none" normalizeH="0" baseline="0" dirty="0" smtClean="0">
                <a:ln>
                  <a:noFill/>
                </a:ln>
                <a:solidFill>
                  <a:schemeClr val="accent3"/>
                </a:solidFill>
                <a:effectLst/>
                <a:latin typeface="Consolas" panose="020B0609020204030204" pitchFamily="49" charset="0"/>
              </a:rPr>
              <a:t>an </a:t>
            </a:r>
            <a:r>
              <a:rPr kumimoji="0" lang="en-US" altLang="en-US" sz="2000" b="0" i="0" u="none" strike="noStrike" cap="none" normalizeH="0" baseline="0" dirty="0" err="1" smtClean="0">
                <a:ln>
                  <a:noFill/>
                </a:ln>
                <a:solidFill>
                  <a:schemeClr val="accent3"/>
                </a:solidFill>
                <a:effectLst/>
                <a:latin typeface="Consolas" panose="020B0609020204030204" pitchFamily="49" charset="0"/>
              </a:rPr>
              <a:t>unordered_set</a:t>
            </a:r>
            <a:r>
              <a:rPr kumimoji="0" lang="en-US" altLang="en-US" sz="2000" b="0" i="0" u="none" strike="noStrike" cap="none" normalizeH="0" baseline="0" dirty="0" smtClean="0">
                <a:ln>
                  <a:noFill/>
                </a:ln>
                <a:solidFill>
                  <a:schemeClr val="accent3"/>
                </a:solidFill>
                <a:effectLst/>
                <a:latin typeface="Consolas" panose="020B0609020204030204" pitchFamily="49" charset="0"/>
              </a:rPr>
              <a:t> so       	that we quickly check</a:t>
            </a:r>
            <a:r>
              <a:rPr lang="en-US" altLang="en-US" sz="2000" dirty="0">
                <a:solidFill>
                  <a:schemeClr val="accent3"/>
                </a:solidFill>
              </a:rPr>
              <a:t> </a:t>
            </a:r>
            <a:r>
              <a:rPr kumimoji="0" lang="en-US" altLang="en-US" sz="2000" b="0" i="0" u="none" strike="noStrike" cap="none" normalizeH="0" baseline="0" dirty="0" smtClean="0">
                <a:ln>
                  <a:noFill/>
                </a:ln>
                <a:solidFill>
                  <a:schemeClr val="accent3"/>
                </a:solidFill>
                <a:effectLst/>
                <a:latin typeface="Consolas" panose="020B0609020204030204" pitchFamily="49" charset="0"/>
              </a:rPr>
              <a:t>if a page is present in set or not */</a:t>
            </a:r>
            <a:endParaRPr kumimoji="0" lang="en-US" altLang="en-US" sz="2000" b="0" i="0" u="none" strike="noStrike" cap="none" normalizeH="0" baseline="0" dirty="0" smtClean="0">
              <a:ln>
                <a:noFill/>
              </a:ln>
              <a:solidFill>
                <a:schemeClr val="accent3"/>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smtClean="0">
                <a:ln>
                  <a:noFill/>
                </a:ln>
                <a:effectLst/>
                <a:latin typeface="Consolas" panose="020B0609020204030204" pitchFamily="49" charset="0"/>
              </a:rPr>
              <a:t>    </a:t>
            </a:r>
            <a:r>
              <a:rPr kumimoji="0" lang="en-US" altLang="en-US" sz="2000" b="0" i="0" u="none" strike="noStrike" cap="none" normalizeH="0" baseline="0" dirty="0" err="1" smtClean="0">
                <a:ln>
                  <a:noFill/>
                </a:ln>
                <a:effectLst/>
                <a:latin typeface="Consolas" panose="020B0609020204030204" pitchFamily="49" charset="0"/>
              </a:rPr>
              <a:t>unordered_set</a:t>
            </a:r>
            <a:r>
              <a:rPr kumimoji="0" lang="en-US" altLang="en-US" sz="2000" b="0" i="0" u="none" strike="noStrike" cap="none" normalizeH="0" baseline="0" dirty="0" smtClean="0">
                <a:ln>
                  <a:noFill/>
                </a:ln>
                <a:effectLst/>
                <a:latin typeface="Consolas" panose="020B0609020204030204" pitchFamily="49" charset="0"/>
              </a:rPr>
              <a:t>&lt;</a:t>
            </a:r>
            <a:r>
              <a:rPr kumimoji="0" lang="en-US" altLang="en-US" sz="2000" b="1" i="0" u="none" strike="noStrike" cap="none" normalizeH="0" baseline="0" dirty="0" err="1" smtClean="0">
                <a:ln>
                  <a:noFill/>
                </a:ln>
                <a:effectLst/>
                <a:latin typeface="Consolas" panose="020B0609020204030204" pitchFamily="49" charset="0"/>
              </a:rPr>
              <a:t>int</a:t>
            </a:r>
            <a:r>
              <a:rPr kumimoji="0" lang="en-US" altLang="en-US" sz="2000" b="0" i="0" u="none" strike="noStrike" cap="none" normalizeH="0" baseline="0" dirty="0" smtClean="0">
                <a:ln>
                  <a:noFill/>
                </a:ln>
                <a:effectLst/>
                <a:latin typeface="Consolas" panose="020B0609020204030204" pitchFamily="49" charset="0"/>
              </a:rPr>
              <a:t>&gt; s;</a:t>
            </a:r>
            <a:endParaRPr kumimoji="0" lang="en-US" altLang="en-US" sz="2000" b="0" i="0" u="none" strike="noStrike" cap="none" normalizeH="0" baseline="0" dirty="0" smtClean="0">
              <a:ln>
                <a:noFill/>
              </a:ln>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smtClean="0">
                <a:ln>
                  <a:noFill/>
                </a:ln>
                <a:effectLst/>
                <a:latin typeface="Consolas" panose="020B0609020204030204" pitchFamily="49" charset="0"/>
              </a:rPr>
              <a:t>  </a:t>
            </a:r>
            <a:endParaRPr kumimoji="0" lang="en-US" altLang="en-US" sz="3600" b="0" i="0" u="none" strike="noStrike" cap="none" normalizeH="0" baseline="0" dirty="0" smtClean="0">
              <a:ln>
                <a:noFill/>
              </a:ln>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smtClean="0">
                <a:ln>
                  <a:noFill/>
                </a:ln>
                <a:effectLst/>
                <a:latin typeface="Consolas" panose="020B0609020204030204" pitchFamily="49" charset="0"/>
              </a:rPr>
              <a:t>    </a:t>
            </a:r>
            <a:r>
              <a:rPr kumimoji="0" lang="en-US" altLang="en-US" sz="2000" b="0" i="0" u="none" strike="noStrike" cap="none" normalizeH="0" baseline="0" dirty="0" smtClean="0">
                <a:ln>
                  <a:noFill/>
                </a:ln>
                <a:solidFill>
                  <a:schemeClr val="accent3"/>
                </a:solidFill>
                <a:effectLst/>
                <a:latin typeface="Consolas" panose="020B0609020204030204" pitchFamily="49" charset="0"/>
              </a:rPr>
              <a:t>// To store the pages in FIFO manner</a:t>
            </a:r>
            <a:endParaRPr kumimoji="0" lang="en-US" altLang="en-US" sz="2000" b="0" i="0" u="none" strike="noStrike" cap="none" normalizeH="0" baseline="0" dirty="0" smtClean="0">
              <a:ln>
                <a:noFill/>
              </a:ln>
              <a:solidFill>
                <a:schemeClr val="accent3"/>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smtClean="0">
                <a:ln>
                  <a:noFill/>
                </a:ln>
                <a:effectLst/>
                <a:latin typeface="Consolas" panose="020B0609020204030204" pitchFamily="49" charset="0"/>
              </a:rPr>
              <a:t>    queue&lt;</a:t>
            </a:r>
            <a:r>
              <a:rPr kumimoji="0" lang="en-US" altLang="en-US" sz="2000" b="1" i="0" u="none" strike="noStrike" cap="none" normalizeH="0" baseline="0" dirty="0" err="1" smtClean="0">
                <a:ln>
                  <a:noFill/>
                </a:ln>
                <a:effectLst/>
                <a:latin typeface="Consolas" panose="020B0609020204030204" pitchFamily="49" charset="0"/>
              </a:rPr>
              <a:t>int</a:t>
            </a:r>
            <a:r>
              <a:rPr kumimoji="0" lang="en-US" altLang="en-US" sz="2000" b="0" i="0" u="none" strike="noStrike" cap="none" normalizeH="0" baseline="0" dirty="0" smtClean="0">
                <a:ln>
                  <a:noFill/>
                </a:ln>
                <a:effectLst/>
                <a:latin typeface="Consolas" panose="020B0609020204030204" pitchFamily="49" charset="0"/>
              </a:rPr>
              <a:t>&gt; indexes;</a:t>
            </a:r>
            <a:endParaRPr kumimoji="0" lang="en-US" altLang="en-US" sz="2000" b="0" i="0" u="none" strike="noStrike" cap="none" normalizeH="0" baseline="0" dirty="0" smtClean="0">
              <a:ln>
                <a:noFill/>
              </a:ln>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smtClean="0">
                <a:ln>
                  <a:noFill/>
                </a:ln>
                <a:effectLst/>
                <a:latin typeface="Consolas" panose="020B0609020204030204" pitchFamily="49" charset="0"/>
              </a:rPr>
              <a:t>  </a:t>
            </a:r>
            <a:endParaRPr kumimoji="0" lang="en-US" altLang="en-US" sz="3600" b="0" i="0" u="none" strike="noStrike" cap="none" normalizeH="0" baseline="0" dirty="0" smtClean="0">
              <a:ln>
                <a:noFill/>
              </a:ln>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smtClean="0">
                <a:ln>
                  <a:noFill/>
                </a:ln>
                <a:effectLst/>
                <a:latin typeface="Consolas" panose="020B0609020204030204" pitchFamily="49" charset="0"/>
              </a:rPr>
              <a:t>    </a:t>
            </a:r>
            <a:r>
              <a:rPr kumimoji="0" lang="en-US" altLang="en-US" sz="2000" b="0" i="0" u="none" strike="noStrike" cap="none" normalizeH="0" baseline="0" dirty="0" smtClean="0">
                <a:ln>
                  <a:noFill/>
                </a:ln>
                <a:solidFill>
                  <a:schemeClr val="accent3"/>
                </a:solidFill>
                <a:effectLst/>
                <a:latin typeface="Consolas" panose="020B0609020204030204" pitchFamily="49" charset="0"/>
              </a:rPr>
              <a:t>// Start from initial page</a:t>
            </a:r>
            <a:endParaRPr kumimoji="0" lang="en-US" altLang="en-US" sz="2000" b="0" i="0" u="none" strike="noStrike" cap="none" normalizeH="0" baseline="0" dirty="0" smtClean="0">
              <a:ln>
                <a:noFill/>
              </a:ln>
              <a:solidFill>
                <a:schemeClr val="accent3"/>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smtClean="0">
                <a:ln>
                  <a:noFill/>
                </a:ln>
                <a:effectLst/>
                <a:latin typeface="Consolas" panose="020B0609020204030204" pitchFamily="49" charset="0"/>
              </a:rPr>
              <a:t>    </a:t>
            </a:r>
            <a:r>
              <a:rPr kumimoji="0" lang="en-US" altLang="en-US" sz="2000" b="1" i="0" u="none" strike="noStrike" cap="none" normalizeH="0" baseline="0" dirty="0" err="1" smtClean="0">
                <a:ln>
                  <a:noFill/>
                </a:ln>
                <a:effectLst/>
                <a:latin typeface="Consolas" panose="020B0609020204030204" pitchFamily="49" charset="0"/>
              </a:rPr>
              <a:t>int</a:t>
            </a:r>
            <a:r>
              <a:rPr kumimoji="0" lang="en-US" altLang="en-US" sz="2000" b="0" i="0" u="none" strike="noStrike" cap="none" normalizeH="0" baseline="0" dirty="0" smtClean="0">
                <a:ln>
                  <a:noFill/>
                </a:ln>
                <a:effectLst/>
                <a:latin typeface="Consolas" panose="020B0609020204030204" pitchFamily="49" charset="0"/>
              </a:rPr>
              <a:t> </a:t>
            </a:r>
            <a:r>
              <a:rPr kumimoji="0" lang="en-US" altLang="en-US" sz="2000" b="0" i="0" u="none" strike="noStrike" cap="none" normalizeH="0" baseline="0" dirty="0" err="1" smtClean="0">
                <a:ln>
                  <a:noFill/>
                </a:ln>
                <a:effectLst/>
                <a:latin typeface="Consolas" panose="020B0609020204030204" pitchFamily="49" charset="0"/>
              </a:rPr>
              <a:t>page_faults</a:t>
            </a:r>
            <a:r>
              <a:rPr kumimoji="0" lang="en-US" altLang="en-US" sz="2000" b="0" i="0" u="none" strike="noStrike" cap="none" normalizeH="0" baseline="0" dirty="0" smtClean="0">
                <a:ln>
                  <a:noFill/>
                </a:ln>
                <a:effectLst/>
                <a:latin typeface="Consolas" panose="020B0609020204030204" pitchFamily="49" charset="0"/>
              </a:rPr>
              <a:t> = 0;</a:t>
            </a:r>
            <a:endParaRPr kumimoji="0" lang="en-US" altLang="en-US" sz="2000" b="0" i="0" u="none" strike="noStrike" cap="none" normalizeH="0" baseline="0" dirty="0" smtClean="0">
              <a:ln>
                <a:noFill/>
              </a:ln>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smtClean="0">
                <a:ln>
                  <a:noFill/>
                </a:ln>
                <a:effectLst/>
                <a:latin typeface="Consolas" panose="020B0609020204030204" pitchFamily="49" charset="0"/>
              </a:rPr>
              <a:t>    </a:t>
            </a:r>
            <a:endParaRPr kumimoji="0" lang="en-US" altLang="en-US" sz="3600" b="0" i="0" u="none" strike="noStrike" cap="none" normalizeH="0" baseline="0" dirty="0" smtClean="0">
              <a:ln>
                <a:noFill/>
              </a:ln>
              <a:effectLst/>
            </a:endParaRPr>
          </a:p>
        </p:txBody>
      </p:sp>
    </p:spTree>
    <p:extLst>
      <p:ext uri="{BB962C8B-B14F-4D97-AF65-F5344CB8AC3E}">
        <p14:creationId xmlns:p14="http://schemas.microsoft.com/office/powerpoint/2010/main" val="2943298432"/>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12074" y="694100"/>
            <a:ext cx="10515600" cy="6085523"/>
          </a:xfrm>
        </p:spPr>
        <p:txBody>
          <a:bodyPr>
            <a:normAutofit fontScale="77500" lnSpcReduction="20000"/>
          </a:bodyPr>
          <a:lstStyle/>
          <a:p>
            <a:pPr marL="0" lvl="0" indent="0" eaLnBrk="0" fontAlgn="base" hangingPunct="0">
              <a:lnSpc>
                <a:spcPct val="100000"/>
              </a:lnSpc>
              <a:spcBef>
                <a:spcPct val="0"/>
              </a:spcBef>
              <a:spcAft>
                <a:spcPct val="0"/>
              </a:spcAft>
              <a:buNone/>
            </a:pPr>
            <a:r>
              <a:rPr lang="en-US" altLang="en-US" b="1" dirty="0">
                <a:latin typeface="Consolas" panose="020B0609020204030204" pitchFamily="49" charset="0"/>
              </a:rPr>
              <a:t>for</a:t>
            </a:r>
            <a:r>
              <a:rPr lang="en-US" altLang="en-US" dirty="0">
                <a:latin typeface="Consolas" panose="020B0609020204030204" pitchFamily="49" charset="0"/>
              </a:rPr>
              <a:t> (</a:t>
            </a:r>
            <a:r>
              <a:rPr lang="en-US" altLang="en-US" b="1" dirty="0" err="1">
                <a:latin typeface="Consolas" panose="020B0609020204030204" pitchFamily="49" charset="0"/>
              </a:rPr>
              <a:t>int</a:t>
            </a:r>
            <a:r>
              <a:rPr lang="en-US" altLang="en-US" dirty="0">
                <a:latin typeface="Consolas" panose="020B0609020204030204" pitchFamily="49" charset="0"/>
              </a:rPr>
              <a:t> </a:t>
            </a:r>
            <a:r>
              <a:rPr lang="en-US" altLang="en-US" dirty="0" err="1">
                <a:latin typeface="Consolas" panose="020B0609020204030204" pitchFamily="49" charset="0"/>
              </a:rPr>
              <a:t>i</a:t>
            </a:r>
            <a:r>
              <a:rPr lang="en-US" altLang="en-US" dirty="0">
                <a:latin typeface="Consolas" panose="020B0609020204030204" pitchFamily="49" charset="0"/>
              </a:rPr>
              <a:t>=0; </a:t>
            </a:r>
            <a:r>
              <a:rPr lang="en-US" altLang="en-US" dirty="0" err="1">
                <a:latin typeface="Consolas" panose="020B0609020204030204" pitchFamily="49" charset="0"/>
              </a:rPr>
              <a:t>i</a:t>
            </a:r>
            <a:r>
              <a:rPr lang="en-US" altLang="en-US" dirty="0">
                <a:latin typeface="Consolas" panose="020B0609020204030204" pitchFamily="49" charset="0"/>
              </a:rPr>
              <a:t>&lt;n; </a:t>
            </a:r>
            <a:r>
              <a:rPr lang="en-US" altLang="en-US" dirty="0" err="1">
                <a:latin typeface="Consolas" panose="020B0609020204030204" pitchFamily="49" charset="0"/>
              </a:rPr>
              <a:t>i</a:t>
            </a:r>
            <a:r>
              <a:rPr lang="en-US" altLang="en-US" dirty="0">
                <a:latin typeface="Consolas" panose="020B0609020204030204" pitchFamily="49" charset="0"/>
              </a:rPr>
              <a:t>++)</a:t>
            </a:r>
            <a:endParaRPr lang="en-US" altLang="en-US" dirty="0"/>
          </a:p>
          <a:p>
            <a:pPr marL="0" lvl="0" indent="0" eaLnBrk="0" fontAlgn="base" hangingPunct="0">
              <a:lnSpc>
                <a:spcPct val="100000"/>
              </a:lnSpc>
              <a:spcBef>
                <a:spcPct val="0"/>
              </a:spcBef>
              <a:spcAft>
                <a:spcPct val="0"/>
              </a:spcAft>
              <a:buNone/>
            </a:pPr>
            <a:r>
              <a:rPr lang="en-US" altLang="en-US" dirty="0">
                <a:latin typeface="Consolas" panose="020B0609020204030204" pitchFamily="49" charset="0"/>
              </a:rPr>
              <a:t>    {</a:t>
            </a:r>
            <a:endParaRPr lang="en-US" altLang="en-US" dirty="0"/>
          </a:p>
          <a:p>
            <a:pPr marL="0" lvl="0" indent="0" eaLnBrk="0" fontAlgn="base" hangingPunct="0">
              <a:lnSpc>
                <a:spcPct val="100000"/>
              </a:lnSpc>
              <a:spcBef>
                <a:spcPct val="0"/>
              </a:spcBef>
              <a:spcAft>
                <a:spcPct val="0"/>
              </a:spcAft>
              <a:buNone/>
            </a:pPr>
            <a:r>
              <a:rPr lang="en-US" altLang="en-US" dirty="0">
                <a:latin typeface="Consolas" panose="020B0609020204030204" pitchFamily="49" charset="0"/>
              </a:rPr>
              <a:t>        </a:t>
            </a:r>
            <a:r>
              <a:rPr lang="en-US" altLang="en-US" dirty="0">
                <a:solidFill>
                  <a:schemeClr val="accent3"/>
                </a:solidFill>
                <a:latin typeface="Consolas" panose="020B0609020204030204" pitchFamily="49" charset="0"/>
              </a:rPr>
              <a:t>// Check if the set can hold more pages</a:t>
            </a:r>
            <a:endParaRPr lang="en-US" altLang="en-US" dirty="0">
              <a:solidFill>
                <a:schemeClr val="accent3"/>
              </a:solidFill>
            </a:endParaRPr>
          </a:p>
          <a:p>
            <a:pPr marL="0" lvl="0" indent="0" eaLnBrk="0" fontAlgn="base" hangingPunct="0">
              <a:lnSpc>
                <a:spcPct val="100000"/>
              </a:lnSpc>
              <a:spcBef>
                <a:spcPct val="0"/>
              </a:spcBef>
              <a:spcAft>
                <a:spcPct val="0"/>
              </a:spcAft>
              <a:buNone/>
            </a:pPr>
            <a:r>
              <a:rPr lang="en-US" altLang="en-US" dirty="0">
                <a:latin typeface="Consolas" panose="020B0609020204030204" pitchFamily="49" charset="0"/>
              </a:rPr>
              <a:t>        </a:t>
            </a:r>
            <a:r>
              <a:rPr lang="en-US" altLang="en-US" b="1" dirty="0">
                <a:latin typeface="Consolas" panose="020B0609020204030204" pitchFamily="49" charset="0"/>
              </a:rPr>
              <a:t>if</a:t>
            </a:r>
            <a:r>
              <a:rPr lang="en-US" altLang="en-US" dirty="0">
                <a:latin typeface="Consolas" panose="020B0609020204030204" pitchFamily="49" charset="0"/>
              </a:rPr>
              <a:t> (</a:t>
            </a:r>
            <a:r>
              <a:rPr lang="en-US" altLang="en-US" dirty="0" err="1">
                <a:latin typeface="Consolas" panose="020B0609020204030204" pitchFamily="49" charset="0"/>
              </a:rPr>
              <a:t>s.size</a:t>
            </a:r>
            <a:r>
              <a:rPr lang="en-US" altLang="en-US" dirty="0">
                <a:latin typeface="Consolas" panose="020B0609020204030204" pitchFamily="49" charset="0"/>
              </a:rPr>
              <a:t>() &lt; capacity)</a:t>
            </a:r>
            <a:endParaRPr lang="en-US" altLang="en-US" dirty="0"/>
          </a:p>
          <a:p>
            <a:pPr marL="0" lvl="0" indent="0" eaLnBrk="0" fontAlgn="base" hangingPunct="0">
              <a:lnSpc>
                <a:spcPct val="100000"/>
              </a:lnSpc>
              <a:spcBef>
                <a:spcPct val="0"/>
              </a:spcBef>
              <a:spcAft>
                <a:spcPct val="0"/>
              </a:spcAft>
              <a:buNone/>
            </a:pPr>
            <a:r>
              <a:rPr lang="en-US" altLang="en-US" dirty="0">
                <a:latin typeface="Consolas" panose="020B0609020204030204" pitchFamily="49" charset="0"/>
              </a:rPr>
              <a:t>        {</a:t>
            </a:r>
            <a:endParaRPr lang="en-US" altLang="en-US" dirty="0"/>
          </a:p>
          <a:p>
            <a:pPr marL="0" lvl="0" indent="0" eaLnBrk="0" fontAlgn="base" hangingPunct="0">
              <a:lnSpc>
                <a:spcPct val="100000"/>
              </a:lnSpc>
              <a:spcBef>
                <a:spcPct val="0"/>
              </a:spcBef>
              <a:spcAft>
                <a:spcPct val="0"/>
              </a:spcAft>
              <a:buNone/>
            </a:pPr>
            <a:r>
              <a:rPr lang="en-US" altLang="en-US" dirty="0">
                <a:latin typeface="Consolas" panose="020B0609020204030204" pitchFamily="49" charset="0"/>
              </a:rPr>
              <a:t>            </a:t>
            </a:r>
            <a:r>
              <a:rPr lang="en-US" altLang="en-US" dirty="0" smtClean="0">
                <a:solidFill>
                  <a:schemeClr val="accent3"/>
                </a:solidFill>
                <a:latin typeface="Consolas" panose="020B0609020204030204" pitchFamily="49" charset="0"/>
              </a:rPr>
              <a:t>/* </a:t>
            </a:r>
            <a:r>
              <a:rPr lang="en-US" altLang="en-US" dirty="0">
                <a:solidFill>
                  <a:schemeClr val="accent3"/>
                </a:solidFill>
                <a:latin typeface="Consolas" panose="020B0609020204030204" pitchFamily="49" charset="0"/>
              </a:rPr>
              <a:t>Insert it into set if not </a:t>
            </a:r>
            <a:r>
              <a:rPr lang="en-US" altLang="en-US" dirty="0" smtClean="0">
                <a:solidFill>
                  <a:schemeClr val="accent3"/>
                </a:solidFill>
                <a:latin typeface="Consolas" panose="020B0609020204030204" pitchFamily="49" charset="0"/>
              </a:rPr>
              <a:t>present</a:t>
            </a:r>
            <a:r>
              <a:rPr lang="en-US" altLang="en-US" dirty="0" smtClean="0">
                <a:solidFill>
                  <a:schemeClr val="accent3"/>
                </a:solidFill>
              </a:rPr>
              <a:t> </a:t>
            </a:r>
            <a:r>
              <a:rPr lang="en-US" altLang="en-US" dirty="0" smtClean="0">
                <a:solidFill>
                  <a:schemeClr val="accent3"/>
                </a:solidFill>
                <a:latin typeface="Consolas" panose="020B0609020204030204" pitchFamily="49" charset="0"/>
              </a:rPr>
              <a:t>already which 			   represents </a:t>
            </a:r>
            <a:r>
              <a:rPr lang="en-US" altLang="en-US" dirty="0">
                <a:solidFill>
                  <a:schemeClr val="accent3"/>
                </a:solidFill>
                <a:latin typeface="Consolas" panose="020B0609020204030204" pitchFamily="49" charset="0"/>
              </a:rPr>
              <a:t>page </a:t>
            </a:r>
            <a:r>
              <a:rPr lang="en-US" altLang="en-US" dirty="0" smtClean="0">
                <a:solidFill>
                  <a:schemeClr val="accent3"/>
                </a:solidFill>
                <a:latin typeface="Consolas" panose="020B0609020204030204" pitchFamily="49" charset="0"/>
              </a:rPr>
              <a:t>fault */</a:t>
            </a:r>
            <a:endParaRPr lang="en-US" altLang="en-US" dirty="0">
              <a:solidFill>
                <a:schemeClr val="accent3"/>
              </a:solidFill>
            </a:endParaRPr>
          </a:p>
          <a:p>
            <a:pPr marL="0" lvl="0" indent="0" eaLnBrk="0" fontAlgn="base" hangingPunct="0">
              <a:lnSpc>
                <a:spcPct val="100000"/>
              </a:lnSpc>
              <a:spcBef>
                <a:spcPct val="0"/>
              </a:spcBef>
              <a:spcAft>
                <a:spcPct val="0"/>
              </a:spcAft>
              <a:buNone/>
            </a:pPr>
            <a:r>
              <a:rPr lang="en-US" altLang="en-US" dirty="0">
                <a:latin typeface="Consolas" panose="020B0609020204030204" pitchFamily="49" charset="0"/>
              </a:rPr>
              <a:t>            </a:t>
            </a:r>
            <a:r>
              <a:rPr lang="en-US" altLang="en-US" b="1" dirty="0">
                <a:latin typeface="Consolas" panose="020B0609020204030204" pitchFamily="49" charset="0"/>
              </a:rPr>
              <a:t>if</a:t>
            </a:r>
            <a:r>
              <a:rPr lang="en-US" altLang="en-US" dirty="0">
                <a:latin typeface="Consolas" panose="020B0609020204030204" pitchFamily="49" charset="0"/>
              </a:rPr>
              <a:t> (</a:t>
            </a:r>
            <a:r>
              <a:rPr lang="en-US" altLang="en-US" dirty="0" err="1">
                <a:latin typeface="Consolas" panose="020B0609020204030204" pitchFamily="49" charset="0"/>
              </a:rPr>
              <a:t>s.find</a:t>
            </a:r>
            <a:r>
              <a:rPr lang="en-US" altLang="en-US" dirty="0">
                <a:latin typeface="Consolas" panose="020B0609020204030204" pitchFamily="49" charset="0"/>
              </a:rPr>
              <a:t>(pages[</a:t>
            </a:r>
            <a:r>
              <a:rPr lang="en-US" altLang="en-US" dirty="0" err="1">
                <a:latin typeface="Consolas" panose="020B0609020204030204" pitchFamily="49" charset="0"/>
              </a:rPr>
              <a:t>i</a:t>
            </a:r>
            <a:r>
              <a:rPr lang="en-US" altLang="en-US" dirty="0">
                <a:latin typeface="Consolas" panose="020B0609020204030204" pitchFamily="49" charset="0"/>
              </a:rPr>
              <a:t>])==</a:t>
            </a:r>
            <a:r>
              <a:rPr lang="en-US" altLang="en-US" dirty="0" err="1">
                <a:latin typeface="Consolas" panose="020B0609020204030204" pitchFamily="49" charset="0"/>
              </a:rPr>
              <a:t>s.end</a:t>
            </a:r>
            <a:r>
              <a:rPr lang="en-US" altLang="en-US" dirty="0">
                <a:latin typeface="Consolas" panose="020B0609020204030204" pitchFamily="49" charset="0"/>
              </a:rPr>
              <a:t>())</a:t>
            </a:r>
            <a:endParaRPr lang="en-US" altLang="en-US" dirty="0"/>
          </a:p>
          <a:p>
            <a:pPr marL="0" lvl="0" indent="0" eaLnBrk="0" fontAlgn="base" hangingPunct="0">
              <a:lnSpc>
                <a:spcPct val="100000"/>
              </a:lnSpc>
              <a:spcBef>
                <a:spcPct val="0"/>
              </a:spcBef>
              <a:spcAft>
                <a:spcPct val="0"/>
              </a:spcAft>
              <a:buNone/>
            </a:pPr>
            <a:r>
              <a:rPr lang="en-US" altLang="en-US" dirty="0">
                <a:latin typeface="Consolas" panose="020B0609020204030204" pitchFamily="49" charset="0"/>
              </a:rPr>
              <a:t>            {</a:t>
            </a:r>
            <a:endParaRPr lang="en-US" altLang="en-US" dirty="0"/>
          </a:p>
          <a:p>
            <a:pPr marL="0" lvl="0" indent="0" eaLnBrk="0" fontAlgn="base" hangingPunct="0">
              <a:lnSpc>
                <a:spcPct val="100000"/>
              </a:lnSpc>
              <a:spcBef>
                <a:spcPct val="0"/>
              </a:spcBef>
              <a:spcAft>
                <a:spcPct val="0"/>
              </a:spcAft>
              <a:buNone/>
            </a:pPr>
            <a:r>
              <a:rPr lang="en-US" altLang="en-US" dirty="0">
                <a:latin typeface="Consolas" panose="020B0609020204030204" pitchFamily="49" charset="0"/>
              </a:rPr>
              <a:t>                </a:t>
            </a:r>
            <a:r>
              <a:rPr lang="en-US" altLang="en-US" dirty="0">
                <a:solidFill>
                  <a:schemeClr val="accent3"/>
                </a:solidFill>
                <a:latin typeface="Consolas" panose="020B0609020204030204" pitchFamily="49" charset="0"/>
              </a:rPr>
              <a:t>// Insert the current page into the set</a:t>
            </a:r>
            <a:endParaRPr lang="en-US" altLang="en-US" dirty="0">
              <a:solidFill>
                <a:schemeClr val="accent3"/>
              </a:solidFill>
            </a:endParaRPr>
          </a:p>
          <a:p>
            <a:pPr marL="0" lvl="0" indent="0" eaLnBrk="0" fontAlgn="base" hangingPunct="0">
              <a:lnSpc>
                <a:spcPct val="100000"/>
              </a:lnSpc>
              <a:spcBef>
                <a:spcPct val="0"/>
              </a:spcBef>
              <a:spcAft>
                <a:spcPct val="0"/>
              </a:spcAft>
              <a:buNone/>
            </a:pPr>
            <a:r>
              <a:rPr lang="en-US" altLang="en-US" dirty="0">
                <a:latin typeface="Consolas" panose="020B0609020204030204" pitchFamily="49" charset="0"/>
              </a:rPr>
              <a:t>                </a:t>
            </a:r>
            <a:r>
              <a:rPr lang="en-US" altLang="en-US" dirty="0" err="1">
                <a:latin typeface="Consolas" panose="020B0609020204030204" pitchFamily="49" charset="0"/>
              </a:rPr>
              <a:t>s.insert</a:t>
            </a:r>
            <a:r>
              <a:rPr lang="en-US" altLang="en-US" dirty="0">
                <a:latin typeface="Consolas" panose="020B0609020204030204" pitchFamily="49" charset="0"/>
              </a:rPr>
              <a:t>(pages[</a:t>
            </a:r>
            <a:r>
              <a:rPr lang="en-US" altLang="en-US" dirty="0" err="1">
                <a:latin typeface="Consolas" panose="020B0609020204030204" pitchFamily="49" charset="0"/>
              </a:rPr>
              <a:t>i</a:t>
            </a:r>
            <a:r>
              <a:rPr lang="en-US" altLang="en-US" dirty="0">
                <a:latin typeface="Consolas" panose="020B0609020204030204" pitchFamily="49" charset="0"/>
              </a:rPr>
              <a:t>]);</a:t>
            </a:r>
            <a:endParaRPr lang="en-US" altLang="en-US" dirty="0"/>
          </a:p>
          <a:p>
            <a:pPr marL="0" lvl="0" indent="0" eaLnBrk="0" fontAlgn="base" hangingPunct="0">
              <a:lnSpc>
                <a:spcPct val="100000"/>
              </a:lnSpc>
              <a:spcBef>
                <a:spcPct val="0"/>
              </a:spcBef>
              <a:spcAft>
                <a:spcPct val="0"/>
              </a:spcAft>
              <a:buNone/>
            </a:pPr>
            <a:r>
              <a:rPr lang="en-US" altLang="en-US" dirty="0">
                <a:latin typeface="Consolas" panose="020B0609020204030204" pitchFamily="49" charset="0"/>
              </a:rPr>
              <a:t>  </a:t>
            </a:r>
            <a:endParaRPr kumimoji="0" lang="en-US" altLang="en-US" sz="4400" b="0" i="0" u="none" strike="noStrike" cap="none" normalizeH="0" baseline="0" dirty="0" smtClean="0">
              <a:ln>
                <a:noFill/>
              </a:ln>
              <a:effectLst/>
            </a:endParaRPr>
          </a:p>
          <a:p>
            <a:pPr marL="0" lvl="0" indent="0" eaLnBrk="0" fontAlgn="base" hangingPunct="0">
              <a:lnSpc>
                <a:spcPct val="100000"/>
              </a:lnSpc>
              <a:spcBef>
                <a:spcPct val="0"/>
              </a:spcBef>
              <a:spcAft>
                <a:spcPct val="0"/>
              </a:spcAft>
              <a:buNone/>
            </a:pPr>
            <a:r>
              <a:rPr lang="en-US" altLang="en-US" dirty="0">
                <a:latin typeface="Consolas" panose="020B0609020204030204" pitchFamily="49" charset="0"/>
              </a:rPr>
              <a:t>                </a:t>
            </a:r>
            <a:r>
              <a:rPr lang="en-US" altLang="en-US" dirty="0">
                <a:solidFill>
                  <a:schemeClr val="accent3"/>
                </a:solidFill>
                <a:latin typeface="Consolas" panose="020B0609020204030204" pitchFamily="49" charset="0"/>
              </a:rPr>
              <a:t>// increment page fault</a:t>
            </a:r>
            <a:endParaRPr lang="en-US" altLang="en-US" dirty="0">
              <a:solidFill>
                <a:schemeClr val="accent3"/>
              </a:solidFill>
            </a:endParaRPr>
          </a:p>
          <a:p>
            <a:pPr marL="0" lvl="0" indent="0" eaLnBrk="0" fontAlgn="base" hangingPunct="0">
              <a:lnSpc>
                <a:spcPct val="100000"/>
              </a:lnSpc>
              <a:spcBef>
                <a:spcPct val="0"/>
              </a:spcBef>
              <a:spcAft>
                <a:spcPct val="0"/>
              </a:spcAft>
              <a:buNone/>
            </a:pPr>
            <a:r>
              <a:rPr lang="en-US" altLang="en-US" dirty="0">
                <a:latin typeface="Consolas" panose="020B0609020204030204" pitchFamily="49" charset="0"/>
              </a:rPr>
              <a:t>                </a:t>
            </a:r>
            <a:r>
              <a:rPr lang="en-US" altLang="en-US" dirty="0" err="1">
                <a:latin typeface="Consolas" panose="020B0609020204030204" pitchFamily="49" charset="0"/>
              </a:rPr>
              <a:t>page_faults</a:t>
            </a:r>
            <a:r>
              <a:rPr lang="en-US" altLang="en-US" dirty="0">
                <a:latin typeface="Consolas" panose="020B0609020204030204" pitchFamily="49" charset="0"/>
              </a:rPr>
              <a:t>++;</a:t>
            </a:r>
            <a:endParaRPr lang="en-US" altLang="en-US" dirty="0"/>
          </a:p>
          <a:p>
            <a:pPr marL="0" lvl="0" indent="0" eaLnBrk="0" fontAlgn="base" hangingPunct="0">
              <a:lnSpc>
                <a:spcPct val="100000"/>
              </a:lnSpc>
              <a:spcBef>
                <a:spcPct val="0"/>
              </a:spcBef>
              <a:spcAft>
                <a:spcPct val="0"/>
              </a:spcAft>
              <a:buNone/>
            </a:pPr>
            <a:r>
              <a:rPr lang="en-US" altLang="en-US" dirty="0">
                <a:latin typeface="Consolas" panose="020B0609020204030204" pitchFamily="49" charset="0"/>
              </a:rPr>
              <a:t>  </a:t>
            </a:r>
            <a:endParaRPr kumimoji="0" lang="en-US" altLang="en-US" sz="4400" b="0" i="0" u="none" strike="noStrike" cap="none" normalizeH="0" baseline="0" dirty="0" smtClean="0">
              <a:ln>
                <a:noFill/>
              </a:ln>
              <a:effectLst/>
            </a:endParaRPr>
          </a:p>
          <a:p>
            <a:pPr marL="0" lvl="0" indent="0" eaLnBrk="0" fontAlgn="base" hangingPunct="0">
              <a:lnSpc>
                <a:spcPct val="100000"/>
              </a:lnSpc>
              <a:spcBef>
                <a:spcPct val="0"/>
              </a:spcBef>
              <a:spcAft>
                <a:spcPct val="0"/>
              </a:spcAft>
              <a:buNone/>
            </a:pPr>
            <a:r>
              <a:rPr lang="en-US" altLang="en-US" dirty="0">
                <a:latin typeface="Consolas" panose="020B0609020204030204" pitchFamily="49" charset="0"/>
              </a:rPr>
              <a:t>                </a:t>
            </a:r>
            <a:r>
              <a:rPr lang="en-US" altLang="en-US" dirty="0">
                <a:solidFill>
                  <a:schemeClr val="accent3"/>
                </a:solidFill>
                <a:latin typeface="Consolas" panose="020B0609020204030204" pitchFamily="49" charset="0"/>
              </a:rPr>
              <a:t>// Push the current page into the queue</a:t>
            </a:r>
            <a:endParaRPr lang="en-US" altLang="en-US" dirty="0">
              <a:solidFill>
                <a:schemeClr val="accent3"/>
              </a:solidFill>
            </a:endParaRPr>
          </a:p>
          <a:p>
            <a:pPr marL="0" lvl="0" indent="0" eaLnBrk="0" fontAlgn="base" hangingPunct="0">
              <a:lnSpc>
                <a:spcPct val="100000"/>
              </a:lnSpc>
              <a:spcBef>
                <a:spcPct val="0"/>
              </a:spcBef>
              <a:spcAft>
                <a:spcPct val="0"/>
              </a:spcAft>
              <a:buNone/>
            </a:pPr>
            <a:r>
              <a:rPr lang="en-US" altLang="en-US" dirty="0">
                <a:latin typeface="Consolas" panose="020B0609020204030204" pitchFamily="49" charset="0"/>
              </a:rPr>
              <a:t>                </a:t>
            </a:r>
            <a:r>
              <a:rPr lang="en-US" altLang="en-US" dirty="0" err="1">
                <a:latin typeface="Consolas" panose="020B0609020204030204" pitchFamily="49" charset="0"/>
              </a:rPr>
              <a:t>indexes.push</a:t>
            </a:r>
            <a:r>
              <a:rPr lang="en-US" altLang="en-US" dirty="0">
                <a:latin typeface="Consolas" panose="020B0609020204030204" pitchFamily="49" charset="0"/>
              </a:rPr>
              <a:t>(pages[</a:t>
            </a:r>
            <a:r>
              <a:rPr lang="en-US" altLang="en-US" dirty="0" err="1">
                <a:latin typeface="Consolas" panose="020B0609020204030204" pitchFamily="49" charset="0"/>
              </a:rPr>
              <a:t>i</a:t>
            </a:r>
            <a:r>
              <a:rPr lang="en-US" altLang="en-US" dirty="0">
                <a:latin typeface="Consolas" panose="020B0609020204030204" pitchFamily="49" charset="0"/>
              </a:rPr>
              <a:t>]);</a:t>
            </a:r>
            <a:endParaRPr lang="en-US" altLang="en-US" dirty="0"/>
          </a:p>
          <a:p>
            <a:pPr marL="0" lvl="0" indent="0" eaLnBrk="0" fontAlgn="base" hangingPunct="0">
              <a:lnSpc>
                <a:spcPct val="100000"/>
              </a:lnSpc>
              <a:spcBef>
                <a:spcPct val="0"/>
              </a:spcBef>
              <a:spcAft>
                <a:spcPct val="0"/>
              </a:spcAft>
              <a:buNone/>
            </a:pPr>
            <a:r>
              <a:rPr lang="en-US" altLang="en-US" dirty="0">
                <a:latin typeface="Consolas" panose="020B0609020204030204" pitchFamily="49" charset="0"/>
              </a:rPr>
              <a:t>            }</a:t>
            </a:r>
            <a:endParaRPr lang="en-US" altLang="en-US" dirty="0"/>
          </a:p>
          <a:p>
            <a:pPr marL="0" lvl="0" indent="0" eaLnBrk="0" fontAlgn="base" hangingPunct="0">
              <a:lnSpc>
                <a:spcPct val="100000"/>
              </a:lnSpc>
              <a:spcBef>
                <a:spcPct val="0"/>
              </a:spcBef>
              <a:spcAft>
                <a:spcPct val="0"/>
              </a:spcAft>
              <a:buNone/>
            </a:pPr>
            <a:r>
              <a:rPr lang="en-US" altLang="en-US" dirty="0">
                <a:latin typeface="Consolas" panose="020B0609020204030204" pitchFamily="49" charset="0"/>
              </a:rPr>
              <a:t>        }</a:t>
            </a:r>
            <a:endParaRPr lang="en-US" altLang="en-US" dirty="0"/>
          </a:p>
          <a:p>
            <a:pPr marL="0" lvl="0" indent="0" eaLnBrk="0" fontAlgn="base" hangingPunct="0">
              <a:lnSpc>
                <a:spcPct val="100000"/>
              </a:lnSpc>
              <a:spcBef>
                <a:spcPct val="0"/>
              </a:spcBef>
              <a:spcAft>
                <a:spcPct val="0"/>
              </a:spcAft>
              <a:buNone/>
            </a:pPr>
            <a:r>
              <a:rPr lang="en-US" altLang="en-US" dirty="0">
                <a:latin typeface="Consolas" panose="020B0609020204030204" pitchFamily="49" charset="0"/>
              </a:rPr>
              <a:t>  </a:t>
            </a:r>
            <a:endParaRPr kumimoji="0" lang="en-US" altLang="en-US" sz="4400" b="0" i="0" u="none" strike="noStrike" cap="none" normalizeH="0" baseline="0" dirty="0" smtClean="0">
              <a:ln>
                <a:noFill/>
              </a:ln>
              <a:effectLst/>
            </a:endParaRPr>
          </a:p>
          <a:p>
            <a:pPr marL="0" lvl="0" indent="0" eaLnBrk="0" fontAlgn="base" hangingPunct="0">
              <a:lnSpc>
                <a:spcPct val="100000"/>
              </a:lnSpc>
              <a:spcBef>
                <a:spcPct val="0"/>
              </a:spcBef>
              <a:spcAft>
                <a:spcPct val="0"/>
              </a:spcAft>
              <a:buNone/>
            </a:pPr>
            <a:r>
              <a:rPr lang="en-US" altLang="en-US" dirty="0">
                <a:latin typeface="Consolas" panose="020B0609020204030204" pitchFamily="49" charset="0"/>
              </a:rPr>
              <a:t>       </a:t>
            </a:r>
            <a:endParaRPr lang="en-US" dirty="0"/>
          </a:p>
        </p:txBody>
      </p:sp>
    </p:spTree>
    <p:extLst>
      <p:ext uri="{BB962C8B-B14F-4D97-AF65-F5344CB8AC3E}">
        <p14:creationId xmlns:p14="http://schemas.microsoft.com/office/powerpoint/2010/main" val="294289267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
            <a:ext cx="10515600" cy="6621100"/>
          </a:xfrm>
        </p:spPr>
        <p:txBody>
          <a:bodyPr>
            <a:noAutofit/>
          </a:bodyPr>
          <a:lstStyle/>
          <a:p>
            <a:pPr marL="0" lvl="0" indent="0" eaLnBrk="0" fontAlgn="base" hangingPunct="0">
              <a:lnSpc>
                <a:spcPct val="100000"/>
              </a:lnSpc>
              <a:spcBef>
                <a:spcPct val="0"/>
              </a:spcBef>
              <a:spcAft>
                <a:spcPct val="0"/>
              </a:spcAft>
              <a:buNone/>
            </a:pPr>
            <a:r>
              <a:rPr lang="en-US" altLang="en-US" sz="700" dirty="0" smtClean="0">
                <a:latin typeface="Consolas" panose="020B0609020204030204" pitchFamily="49" charset="0"/>
              </a:rPr>
              <a:t> </a:t>
            </a:r>
            <a:r>
              <a:rPr lang="en-US" altLang="en-US" sz="1400" dirty="0" smtClean="0">
                <a:latin typeface="Consolas" panose="020B0609020204030204" pitchFamily="49" charset="0"/>
              </a:rPr>
              <a:t>       </a:t>
            </a:r>
            <a:r>
              <a:rPr lang="en-US" altLang="en-US" sz="1400" dirty="0" smtClean="0">
                <a:solidFill>
                  <a:schemeClr val="accent3"/>
                </a:solidFill>
                <a:latin typeface="Consolas" panose="020B0609020204030204" pitchFamily="49" charset="0"/>
              </a:rPr>
              <a:t>/* If the set is full then need to perform FIFO</a:t>
            </a:r>
            <a:r>
              <a:rPr lang="en-US" altLang="en-US" sz="1400" dirty="0">
                <a:solidFill>
                  <a:schemeClr val="accent3"/>
                </a:solidFill>
              </a:rPr>
              <a:t> </a:t>
            </a:r>
            <a:r>
              <a:rPr lang="en-US" altLang="en-US" sz="1400" dirty="0" smtClean="0">
                <a:solidFill>
                  <a:schemeClr val="accent3"/>
                </a:solidFill>
              </a:rPr>
              <a:t> </a:t>
            </a:r>
            <a:r>
              <a:rPr lang="en-US" altLang="en-US" sz="1400" dirty="0" smtClean="0">
                <a:solidFill>
                  <a:schemeClr val="accent3"/>
                </a:solidFill>
                <a:latin typeface="Consolas" panose="020B0609020204030204" pitchFamily="49" charset="0"/>
              </a:rPr>
              <a:t>i.e. remove the first page of the queue from</a:t>
            </a:r>
            <a:r>
              <a:rPr lang="en-US" altLang="en-US" sz="1400" dirty="0">
                <a:solidFill>
                  <a:schemeClr val="accent3"/>
                </a:solidFill>
              </a:rPr>
              <a:t>  </a:t>
            </a:r>
            <a:r>
              <a:rPr lang="en-US" altLang="en-US" sz="1400" dirty="0" smtClean="0">
                <a:solidFill>
                  <a:schemeClr val="accent3"/>
                </a:solidFill>
                <a:latin typeface="Consolas" panose="020B0609020204030204" pitchFamily="49" charset="0"/>
              </a:rPr>
              <a:t>set           	and queue both and insert the current page */</a:t>
            </a:r>
            <a:endParaRPr lang="en-US" altLang="en-US" sz="1400" dirty="0" smtClean="0">
              <a:solidFill>
                <a:schemeClr val="accent3"/>
              </a:solidFill>
            </a:endParaRPr>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r>
              <a:rPr lang="en-US" altLang="en-US" sz="1400" b="1" dirty="0" smtClean="0">
                <a:latin typeface="Consolas" panose="020B0609020204030204" pitchFamily="49" charset="0"/>
              </a:rPr>
              <a:t>else</a:t>
            </a:r>
            <a:endParaRPr lang="en-US" altLang="en-US" sz="1400" dirty="0" smtClean="0"/>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endParaRPr lang="en-US" altLang="en-US" sz="1400" dirty="0" smtClean="0"/>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r>
              <a:rPr lang="en-US" altLang="en-US" sz="1400" dirty="0" smtClean="0">
                <a:solidFill>
                  <a:schemeClr val="accent3"/>
                </a:solidFill>
                <a:latin typeface="Consolas" panose="020B0609020204030204" pitchFamily="49" charset="0"/>
              </a:rPr>
              <a:t>// Check if current page is not already</a:t>
            </a:r>
            <a:r>
              <a:rPr lang="en-US" altLang="en-US" sz="1400" dirty="0">
                <a:solidFill>
                  <a:schemeClr val="accent3"/>
                </a:solidFill>
              </a:rPr>
              <a:t> </a:t>
            </a:r>
            <a:r>
              <a:rPr lang="en-US" altLang="en-US" sz="1400" dirty="0" smtClean="0">
                <a:solidFill>
                  <a:schemeClr val="accent3"/>
                </a:solidFill>
                <a:latin typeface="Consolas" panose="020B0609020204030204" pitchFamily="49" charset="0"/>
              </a:rPr>
              <a:t>present in the set</a:t>
            </a:r>
            <a:endParaRPr lang="en-US" altLang="en-US" sz="1400" dirty="0" smtClean="0">
              <a:solidFill>
                <a:schemeClr val="accent3"/>
              </a:solidFill>
            </a:endParaRPr>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r>
              <a:rPr lang="en-US" altLang="en-US" sz="1400" b="1" dirty="0" smtClean="0">
                <a:latin typeface="Consolas" panose="020B0609020204030204" pitchFamily="49" charset="0"/>
              </a:rPr>
              <a:t>if</a:t>
            </a:r>
            <a:r>
              <a:rPr lang="en-US" altLang="en-US" sz="1400" dirty="0" smtClean="0">
                <a:latin typeface="Consolas" panose="020B0609020204030204" pitchFamily="49" charset="0"/>
              </a:rPr>
              <a:t> (</a:t>
            </a:r>
            <a:r>
              <a:rPr lang="en-US" altLang="en-US" sz="1400" dirty="0" err="1" smtClean="0">
                <a:latin typeface="Consolas" panose="020B0609020204030204" pitchFamily="49" charset="0"/>
              </a:rPr>
              <a:t>s.find</a:t>
            </a:r>
            <a:r>
              <a:rPr lang="en-US" altLang="en-US" sz="1400" dirty="0" smtClean="0">
                <a:latin typeface="Consolas" panose="020B0609020204030204" pitchFamily="49" charset="0"/>
              </a:rPr>
              <a:t>(pages[</a:t>
            </a:r>
            <a:r>
              <a:rPr lang="en-US" altLang="en-US" sz="1400" dirty="0" err="1" smtClean="0">
                <a:latin typeface="Consolas" panose="020B0609020204030204" pitchFamily="49" charset="0"/>
              </a:rPr>
              <a:t>i</a:t>
            </a:r>
            <a:r>
              <a:rPr lang="en-US" altLang="en-US" sz="1400" dirty="0" smtClean="0">
                <a:latin typeface="Consolas" panose="020B0609020204030204" pitchFamily="49" charset="0"/>
              </a:rPr>
              <a:t>]) == </a:t>
            </a:r>
            <a:r>
              <a:rPr lang="en-US" altLang="en-US" sz="1400" dirty="0" err="1" smtClean="0">
                <a:latin typeface="Consolas" panose="020B0609020204030204" pitchFamily="49" charset="0"/>
              </a:rPr>
              <a:t>s.end</a:t>
            </a:r>
            <a:r>
              <a:rPr lang="en-US" altLang="en-US" sz="1400" dirty="0" smtClean="0">
                <a:latin typeface="Consolas" panose="020B0609020204030204" pitchFamily="49" charset="0"/>
              </a:rPr>
              <a:t>())</a:t>
            </a:r>
            <a:endParaRPr lang="en-US" altLang="en-US" sz="1400" dirty="0" smtClean="0"/>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endParaRPr lang="en-US" altLang="en-US" sz="1400" dirty="0" smtClean="0"/>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r>
              <a:rPr lang="en-US" altLang="en-US" sz="1400" dirty="0" smtClean="0">
                <a:solidFill>
                  <a:schemeClr val="accent3"/>
                </a:solidFill>
                <a:latin typeface="Consolas" panose="020B0609020204030204" pitchFamily="49" charset="0"/>
              </a:rPr>
              <a:t>// Store the first page in the queue to be used to find and</a:t>
            </a:r>
            <a:r>
              <a:rPr lang="en-US" altLang="en-US" sz="1400" dirty="0">
                <a:solidFill>
                  <a:schemeClr val="accent3"/>
                </a:solidFill>
              </a:rPr>
              <a:t> </a:t>
            </a:r>
            <a:r>
              <a:rPr lang="en-US" altLang="en-US" sz="1400" dirty="0" smtClean="0">
                <a:solidFill>
                  <a:schemeClr val="accent3"/>
                </a:solidFill>
                <a:latin typeface="Consolas" panose="020B0609020204030204" pitchFamily="49" charset="0"/>
              </a:rPr>
              <a:t>erase the page from the set</a:t>
            </a:r>
            <a:endParaRPr lang="en-US" altLang="en-US" sz="1400" dirty="0" smtClean="0">
              <a:solidFill>
                <a:schemeClr val="accent3"/>
              </a:solidFill>
            </a:endParaRPr>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r>
              <a:rPr lang="en-US" altLang="en-US" sz="1400" b="1" dirty="0" err="1" smtClean="0">
                <a:latin typeface="Consolas" panose="020B0609020204030204" pitchFamily="49" charset="0"/>
              </a:rPr>
              <a:t>int</a:t>
            </a:r>
            <a:r>
              <a:rPr lang="en-US" altLang="en-US" sz="1400" dirty="0" smtClean="0">
                <a:latin typeface="Consolas" panose="020B0609020204030204" pitchFamily="49" charset="0"/>
              </a:rPr>
              <a:t> </a:t>
            </a:r>
            <a:r>
              <a:rPr lang="en-US" altLang="en-US" sz="1400" dirty="0" err="1" smtClean="0">
                <a:latin typeface="Consolas" panose="020B0609020204030204" pitchFamily="49" charset="0"/>
              </a:rPr>
              <a:t>val</a:t>
            </a:r>
            <a:r>
              <a:rPr lang="en-US" altLang="en-US" sz="1400" dirty="0" smtClean="0">
                <a:latin typeface="Consolas" panose="020B0609020204030204" pitchFamily="49" charset="0"/>
              </a:rPr>
              <a:t> = </a:t>
            </a:r>
            <a:r>
              <a:rPr lang="en-US" altLang="en-US" sz="1400" dirty="0" err="1" smtClean="0">
                <a:latin typeface="Consolas" panose="020B0609020204030204" pitchFamily="49" charset="0"/>
              </a:rPr>
              <a:t>indexes.front</a:t>
            </a:r>
            <a:r>
              <a:rPr lang="en-US" altLang="en-US" sz="1400" dirty="0" smtClean="0">
                <a:latin typeface="Consolas" panose="020B0609020204030204" pitchFamily="49" charset="0"/>
              </a:rPr>
              <a:t>();</a:t>
            </a:r>
            <a:endParaRPr lang="en-US" altLang="en-US" sz="1400" dirty="0" smtClean="0"/>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endParaRPr kumimoji="0" lang="en-US" altLang="en-US" sz="2400" b="0" i="0" u="none" strike="noStrike" cap="none" normalizeH="0" baseline="0" dirty="0" smtClean="0">
              <a:ln>
                <a:noFill/>
              </a:ln>
              <a:effectLst/>
            </a:endParaRPr>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r>
              <a:rPr lang="en-US" altLang="en-US" sz="1400" dirty="0" smtClean="0">
                <a:solidFill>
                  <a:schemeClr val="accent3"/>
                </a:solidFill>
                <a:latin typeface="Consolas" panose="020B0609020204030204" pitchFamily="49" charset="0"/>
              </a:rPr>
              <a:t>// Pop the first page from the queue</a:t>
            </a:r>
            <a:endParaRPr lang="en-US" altLang="en-US" sz="1400" dirty="0" smtClean="0">
              <a:solidFill>
                <a:schemeClr val="accent3"/>
              </a:solidFill>
            </a:endParaRPr>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r>
              <a:rPr lang="en-US" altLang="en-US" sz="1400" dirty="0" err="1" smtClean="0">
                <a:latin typeface="Consolas" panose="020B0609020204030204" pitchFamily="49" charset="0"/>
              </a:rPr>
              <a:t>indexes.pop</a:t>
            </a:r>
            <a:r>
              <a:rPr lang="en-US" altLang="en-US" sz="1400" dirty="0" smtClean="0">
                <a:latin typeface="Consolas" panose="020B0609020204030204" pitchFamily="49" charset="0"/>
              </a:rPr>
              <a:t>();</a:t>
            </a:r>
            <a:endParaRPr lang="en-US" altLang="en-US" sz="1400" dirty="0" smtClean="0"/>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endParaRPr kumimoji="0" lang="en-US" altLang="en-US" sz="2400" b="0" i="0" u="none" strike="noStrike" cap="none" normalizeH="0" baseline="0" dirty="0" smtClean="0">
              <a:ln>
                <a:noFill/>
              </a:ln>
              <a:effectLst/>
            </a:endParaRPr>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r>
              <a:rPr lang="en-US" altLang="en-US" sz="1400" dirty="0" smtClean="0">
                <a:solidFill>
                  <a:schemeClr val="accent3"/>
                </a:solidFill>
                <a:latin typeface="Consolas" panose="020B0609020204030204" pitchFamily="49" charset="0"/>
              </a:rPr>
              <a:t>// Remove the indexes page from the set</a:t>
            </a:r>
            <a:endParaRPr lang="en-US" altLang="en-US" sz="1400" dirty="0" smtClean="0">
              <a:solidFill>
                <a:schemeClr val="accent3"/>
              </a:solidFill>
            </a:endParaRPr>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r>
              <a:rPr lang="en-US" altLang="en-US" sz="1400" dirty="0" err="1" smtClean="0">
                <a:latin typeface="Consolas" panose="020B0609020204030204" pitchFamily="49" charset="0"/>
              </a:rPr>
              <a:t>s.erase</a:t>
            </a:r>
            <a:r>
              <a:rPr lang="en-US" altLang="en-US" sz="1400" dirty="0" smtClean="0">
                <a:latin typeface="Consolas" panose="020B0609020204030204" pitchFamily="49" charset="0"/>
              </a:rPr>
              <a:t>(</a:t>
            </a:r>
            <a:r>
              <a:rPr lang="en-US" altLang="en-US" sz="1400" dirty="0" err="1" smtClean="0">
                <a:latin typeface="Consolas" panose="020B0609020204030204" pitchFamily="49" charset="0"/>
              </a:rPr>
              <a:t>val</a:t>
            </a:r>
            <a:r>
              <a:rPr lang="en-US" altLang="en-US" sz="1400" dirty="0" smtClean="0">
                <a:latin typeface="Consolas" panose="020B0609020204030204" pitchFamily="49" charset="0"/>
              </a:rPr>
              <a:t>);</a:t>
            </a:r>
            <a:endParaRPr lang="en-US" altLang="en-US" sz="1400" dirty="0" smtClean="0"/>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endParaRPr kumimoji="0" lang="en-US" altLang="en-US" sz="2400" b="0" i="0" u="none" strike="noStrike" cap="none" normalizeH="0" baseline="0" dirty="0" smtClean="0">
              <a:ln>
                <a:noFill/>
              </a:ln>
              <a:effectLst/>
            </a:endParaRPr>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r>
              <a:rPr lang="en-US" altLang="en-US" sz="1400" dirty="0" smtClean="0">
                <a:solidFill>
                  <a:schemeClr val="accent3"/>
                </a:solidFill>
                <a:latin typeface="Consolas" panose="020B0609020204030204" pitchFamily="49" charset="0"/>
              </a:rPr>
              <a:t>// insert the current page in the set</a:t>
            </a:r>
            <a:endParaRPr lang="en-US" altLang="en-US" sz="1400" dirty="0" smtClean="0">
              <a:solidFill>
                <a:schemeClr val="accent3"/>
              </a:solidFill>
            </a:endParaRPr>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r>
              <a:rPr lang="en-US" altLang="en-US" sz="1400" dirty="0" err="1" smtClean="0">
                <a:latin typeface="Consolas" panose="020B0609020204030204" pitchFamily="49" charset="0"/>
              </a:rPr>
              <a:t>s.insert</a:t>
            </a:r>
            <a:r>
              <a:rPr lang="en-US" altLang="en-US" sz="1400" dirty="0" smtClean="0">
                <a:latin typeface="Consolas" panose="020B0609020204030204" pitchFamily="49" charset="0"/>
              </a:rPr>
              <a:t>(pages[</a:t>
            </a:r>
            <a:r>
              <a:rPr lang="en-US" altLang="en-US" sz="1400" dirty="0" err="1" smtClean="0">
                <a:latin typeface="Consolas" panose="020B0609020204030204" pitchFamily="49" charset="0"/>
              </a:rPr>
              <a:t>i</a:t>
            </a:r>
            <a:r>
              <a:rPr lang="en-US" altLang="en-US" sz="1400" dirty="0" smtClean="0">
                <a:latin typeface="Consolas" panose="020B0609020204030204" pitchFamily="49" charset="0"/>
              </a:rPr>
              <a:t>]);</a:t>
            </a:r>
            <a:endParaRPr lang="en-US" altLang="en-US" sz="1400" dirty="0" smtClean="0"/>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endParaRPr kumimoji="0" lang="en-US" altLang="en-US" sz="2400" b="0" i="0" u="none" strike="noStrike" cap="none" normalizeH="0" baseline="0" dirty="0" smtClean="0">
              <a:ln>
                <a:noFill/>
              </a:ln>
              <a:effectLst/>
            </a:endParaRPr>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r>
              <a:rPr lang="en-US" altLang="en-US" sz="1400" dirty="0" smtClean="0">
                <a:solidFill>
                  <a:schemeClr val="accent3"/>
                </a:solidFill>
                <a:latin typeface="Consolas" panose="020B0609020204030204" pitchFamily="49" charset="0"/>
              </a:rPr>
              <a:t>// push the current page into</a:t>
            </a:r>
            <a:r>
              <a:rPr lang="en-US" altLang="en-US" sz="1400" dirty="0">
                <a:solidFill>
                  <a:schemeClr val="accent3"/>
                </a:solidFill>
              </a:rPr>
              <a:t> </a:t>
            </a:r>
            <a:r>
              <a:rPr lang="en-US" altLang="en-US" sz="1400" dirty="0" smtClean="0">
                <a:solidFill>
                  <a:schemeClr val="accent3"/>
                </a:solidFill>
                <a:latin typeface="Consolas" panose="020B0609020204030204" pitchFamily="49" charset="0"/>
              </a:rPr>
              <a:t>the queue</a:t>
            </a:r>
            <a:endParaRPr lang="en-US" altLang="en-US" sz="1400" dirty="0" smtClean="0">
              <a:solidFill>
                <a:schemeClr val="accent3"/>
              </a:solidFill>
            </a:endParaRPr>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r>
              <a:rPr lang="en-US" altLang="en-US" sz="1400" dirty="0" err="1" smtClean="0">
                <a:latin typeface="Consolas" panose="020B0609020204030204" pitchFamily="49" charset="0"/>
              </a:rPr>
              <a:t>indexes.push</a:t>
            </a:r>
            <a:r>
              <a:rPr lang="en-US" altLang="en-US" sz="1400" dirty="0" smtClean="0">
                <a:latin typeface="Consolas" panose="020B0609020204030204" pitchFamily="49" charset="0"/>
              </a:rPr>
              <a:t>(pages[</a:t>
            </a:r>
            <a:r>
              <a:rPr lang="en-US" altLang="en-US" sz="1400" dirty="0" err="1" smtClean="0">
                <a:latin typeface="Consolas" panose="020B0609020204030204" pitchFamily="49" charset="0"/>
              </a:rPr>
              <a:t>i</a:t>
            </a:r>
            <a:r>
              <a:rPr lang="en-US" altLang="en-US" sz="1400" dirty="0" smtClean="0">
                <a:latin typeface="Consolas" panose="020B0609020204030204" pitchFamily="49" charset="0"/>
              </a:rPr>
              <a:t>]);</a:t>
            </a:r>
            <a:endParaRPr lang="en-US" altLang="en-US" sz="1400" dirty="0" smtClean="0"/>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endParaRPr kumimoji="0" lang="en-US" altLang="en-US" sz="2400" b="0" i="0" u="none" strike="noStrike" cap="none" normalizeH="0" baseline="0" dirty="0" smtClean="0">
              <a:ln>
                <a:noFill/>
              </a:ln>
              <a:effectLst/>
            </a:endParaRPr>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r>
              <a:rPr lang="en-US" altLang="en-US" sz="1400" dirty="0" smtClean="0">
                <a:solidFill>
                  <a:schemeClr val="accent3"/>
                </a:solidFill>
                <a:latin typeface="Consolas" panose="020B0609020204030204" pitchFamily="49" charset="0"/>
              </a:rPr>
              <a:t>// Increment page faults</a:t>
            </a:r>
            <a:endParaRPr lang="en-US" altLang="en-US" sz="1400" dirty="0" smtClean="0">
              <a:solidFill>
                <a:schemeClr val="accent3"/>
              </a:solidFill>
            </a:endParaRPr>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r>
              <a:rPr lang="en-US" altLang="en-US" sz="1400" dirty="0" err="1" smtClean="0">
                <a:latin typeface="Consolas" panose="020B0609020204030204" pitchFamily="49" charset="0"/>
              </a:rPr>
              <a:t>page_faults</a:t>
            </a:r>
            <a:r>
              <a:rPr lang="en-US" altLang="en-US" sz="1400" dirty="0" smtClean="0">
                <a:latin typeface="Consolas" panose="020B0609020204030204" pitchFamily="49" charset="0"/>
              </a:rPr>
              <a:t>++;</a:t>
            </a:r>
            <a:endParaRPr lang="en-US" altLang="en-US" sz="1400" dirty="0" smtClean="0"/>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endParaRPr lang="en-US" altLang="en-US" sz="1400" dirty="0" smtClean="0"/>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endParaRPr lang="en-US" altLang="en-US" sz="1400" dirty="0" smtClean="0"/>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endParaRPr kumimoji="0" lang="en-US" altLang="en-US" sz="2400" b="0" i="0" u="none" strike="noStrike" cap="none" normalizeH="0" baseline="0" dirty="0" smtClean="0">
              <a:ln>
                <a:noFill/>
              </a:ln>
              <a:effectLst/>
            </a:endParaRPr>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r>
              <a:rPr lang="en-US" altLang="en-US" sz="1400" b="1" dirty="0" smtClean="0">
                <a:latin typeface="Consolas" panose="020B0609020204030204" pitchFamily="49" charset="0"/>
              </a:rPr>
              <a:t>return</a:t>
            </a:r>
            <a:r>
              <a:rPr lang="en-US" altLang="en-US" sz="1400" dirty="0" smtClean="0">
                <a:latin typeface="Consolas" panose="020B0609020204030204" pitchFamily="49" charset="0"/>
              </a:rPr>
              <a:t> </a:t>
            </a:r>
            <a:r>
              <a:rPr lang="en-US" altLang="en-US" sz="1400" dirty="0" err="1" smtClean="0">
                <a:latin typeface="Consolas" panose="020B0609020204030204" pitchFamily="49" charset="0"/>
              </a:rPr>
              <a:t>page_faults</a:t>
            </a:r>
            <a:r>
              <a:rPr lang="en-US" altLang="en-US" sz="1400" dirty="0" smtClean="0">
                <a:latin typeface="Consolas" panose="020B0609020204030204" pitchFamily="49" charset="0"/>
              </a:rPr>
              <a:t>;</a:t>
            </a:r>
            <a:endParaRPr lang="en-US" altLang="en-US" sz="1400" dirty="0" smtClean="0"/>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a:t>
            </a:r>
            <a:endParaRPr lang="en-US" altLang="en-US" sz="1400" dirty="0" smtClean="0"/>
          </a:p>
          <a:p>
            <a:pPr marL="0" lvl="0" indent="0" eaLnBrk="0" fontAlgn="base" hangingPunct="0">
              <a:lnSpc>
                <a:spcPct val="100000"/>
              </a:lnSpc>
              <a:spcBef>
                <a:spcPct val="0"/>
              </a:spcBef>
              <a:spcAft>
                <a:spcPct val="0"/>
              </a:spcAft>
              <a:buNone/>
            </a:pPr>
            <a:r>
              <a:rPr lang="en-US" altLang="en-US" sz="1400" dirty="0" smtClean="0">
                <a:latin typeface="Consolas" panose="020B0609020204030204" pitchFamily="49" charset="0"/>
              </a:rPr>
              <a:t>  </a:t>
            </a:r>
            <a:endParaRPr kumimoji="0" lang="en-US" altLang="en-US" sz="2400" b="0" i="0" u="none" strike="noStrike" cap="none" normalizeH="0" baseline="0" dirty="0" smtClean="0">
              <a:ln>
                <a:noFill/>
              </a:ln>
              <a:effectLst/>
            </a:endParaRPr>
          </a:p>
        </p:txBody>
      </p:sp>
    </p:spTree>
    <p:extLst>
      <p:ext uri="{BB962C8B-B14F-4D97-AF65-F5344CB8AC3E}">
        <p14:creationId xmlns:p14="http://schemas.microsoft.com/office/powerpoint/2010/main" val="3491815846"/>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59823" y="0"/>
            <a:ext cx="10515600" cy="3735977"/>
          </a:xfrm>
        </p:spPr>
        <p:txBody>
          <a:bodyPr>
            <a:noAutofit/>
          </a:bodyPr>
          <a:lstStyle/>
          <a:p>
            <a:pPr marL="0" lvl="0" indent="0" eaLnBrk="0" fontAlgn="base" hangingPunct="0">
              <a:lnSpc>
                <a:spcPct val="100000"/>
              </a:lnSpc>
              <a:spcBef>
                <a:spcPct val="0"/>
              </a:spcBef>
              <a:spcAft>
                <a:spcPct val="0"/>
              </a:spcAft>
              <a:buNone/>
            </a:pPr>
            <a:r>
              <a:rPr lang="en-US" altLang="en-US" sz="1600" b="1" dirty="0" err="1" smtClean="0">
                <a:latin typeface="Consolas" panose="020B0609020204030204" pitchFamily="49" charset="0"/>
              </a:rPr>
              <a:t>int</a:t>
            </a:r>
            <a:r>
              <a:rPr lang="en-US" altLang="en-US" sz="1600" dirty="0" smtClean="0">
                <a:latin typeface="Consolas" panose="020B0609020204030204" pitchFamily="49" charset="0"/>
              </a:rPr>
              <a:t> main()</a:t>
            </a:r>
            <a:endParaRPr lang="en-US" altLang="en-US" sz="1600" dirty="0" smtClean="0"/>
          </a:p>
          <a:p>
            <a:pPr marL="0" lvl="0" indent="0" eaLnBrk="0" fontAlgn="base" hangingPunct="0">
              <a:lnSpc>
                <a:spcPct val="100000"/>
              </a:lnSpc>
              <a:spcBef>
                <a:spcPct val="0"/>
              </a:spcBef>
              <a:spcAft>
                <a:spcPct val="0"/>
              </a:spcAft>
              <a:buNone/>
            </a:pPr>
            <a:r>
              <a:rPr lang="en-US" altLang="en-US" sz="1600" dirty="0" smtClean="0">
                <a:latin typeface="Consolas" panose="020B0609020204030204" pitchFamily="49" charset="0"/>
              </a:rPr>
              <a:t>{</a:t>
            </a:r>
            <a:endParaRPr lang="en-US" altLang="en-US" sz="1600" dirty="0" smtClean="0"/>
          </a:p>
          <a:p>
            <a:pPr marL="0" lvl="0" indent="0" eaLnBrk="0" fontAlgn="base" hangingPunct="0">
              <a:lnSpc>
                <a:spcPct val="100000"/>
              </a:lnSpc>
              <a:spcBef>
                <a:spcPct val="0"/>
              </a:spcBef>
              <a:spcAft>
                <a:spcPct val="0"/>
              </a:spcAft>
              <a:buNone/>
            </a:pPr>
            <a:r>
              <a:rPr lang="en-US" altLang="en-US" sz="1600" dirty="0" smtClean="0">
                <a:latin typeface="Consolas" panose="020B0609020204030204" pitchFamily="49" charset="0"/>
              </a:rPr>
              <a:t>    </a:t>
            </a:r>
            <a:r>
              <a:rPr lang="fr-FR" altLang="en-US" sz="1600" dirty="0" err="1" smtClean="0">
                <a:latin typeface="Consolas" panose="020B0609020204030204" pitchFamily="49" charset="0"/>
              </a:rPr>
              <a:t>int</a:t>
            </a:r>
            <a:r>
              <a:rPr lang="fr-FR" altLang="en-US" sz="1600" dirty="0" smtClean="0">
                <a:latin typeface="Consolas" panose="020B0609020204030204" pitchFamily="49" charset="0"/>
              </a:rPr>
              <a:t> pages[] = {7, 0, 1, 2, 0, 3, 0, 4,</a:t>
            </a:r>
          </a:p>
          <a:p>
            <a:pPr marL="0" lvl="0" indent="0" eaLnBrk="0" fontAlgn="base" hangingPunct="0">
              <a:lnSpc>
                <a:spcPct val="100000"/>
              </a:lnSpc>
              <a:spcBef>
                <a:spcPct val="0"/>
              </a:spcBef>
              <a:spcAft>
                <a:spcPct val="0"/>
              </a:spcAft>
              <a:buNone/>
            </a:pPr>
            <a:r>
              <a:rPr lang="fr-FR" altLang="en-US" sz="1600" dirty="0" smtClean="0">
                <a:latin typeface="Consolas" panose="020B0609020204030204" pitchFamily="49" charset="0"/>
              </a:rPr>
              <a:t>                   2, 3, 0, 3, 2};</a:t>
            </a:r>
          </a:p>
          <a:p>
            <a:pPr marL="0" lvl="0" indent="0" eaLnBrk="0" fontAlgn="base" hangingPunct="0">
              <a:lnSpc>
                <a:spcPct val="100000"/>
              </a:lnSpc>
              <a:spcBef>
                <a:spcPct val="0"/>
              </a:spcBef>
              <a:spcAft>
                <a:spcPct val="0"/>
              </a:spcAft>
              <a:buNone/>
            </a:pPr>
            <a:r>
              <a:rPr lang="fr-FR" altLang="en-US" sz="1600" dirty="0" smtClean="0">
                <a:latin typeface="Consolas" panose="020B0609020204030204" pitchFamily="49" charset="0"/>
              </a:rPr>
              <a:t>    </a:t>
            </a:r>
            <a:r>
              <a:rPr lang="fr-FR" altLang="en-US" sz="1600" dirty="0" err="1" smtClean="0">
                <a:latin typeface="Consolas" panose="020B0609020204030204" pitchFamily="49" charset="0"/>
              </a:rPr>
              <a:t>int</a:t>
            </a:r>
            <a:r>
              <a:rPr lang="fr-FR" altLang="en-US" sz="1600" dirty="0" smtClean="0">
                <a:latin typeface="Consolas" panose="020B0609020204030204" pitchFamily="49" charset="0"/>
              </a:rPr>
              <a:t> n = </a:t>
            </a:r>
            <a:r>
              <a:rPr lang="fr-FR" altLang="en-US" sz="1600" dirty="0" err="1" smtClean="0">
                <a:latin typeface="Consolas" panose="020B0609020204030204" pitchFamily="49" charset="0"/>
              </a:rPr>
              <a:t>sizeof</a:t>
            </a:r>
            <a:r>
              <a:rPr lang="fr-FR" altLang="en-US" sz="1600" dirty="0" smtClean="0">
                <a:latin typeface="Consolas" panose="020B0609020204030204" pitchFamily="49" charset="0"/>
              </a:rPr>
              <a:t>(pages)/</a:t>
            </a:r>
            <a:r>
              <a:rPr lang="fr-FR" altLang="en-US" sz="1600" dirty="0" err="1" smtClean="0">
                <a:latin typeface="Consolas" panose="020B0609020204030204" pitchFamily="49" charset="0"/>
              </a:rPr>
              <a:t>sizeof</a:t>
            </a:r>
            <a:r>
              <a:rPr lang="fr-FR" altLang="en-US" sz="1600" dirty="0" smtClean="0">
                <a:latin typeface="Consolas" panose="020B0609020204030204" pitchFamily="49" charset="0"/>
              </a:rPr>
              <a:t>(pages[0]);</a:t>
            </a:r>
          </a:p>
          <a:p>
            <a:pPr marL="0" lvl="0" indent="0" eaLnBrk="0" fontAlgn="base" hangingPunct="0">
              <a:lnSpc>
                <a:spcPct val="100000"/>
              </a:lnSpc>
              <a:spcBef>
                <a:spcPct val="0"/>
              </a:spcBef>
              <a:spcAft>
                <a:spcPct val="0"/>
              </a:spcAft>
              <a:buNone/>
            </a:pPr>
            <a:r>
              <a:rPr lang="fr-FR" altLang="en-US" sz="1600" dirty="0" smtClean="0">
                <a:latin typeface="Consolas" panose="020B0609020204030204" pitchFamily="49" charset="0"/>
              </a:rPr>
              <a:t>    </a:t>
            </a:r>
            <a:r>
              <a:rPr lang="fr-FR" altLang="en-US" sz="1600" dirty="0" err="1" smtClean="0">
                <a:latin typeface="Consolas" panose="020B0609020204030204" pitchFamily="49" charset="0"/>
              </a:rPr>
              <a:t>int</a:t>
            </a:r>
            <a:r>
              <a:rPr lang="fr-FR" altLang="en-US" sz="1600" dirty="0" smtClean="0">
                <a:latin typeface="Consolas" panose="020B0609020204030204" pitchFamily="49" charset="0"/>
              </a:rPr>
              <a:t> </a:t>
            </a:r>
            <a:r>
              <a:rPr lang="fr-FR" altLang="en-US" sz="1600" dirty="0" err="1" smtClean="0">
                <a:latin typeface="Consolas" panose="020B0609020204030204" pitchFamily="49" charset="0"/>
              </a:rPr>
              <a:t>capacity</a:t>
            </a:r>
            <a:r>
              <a:rPr lang="fr-FR" altLang="en-US" sz="1600" dirty="0" smtClean="0">
                <a:latin typeface="Consolas" panose="020B0609020204030204" pitchFamily="49" charset="0"/>
              </a:rPr>
              <a:t> = 4;</a:t>
            </a:r>
          </a:p>
          <a:p>
            <a:pPr marL="0" lvl="0" indent="0" eaLnBrk="0" fontAlgn="base" hangingPunct="0">
              <a:lnSpc>
                <a:spcPct val="100000"/>
              </a:lnSpc>
              <a:spcBef>
                <a:spcPct val="0"/>
              </a:spcBef>
              <a:spcAft>
                <a:spcPct val="0"/>
              </a:spcAft>
              <a:buNone/>
            </a:pPr>
            <a:r>
              <a:rPr lang="fr-FR" altLang="en-US" sz="1600" dirty="0">
                <a:latin typeface="Consolas" panose="020B0609020204030204" pitchFamily="49" charset="0"/>
              </a:rPr>
              <a:t>    </a:t>
            </a:r>
            <a:r>
              <a:rPr lang="fr-FR" altLang="en-US" sz="1600" dirty="0" err="1">
                <a:latin typeface="Consolas" panose="020B0609020204030204" pitchFamily="49" charset="0"/>
              </a:rPr>
              <a:t>float</a:t>
            </a:r>
            <a:r>
              <a:rPr lang="fr-FR" altLang="en-US" sz="1600" dirty="0">
                <a:latin typeface="Consolas" panose="020B0609020204030204" pitchFamily="49" charset="0"/>
              </a:rPr>
              <a:t> </a:t>
            </a:r>
            <a:r>
              <a:rPr lang="fr-FR" altLang="en-US" sz="1600" dirty="0" err="1">
                <a:latin typeface="Consolas" panose="020B0609020204030204" pitchFamily="49" charset="0"/>
              </a:rPr>
              <a:t>miss_per</a:t>
            </a:r>
            <a:r>
              <a:rPr lang="fr-FR" altLang="en-US" sz="1600" dirty="0">
                <a:latin typeface="Consolas" panose="020B0609020204030204" pitchFamily="49" charset="0"/>
              </a:rPr>
              <a:t>, </a:t>
            </a:r>
            <a:r>
              <a:rPr lang="fr-FR" altLang="en-US" sz="1600" dirty="0" err="1">
                <a:latin typeface="Consolas" panose="020B0609020204030204" pitchFamily="49" charset="0"/>
              </a:rPr>
              <a:t>hit_per</a:t>
            </a:r>
            <a:r>
              <a:rPr lang="fr-FR" altLang="en-US" sz="1600" dirty="0">
                <a:latin typeface="Consolas" panose="020B0609020204030204" pitchFamily="49" charset="0"/>
              </a:rPr>
              <a:t>;</a:t>
            </a:r>
            <a:endParaRPr lang="fr-FR" altLang="en-US" sz="1600" dirty="0" smtClean="0">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1600" dirty="0" smtClean="0">
                <a:latin typeface="Consolas" panose="020B0609020204030204" pitchFamily="49" charset="0"/>
              </a:rPr>
              <a:t>    </a:t>
            </a:r>
            <a:r>
              <a:rPr lang="en-US" altLang="en-US" sz="1600" dirty="0" err="1" smtClean="0">
                <a:latin typeface="Consolas" panose="020B0609020204030204" pitchFamily="49" charset="0"/>
              </a:rPr>
              <a:t>cout</a:t>
            </a:r>
            <a:r>
              <a:rPr lang="en-US" altLang="en-US" sz="1600" dirty="0" smtClean="0">
                <a:latin typeface="Consolas" panose="020B0609020204030204" pitchFamily="49" charset="0"/>
              </a:rPr>
              <a:t> &lt;&lt; </a:t>
            </a:r>
            <a:r>
              <a:rPr lang="en-US" altLang="en-US" sz="1600" dirty="0" err="1" smtClean="0">
                <a:latin typeface="Consolas" panose="020B0609020204030204" pitchFamily="49" charset="0"/>
              </a:rPr>
              <a:t>pageFaults</a:t>
            </a:r>
            <a:r>
              <a:rPr lang="en-US" altLang="en-US" sz="1600" dirty="0" smtClean="0">
                <a:latin typeface="Consolas" panose="020B0609020204030204" pitchFamily="49" charset="0"/>
              </a:rPr>
              <a:t>(pages, n, capacity);</a:t>
            </a:r>
          </a:p>
          <a:p>
            <a:pPr marL="0" lvl="0" indent="0" eaLnBrk="0" fontAlgn="base" hangingPunct="0">
              <a:lnSpc>
                <a:spcPct val="100000"/>
              </a:lnSpc>
              <a:spcBef>
                <a:spcPct val="0"/>
              </a:spcBef>
              <a:spcAft>
                <a:spcPct val="0"/>
              </a:spcAft>
              <a:buNone/>
            </a:pPr>
            <a:r>
              <a:rPr lang="en-US" altLang="en-US" sz="1600" dirty="0" smtClean="0"/>
              <a:t>          </a:t>
            </a:r>
            <a:r>
              <a:rPr lang="en-US" altLang="en-US" sz="1600" dirty="0" err="1" smtClean="0">
                <a:latin typeface="Consolas" panose="020B0609020204030204" pitchFamily="49" charset="0"/>
              </a:rPr>
              <a:t>miss_per</a:t>
            </a:r>
            <a:r>
              <a:rPr lang="en-US" altLang="en-US" sz="1600" dirty="0" smtClean="0">
                <a:latin typeface="Consolas" panose="020B0609020204030204" pitchFamily="49" charset="0"/>
              </a:rPr>
              <a:t> </a:t>
            </a:r>
            <a:r>
              <a:rPr lang="en-US" altLang="en-US" sz="1600" dirty="0">
                <a:latin typeface="Consolas" panose="020B0609020204030204" pitchFamily="49" charset="0"/>
              </a:rPr>
              <a:t>= ((</a:t>
            </a:r>
            <a:r>
              <a:rPr lang="en-US" altLang="en-US" sz="1600" dirty="0" err="1">
                <a:latin typeface="Consolas" panose="020B0609020204030204" pitchFamily="49" charset="0"/>
              </a:rPr>
              <a:t>pageFaults</a:t>
            </a:r>
            <a:r>
              <a:rPr lang="en-US" altLang="en-US" sz="1600" dirty="0">
                <a:latin typeface="Consolas" panose="020B0609020204030204" pitchFamily="49" charset="0"/>
              </a:rPr>
              <a:t>(pages, n, capacity)*1.0)/n)*100;</a:t>
            </a:r>
          </a:p>
          <a:p>
            <a:pPr marL="0" lvl="0" indent="0" eaLnBrk="0" fontAlgn="base" hangingPunct="0">
              <a:lnSpc>
                <a:spcPct val="100000"/>
              </a:lnSpc>
              <a:spcBef>
                <a:spcPct val="0"/>
              </a:spcBef>
              <a:spcAft>
                <a:spcPct val="0"/>
              </a:spcAft>
              <a:buNone/>
            </a:pPr>
            <a:r>
              <a:rPr lang="en-US" altLang="en-US" sz="1600" dirty="0">
                <a:latin typeface="Consolas" panose="020B0609020204030204" pitchFamily="49" charset="0"/>
              </a:rPr>
              <a:t>    </a:t>
            </a:r>
            <a:r>
              <a:rPr lang="en-US" altLang="en-US" sz="1600" dirty="0" err="1" smtClean="0">
                <a:latin typeface="Consolas" panose="020B0609020204030204" pitchFamily="49" charset="0"/>
              </a:rPr>
              <a:t>hit_per</a:t>
            </a:r>
            <a:r>
              <a:rPr lang="en-US" altLang="en-US" sz="1600" dirty="0" smtClean="0">
                <a:latin typeface="Consolas" panose="020B0609020204030204" pitchFamily="49" charset="0"/>
              </a:rPr>
              <a:t> </a:t>
            </a:r>
            <a:r>
              <a:rPr lang="en-US" altLang="en-US" sz="1600" dirty="0">
                <a:latin typeface="Consolas" panose="020B0609020204030204" pitchFamily="49" charset="0"/>
              </a:rPr>
              <a:t>= 100 - </a:t>
            </a:r>
            <a:r>
              <a:rPr lang="en-US" altLang="en-US" sz="1600" dirty="0" err="1">
                <a:latin typeface="Consolas" panose="020B0609020204030204" pitchFamily="49" charset="0"/>
              </a:rPr>
              <a:t>miss_per</a:t>
            </a:r>
            <a:r>
              <a:rPr lang="en-US" altLang="en-US" sz="1600" dirty="0">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1600" dirty="0">
                <a:latin typeface="Consolas" panose="020B0609020204030204" pitchFamily="49" charset="0"/>
              </a:rPr>
              <a:t>    </a:t>
            </a:r>
            <a:r>
              <a:rPr lang="en-US" altLang="en-US" sz="1600" dirty="0" err="1" smtClean="0">
                <a:latin typeface="Consolas" panose="020B0609020204030204" pitchFamily="49" charset="0"/>
              </a:rPr>
              <a:t>cout</a:t>
            </a:r>
            <a:r>
              <a:rPr lang="en-US" altLang="en-US" sz="1600" dirty="0">
                <a:latin typeface="Consolas" panose="020B0609020204030204" pitchFamily="49" charset="0"/>
              </a:rPr>
              <a:t>&lt;&lt;"\</a:t>
            </a:r>
            <a:r>
              <a:rPr lang="en-US" altLang="en-US" sz="1600" dirty="0" err="1">
                <a:latin typeface="Consolas" panose="020B0609020204030204" pitchFamily="49" charset="0"/>
              </a:rPr>
              <a:t>nMiss</a:t>
            </a:r>
            <a:r>
              <a:rPr lang="en-US" altLang="en-US" sz="1600" dirty="0">
                <a:latin typeface="Consolas" panose="020B0609020204030204" pitchFamily="49" charset="0"/>
              </a:rPr>
              <a:t> ratio = "&lt;&lt;</a:t>
            </a:r>
            <a:r>
              <a:rPr lang="en-US" altLang="en-US" sz="1600" dirty="0" err="1">
                <a:latin typeface="Consolas" panose="020B0609020204030204" pitchFamily="49" charset="0"/>
              </a:rPr>
              <a:t>miss_per</a:t>
            </a:r>
            <a:r>
              <a:rPr lang="en-US" altLang="en-US" sz="1600" dirty="0">
                <a:latin typeface="Consolas" panose="020B0609020204030204" pitchFamily="49" charset="0"/>
              </a:rPr>
              <a:t>&lt;&lt;"%";</a:t>
            </a:r>
          </a:p>
          <a:p>
            <a:pPr marL="0" lvl="0" indent="0" eaLnBrk="0" fontAlgn="base" hangingPunct="0">
              <a:lnSpc>
                <a:spcPct val="100000"/>
              </a:lnSpc>
              <a:spcBef>
                <a:spcPct val="0"/>
              </a:spcBef>
              <a:spcAft>
                <a:spcPct val="0"/>
              </a:spcAft>
              <a:buNone/>
            </a:pPr>
            <a:r>
              <a:rPr lang="en-US" altLang="en-US" sz="1600" dirty="0">
                <a:latin typeface="Consolas" panose="020B0609020204030204" pitchFamily="49" charset="0"/>
              </a:rPr>
              <a:t>    </a:t>
            </a:r>
            <a:r>
              <a:rPr lang="en-US" altLang="en-US" sz="1600" dirty="0" err="1" smtClean="0">
                <a:latin typeface="Consolas" panose="020B0609020204030204" pitchFamily="49" charset="0"/>
              </a:rPr>
              <a:t>cout</a:t>
            </a:r>
            <a:r>
              <a:rPr lang="en-US" altLang="en-US" sz="1600" dirty="0">
                <a:latin typeface="Consolas" panose="020B0609020204030204" pitchFamily="49" charset="0"/>
              </a:rPr>
              <a:t>&lt;&lt;"\</a:t>
            </a:r>
            <a:r>
              <a:rPr lang="en-US" altLang="en-US" sz="1600" dirty="0" err="1">
                <a:latin typeface="Consolas" panose="020B0609020204030204" pitchFamily="49" charset="0"/>
              </a:rPr>
              <a:t>nHit</a:t>
            </a:r>
            <a:r>
              <a:rPr lang="en-US" altLang="en-US" sz="1600" dirty="0">
                <a:latin typeface="Consolas" panose="020B0609020204030204" pitchFamily="49" charset="0"/>
              </a:rPr>
              <a:t> ratio = "&lt;&lt;</a:t>
            </a:r>
            <a:r>
              <a:rPr lang="en-US" altLang="en-US" sz="1600" dirty="0" err="1">
                <a:latin typeface="Consolas" panose="020B0609020204030204" pitchFamily="49" charset="0"/>
              </a:rPr>
              <a:t>hit_per</a:t>
            </a:r>
            <a:r>
              <a:rPr lang="en-US" altLang="en-US" sz="1600" dirty="0">
                <a:latin typeface="Consolas" panose="020B0609020204030204" pitchFamily="49" charset="0"/>
              </a:rPr>
              <a:t>&lt;&lt;"%";</a:t>
            </a:r>
          </a:p>
          <a:p>
            <a:pPr marL="0" lvl="0" indent="0" eaLnBrk="0" fontAlgn="base" hangingPunct="0">
              <a:lnSpc>
                <a:spcPct val="100000"/>
              </a:lnSpc>
              <a:spcBef>
                <a:spcPct val="0"/>
              </a:spcBef>
              <a:spcAft>
                <a:spcPct val="0"/>
              </a:spcAft>
              <a:buNone/>
            </a:pPr>
            <a:r>
              <a:rPr lang="en-US" altLang="en-US" sz="1600" dirty="0" smtClean="0">
                <a:latin typeface="Consolas" panose="020B0609020204030204" pitchFamily="49" charset="0"/>
              </a:rPr>
              <a:t>    </a:t>
            </a:r>
            <a:r>
              <a:rPr lang="en-US" altLang="en-US" sz="1600" b="1" dirty="0" smtClean="0">
                <a:latin typeface="Consolas" panose="020B0609020204030204" pitchFamily="49" charset="0"/>
              </a:rPr>
              <a:t>return</a:t>
            </a:r>
            <a:r>
              <a:rPr lang="en-US" altLang="en-US" sz="1600" dirty="0" smtClean="0">
                <a:latin typeface="Consolas" panose="020B0609020204030204" pitchFamily="49" charset="0"/>
              </a:rPr>
              <a:t> 0;</a:t>
            </a:r>
            <a:endParaRPr lang="en-US" altLang="en-US" sz="1600" dirty="0" smtClean="0"/>
          </a:p>
          <a:p>
            <a:pPr marL="0" lvl="0" indent="0" eaLnBrk="0" fontAlgn="base" hangingPunct="0">
              <a:lnSpc>
                <a:spcPct val="100000"/>
              </a:lnSpc>
              <a:spcBef>
                <a:spcPct val="0"/>
              </a:spcBef>
              <a:spcAft>
                <a:spcPct val="0"/>
              </a:spcAft>
              <a:buNone/>
            </a:pPr>
            <a:r>
              <a:rPr lang="en-US" altLang="en-US" sz="1600" dirty="0" smtClean="0">
                <a:latin typeface="Consolas" panose="020B0609020204030204" pitchFamily="49" charset="0"/>
              </a:rPr>
              <a:t>}</a:t>
            </a:r>
            <a:endParaRPr kumimoji="0" lang="en-US" altLang="en-US" b="0" i="0" u="none" strike="noStrike" cap="none" normalizeH="0" baseline="0" dirty="0" smtClean="0">
              <a:ln>
                <a:noFill/>
              </a:ln>
              <a:effectLst/>
              <a:latin typeface="Arial" panose="020B0604020202020204" pitchFamily="34" charset="0"/>
            </a:endParaRPr>
          </a:p>
          <a:p>
            <a:pPr marL="0" indent="0">
              <a:buNone/>
            </a:pPr>
            <a:endParaRPr lang="en-US" sz="1800" dirty="0" smtClean="0"/>
          </a:p>
          <a:p>
            <a:pPr marL="0" indent="0">
              <a:buNone/>
            </a:pPr>
            <a:endParaRPr lang="en-US" sz="1800" dirty="0"/>
          </a:p>
        </p:txBody>
      </p:sp>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l="24935" t="15447" r="28831" b="48056"/>
          <a:stretch/>
        </p:blipFill>
        <p:spPr>
          <a:xfrm>
            <a:off x="3295093" y="3735977"/>
            <a:ext cx="5445060" cy="2416628"/>
          </a:xfrm>
          <a:prstGeom prst="rect">
            <a:avLst/>
          </a:prstGeom>
        </p:spPr>
      </p:pic>
    </p:spTree>
    <p:extLst>
      <p:ext uri="{BB962C8B-B14F-4D97-AF65-F5344CB8AC3E}">
        <p14:creationId xmlns:p14="http://schemas.microsoft.com/office/powerpoint/2010/main" val="4291299897"/>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20635" y="663030"/>
            <a:ext cx="10515600" cy="4653553"/>
          </a:xfrm>
        </p:spPr>
        <p:txBody>
          <a:bodyPr>
            <a:normAutofit fontScale="77500" lnSpcReduction="20000"/>
          </a:bodyPr>
          <a:lstStyle/>
          <a:p>
            <a:r>
              <a:rPr lang="en-US" b="1" dirty="0"/>
              <a:t>Advantages:</a:t>
            </a:r>
          </a:p>
          <a:p>
            <a:pPr marL="342900" indent="-342900"/>
            <a:r>
              <a:rPr lang="en-US" dirty="0"/>
              <a:t>It is easy to understand and implement. </a:t>
            </a:r>
          </a:p>
          <a:p>
            <a:pPr marL="342900" indent="-342900"/>
            <a:r>
              <a:rPr lang="en-US" dirty="0"/>
              <a:t>The number of operations is limited in a queue makes the implementation simple.</a:t>
            </a:r>
          </a:p>
          <a:p>
            <a:pPr>
              <a:lnSpc>
                <a:spcPct val="150000"/>
              </a:lnSpc>
            </a:pPr>
            <a:r>
              <a:rPr lang="en-US" b="1" dirty="0"/>
              <a:t>Disadvantages:</a:t>
            </a:r>
          </a:p>
          <a:p>
            <a:pPr marL="342900" indent="-342900"/>
            <a:r>
              <a:rPr lang="en-US" dirty="0" smtClean="0"/>
              <a:t>It </a:t>
            </a:r>
            <a:r>
              <a:rPr lang="en-US" dirty="0"/>
              <a:t>does not consider the priority or burst time of the processes.</a:t>
            </a:r>
          </a:p>
          <a:p>
            <a:pPr marL="342900" indent="-342900"/>
            <a:r>
              <a:rPr lang="en-US" dirty="0"/>
              <a:t>When the number of incoming pages is large, it might not provide excellent performance.</a:t>
            </a:r>
          </a:p>
          <a:p>
            <a:pPr marL="342900" indent="-342900"/>
            <a:r>
              <a:rPr lang="en-US" dirty="0"/>
              <a:t>When we increase the number of frames or capacity to store pages in the queue, it should give us less number of page faults. </a:t>
            </a:r>
          </a:p>
          <a:p>
            <a:pPr marL="342900" indent="-342900"/>
            <a:r>
              <a:rPr lang="en-US" dirty="0"/>
              <a:t>Sometimes FIFO may behave abnormally, and it may increase the number of page faults. This behavior of FIFO is called </a:t>
            </a:r>
            <a:r>
              <a:rPr lang="en-US" dirty="0" err="1"/>
              <a:t>Belady’s</a:t>
            </a:r>
            <a:r>
              <a:rPr lang="en-US" dirty="0"/>
              <a:t> anomaly.</a:t>
            </a:r>
          </a:p>
          <a:p>
            <a:pPr marL="342900" indent="-342900"/>
            <a:r>
              <a:rPr lang="en-US" dirty="0"/>
              <a:t>In FIFO, the system should keep track of all the frames. Sometimes it results in slow process execution.</a:t>
            </a:r>
          </a:p>
          <a:p>
            <a:pPr marL="0" indent="0">
              <a:buNone/>
            </a:pPr>
            <a:endParaRPr lang="en-US" dirty="0"/>
          </a:p>
        </p:txBody>
      </p:sp>
    </p:spTree>
    <p:extLst>
      <p:ext uri="{BB962C8B-B14F-4D97-AF65-F5344CB8AC3E}">
        <p14:creationId xmlns:p14="http://schemas.microsoft.com/office/powerpoint/2010/main" val="18824158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0308" y="621324"/>
            <a:ext cx="11195538" cy="996462"/>
          </a:xfrm>
        </p:spPr>
        <p:txBody>
          <a:bodyPr>
            <a:normAutofit/>
          </a:bodyPr>
          <a:lstStyle/>
          <a:p>
            <a:r>
              <a:rPr lang="en-US" sz="3600" b="1" dirty="0" smtClean="0">
                <a:latin typeface="Times New Roman" pitchFamily="18" charset="0"/>
                <a:cs typeface="Times New Roman" pitchFamily="18" charset="0"/>
              </a:rPr>
              <a:t>Round -robin CPU Scheduling Algorithm</a:t>
            </a:r>
            <a:endParaRPr lang="en-US" sz="3600" b="1" dirty="0">
              <a:latin typeface="Times New Roman" pitchFamily="18" charset="0"/>
              <a:cs typeface="Times New Roman" pitchFamily="18" charset="0"/>
            </a:endParaRPr>
          </a:p>
        </p:txBody>
      </p:sp>
      <p:sp>
        <p:nvSpPr>
          <p:cNvPr id="4" name="Content Placeholder 3"/>
          <p:cNvSpPr>
            <a:spLocks noGrp="1"/>
          </p:cNvSpPr>
          <p:nvPr>
            <p:ph idx="1"/>
          </p:nvPr>
        </p:nvSpPr>
        <p:spPr>
          <a:xfrm>
            <a:off x="363415" y="1688124"/>
            <a:ext cx="11195539" cy="4488840"/>
          </a:xfrm>
        </p:spPr>
        <p:txBody>
          <a:bodyPr>
            <a:normAutofit lnSpcReduction="10000"/>
          </a:bodyPr>
          <a:lstStyle/>
          <a:p>
            <a:pPr marL="0" indent="0">
              <a:buNone/>
            </a:pPr>
            <a:endParaRPr lang="en-US" u="sng" dirty="0" smtClean="0"/>
          </a:p>
          <a:p>
            <a:pPr marL="0" indent="0" fontAlgn="base">
              <a:buNone/>
            </a:pPr>
            <a:r>
              <a:rPr lang="en-US" dirty="0" smtClean="0"/>
              <a:t>Round </a:t>
            </a:r>
            <a:r>
              <a:rPr lang="en-US" dirty="0"/>
              <a:t>Robin is a </a:t>
            </a:r>
            <a:r>
              <a:rPr lang="en-US" u="sng" dirty="0" smtClean="0"/>
              <a:t>CPU scheduling algorithm</a:t>
            </a:r>
            <a:r>
              <a:rPr lang="en-US" dirty="0"/>
              <a:t> where each process is assigned a fixed time slot in a cyclic way.</a:t>
            </a:r>
            <a:br>
              <a:rPr lang="en-US" dirty="0"/>
            </a:br>
            <a:r>
              <a:rPr lang="en-US" dirty="0"/>
              <a:t> </a:t>
            </a:r>
          </a:p>
          <a:p>
            <a:pPr fontAlgn="base"/>
            <a:r>
              <a:rPr lang="en-US" dirty="0"/>
              <a:t>It is simple, easy to implement, and starvation-free as all processes get fair share of CPU.</a:t>
            </a:r>
          </a:p>
          <a:p>
            <a:pPr fontAlgn="base"/>
            <a:r>
              <a:rPr lang="en-US" dirty="0"/>
              <a:t>One of the most commonly used technique in CPU scheduling as a core.</a:t>
            </a:r>
          </a:p>
          <a:p>
            <a:pPr fontAlgn="base"/>
            <a:r>
              <a:rPr lang="en-US" dirty="0"/>
              <a:t>It is preemptive as processes are assigned CPU only for a fixed slice of time at most.</a:t>
            </a:r>
          </a:p>
          <a:p>
            <a:pPr fontAlgn="base"/>
            <a:r>
              <a:rPr lang="en-US" dirty="0"/>
              <a:t>The disadvantage of it is more overhead of context switching.</a:t>
            </a:r>
          </a:p>
          <a:p>
            <a:pPr marL="0" indent="0">
              <a:buNone/>
            </a:pPr>
            <a:endParaRPr lang="en-US" dirty="0"/>
          </a:p>
        </p:txBody>
      </p:sp>
    </p:spTree>
    <p:extLst>
      <p:ext uri="{BB962C8B-B14F-4D97-AF65-F5344CB8AC3E}">
        <p14:creationId xmlns:p14="http://schemas.microsoft.com/office/powerpoint/2010/main" val="376056771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784406"/>
          </a:xfrm>
        </p:spPr>
        <p:txBody>
          <a:bodyPr/>
          <a:lstStyle/>
          <a:p>
            <a:r>
              <a:rPr lang="en-US" b="1" dirty="0" smtClean="0">
                <a:latin typeface="Times New Roman" panose="02020603050405020304" pitchFamily="18" charset="0"/>
                <a:cs typeface="Times New Roman" panose="02020603050405020304" pitchFamily="18" charset="0"/>
              </a:rPr>
              <a:t>How it works !</a:t>
            </a:r>
            <a:endParaRPr lang="en-US" b="1"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1254034"/>
            <a:ext cx="10515600" cy="4922929"/>
          </a:xfrm>
        </p:spPr>
        <p:txBody>
          <a:bodyPr>
            <a:normAutofit fontScale="62500" lnSpcReduction="20000"/>
          </a:bodyPr>
          <a:lstStyle/>
          <a:p>
            <a:pPr>
              <a:lnSpc>
                <a:spcPct val="120000"/>
              </a:lnSpc>
            </a:pPr>
            <a:r>
              <a:rPr lang="en-US" dirty="0" smtClean="0">
                <a:latin typeface="Times New Roman" panose="02020603050405020304" pitchFamily="18" charset="0"/>
                <a:cs typeface="Times New Roman" panose="02020603050405020304" pitchFamily="18" charset="0"/>
              </a:rPr>
              <a:t>Number of processes and process id’s are given as input in the order of their arrival time</a:t>
            </a:r>
          </a:p>
          <a:p>
            <a:pPr>
              <a:lnSpc>
                <a:spcPct val="120000"/>
              </a:lnSpc>
            </a:pPr>
            <a:r>
              <a:rPr lang="en-US" dirty="0" smtClean="0">
                <a:latin typeface="Times New Roman" panose="02020603050405020304" pitchFamily="18" charset="0"/>
                <a:cs typeface="Times New Roman" panose="02020603050405020304" pitchFamily="18" charset="0"/>
              </a:rPr>
              <a:t>Waiting Time and Turn Around Time is calculated with Burst Time known</a:t>
            </a:r>
          </a:p>
          <a:p>
            <a:pPr>
              <a:lnSpc>
                <a:spcPct val="120000"/>
              </a:lnSpc>
            </a:pPr>
            <a:r>
              <a:rPr lang="en-US" dirty="0" smtClean="0">
                <a:latin typeface="Times New Roman" panose="02020603050405020304" pitchFamily="18" charset="0"/>
                <a:cs typeface="Times New Roman" panose="02020603050405020304" pitchFamily="18" charset="0"/>
              </a:rPr>
              <a:t>The following formulas are used for calculation </a:t>
            </a:r>
          </a:p>
          <a:p>
            <a:pPr marL="0" indent="0">
              <a:lnSpc>
                <a:spcPct val="120000"/>
              </a:lnSpc>
              <a:buNone/>
            </a:pPr>
            <a:r>
              <a:rPr lang="en-US" dirty="0" smtClean="0">
                <a:latin typeface="Times New Roman" panose="02020603050405020304" pitchFamily="18" charset="0"/>
                <a:cs typeface="Times New Roman" panose="02020603050405020304" pitchFamily="18" charset="0"/>
              </a:rPr>
              <a:t>       1. Completion time of current process = Completion </a:t>
            </a:r>
            <a:r>
              <a:rPr lang="en-US" dirty="0">
                <a:latin typeface="Times New Roman" panose="02020603050405020304" pitchFamily="18" charset="0"/>
                <a:cs typeface="Times New Roman" panose="02020603050405020304" pitchFamily="18" charset="0"/>
              </a:rPr>
              <a:t>T</a:t>
            </a:r>
            <a:r>
              <a:rPr lang="en-US" dirty="0" smtClean="0">
                <a:latin typeface="Times New Roman" panose="02020603050405020304" pitchFamily="18" charset="0"/>
                <a:cs typeface="Times New Roman" panose="02020603050405020304" pitchFamily="18" charset="0"/>
              </a:rPr>
              <a:t>ime of previous process + Burst Time of previous process</a:t>
            </a:r>
          </a:p>
          <a:p>
            <a:pPr marL="0" indent="0">
              <a:lnSpc>
                <a:spcPct val="120000"/>
              </a:lnSpc>
              <a:buNone/>
            </a:pPr>
            <a:r>
              <a:rPr lang="en-US" dirty="0" smtClean="0">
                <a:latin typeface="Times New Roman" panose="02020603050405020304" pitchFamily="18" charset="0"/>
                <a:cs typeface="Times New Roman" panose="02020603050405020304" pitchFamily="18" charset="0"/>
              </a:rPr>
              <a:t>2. Wait Time of current process = Completion Time of current process - Arrival Time of current process</a:t>
            </a:r>
          </a:p>
          <a:p>
            <a:pPr marL="0" indent="0">
              <a:lnSpc>
                <a:spcPct val="120000"/>
              </a:lnSpc>
              <a:buNone/>
            </a:pPr>
            <a:r>
              <a:rPr lang="en-US" dirty="0" smtClean="0">
                <a:latin typeface="Times New Roman" panose="02020603050405020304" pitchFamily="18" charset="0"/>
                <a:cs typeface="Times New Roman" panose="02020603050405020304" pitchFamily="18" charset="0"/>
              </a:rPr>
              <a:t>3. Turn Around Time of current process = Burst Time of current process + Waiting Time of 						   current process</a:t>
            </a:r>
          </a:p>
          <a:p>
            <a:pPr>
              <a:lnSpc>
                <a:spcPct val="120000"/>
              </a:lnSpc>
            </a:pPr>
            <a:r>
              <a:rPr lang="en-US" dirty="0" smtClean="0">
                <a:latin typeface="Times New Roman" panose="02020603050405020304" pitchFamily="18" charset="0"/>
                <a:cs typeface="Times New Roman" panose="02020603050405020304" pitchFamily="18" charset="0"/>
              </a:rPr>
              <a:t>Total Waiting Time and Total Turn Around Time are calculated</a:t>
            </a:r>
          </a:p>
          <a:p>
            <a:pPr>
              <a:lnSpc>
                <a:spcPct val="120000"/>
              </a:lnSpc>
            </a:pPr>
            <a:r>
              <a:rPr lang="en-US" dirty="0" smtClean="0">
                <a:latin typeface="Times New Roman" panose="02020603050405020304" pitchFamily="18" charset="0"/>
                <a:cs typeface="Times New Roman" panose="02020603050405020304" pitchFamily="18" charset="0"/>
              </a:rPr>
              <a:t>Finally, Average Waiting Time and Average Turn Around Time are calculated by using following formulas</a:t>
            </a:r>
          </a:p>
          <a:p>
            <a:pPr marL="0" indent="0">
              <a:lnSpc>
                <a:spcPct val="120000"/>
              </a:lnSpc>
              <a:buNone/>
            </a:pPr>
            <a:r>
              <a:rPr lang="en-US" dirty="0" smtClean="0">
                <a:latin typeface="Times New Roman" panose="02020603050405020304" pitchFamily="18" charset="0"/>
                <a:cs typeface="Times New Roman" panose="02020603050405020304" pitchFamily="18" charset="0"/>
              </a:rPr>
              <a:t>       1. Average Waiting Time = Total Waiting Time / Number of processes       </a:t>
            </a:r>
          </a:p>
          <a:p>
            <a:pPr marL="0" indent="0">
              <a:lnSpc>
                <a:spcPct val="120000"/>
              </a:lnSpc>
              <a:buNone/>
            </a:pPr>
            <a:r>
              <a:rPr lang="en-US" dirty="0">
                <a:latin typeface="Times New Roman" panose="02020603050405020304" pitchFamily="18" charset="0"/>
                <a:cs typeface="Times New Roman" panose="02020603050405020304" pitchFamily="18" charset="0"/>
              </a:rPr>
              <a:t> </a:t>
            </a:r>
            <a:r>
              <a:rPr lang="en-US" dirty="0" smtClean="0">
                <a:latin typeface="Times New Roman" panose="02020603050405020304" pitchFamily="18" charset="0"/>
                <a:cs typeface="Times New Roman" panose="02020603050405020304" pitchFamily="18" charset="0"/>
              </a:rPr>
              <a:t>      2. Average Turn Around Time = Total Turn Around Time / Number of processes       </a:t>
            </a:r>
          </a:p>
          <a:p>
            <a:pPr marL="0" indent="0">
              <a:lnSpc>
                <a:spcPct val="120000"/>
              </a:lnSpc>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1879883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32155"/>
          </a:xfrm>
        </p:spPr>
        <p:txBody>
          <a:bodyPr/>
          <a:lstStyle/>
          <a:p>
            <a:r>
              <a:rPr lang="en-US" b="1" dirty="0" smtClean="0"/>
              <a:t>Program</a:t>
            </a:r>
            <a:endParaRPr lang="en-US" b="1" dirty="0"/>
          </a:p>
        </p:txBody>
      </p:sp>
      <p:sp>
        <p:nvSpPr>
          <p:cNvPr id="3" name="Rectangle 1"/>
          <p:cNvSpPr>
            <a:spLocks noGrp="1" noChangeArrowheads="1"/>
          </p:cNvSpPr>
          <p:nvPr>
            <p:ph idx="1"/>
          </p:nvPr>
        </p:nvSpPr>
        <p:spPr bwMode="auto">
          <a:xfrm>
            <a:off x="838200" y="1265018"/>
            <a:ext cx="9149862" cy="551227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r>
              <a:rPr lang="en-US" sz="1800" dirty="0"/>
              <a:t>// C++ program for implementation of RR scheduling</a:t>
            </a:r>
          </a:p>
          <a:p>
            <a:r>
              <a:rPr lang="en-US" sz="1800" dirty="0"/>
              <a:t>#include&lt;</a:t>
            </a:r>
            <a:r>
              <a:rPr lang="en-US" sz="1800" dirty="0" err="1"/>
              <a:t>iostream</a:t>
            </a:r>
            <a:r>
              <a:rPr lang="en-US" sz="1800" dirty="0"/>
              <a:t>&gt;</a:t>
            </a:r>
          </a:p>
          <a:p>
            <a:r>
              <a:rPr lang="en-US" sz="1800" dirty="0"/>
              <a:t>using namespace </a:t>
            </a:r>
            <a:r>
              <a:rPr lang="en-US" sz="1800" dirty="0" err="1"/>
              <a:t>std</a:t>
            </a:r>
            <a:r>
              <a:rPr lang="en-US" sz="1800" dirty="0"/>
              <a:t>;</a:t>
            </a:r>
          </a:p>
          <a:p>
            <a:r>
              <a:rPr lang="en-US" sz="1800" dirty="0"/>
              <a:t> </a:t>
            </a:r>
          </a:p>
          <a:p>
            <a:r>
              <a:rPr lang="en-US" sz="1800" dirty="0"/>
              <a:t>// Function to find the waiting time for all</a:t>
            </a:r>
          </a:p>
          <a:p>
            <a:r>
              <a:rPr lang="en-US" sz="1800" dirty="0"/>
              <a:t>// processes</a:t>
            </a:r>
          </a:p>
          <a:p>
            <a:r>
              <a:rPr lang="en-US" sz="1800" dirty="0"/>
              <a:t>void </a:t>
            </a:r>
            <a:r>
              <a:rPr lang="en-US" sz="1800" dirty="0" err="1"/>
              <a:t>findWaitingTime</a:t>
            </a:r>
            <a:r>
              <a:rPr lang="en-US" sz="1800" dirty="0"/>
              <a:t>(</a:t>
            </a:r>
            <a:r>
              <a:rPr lang="en-US" sz="1800" dirty="0" err="1"/>
              <a:t>int</a:t>
            </a:r>
            <a:r>
              <a:rPr lang="en-US" sz="1800" dirty="0"/>
              <a:t> processes[], </a:t>
            </a:r>
            <a:r>
              <a:rPr lang="en-US" sz="1800" dirty="0" err="1"/>
              <a:t>int</a:t>
            </a:r>
            <a:r>
              <a:rPr lang="en-US" sz="1800" dirty="0"/>
              <a:t> n,</a:t>
            </a:r>
          </a:p>
          <a:p>
            <a:r>
              <a:rPr lang="en-US" sz="1800" dirty="0"/>
              <a:t>            </a:t>
            </a:r>
            <a:r>
              <a:rPr lang="en-US" sz="1800" dirty="0" err="1"/>
              <a:t>int</a:t>
            </a:r>
            <a:r>
              <a:rPr lang="en-US" sz="1800" dirty="0"/>
              <a:t> </a:t>
            </a:r>
            <a:r>
              <a:rPr lang="en-US" sz="1800" dirty="0" err="1"/>
              <a:t>bt</a:t>
            </a:r>
            <a:r>
              <a:rPr lang="en-US" sz="1800" dirty="0"/>
              <a:t>[], </a:t>
            </a:r>
            <a:r>
              <a:rPr lang="en-US" sz="1800" dirty="0" err="1"/>
              <a:t>int</a:t>
            </a:r>
            <a:r>
              <a:rPr lang="en-US" sz="1800" dirty="0"/>
              <a:t> </a:t>
            </a:r>
            <a:r>
              <a:rPr lang="en-US" sz="1800" dirty="0" err="1"/>
              <a:t>wt</a:t>
            </a:r>
            <a:r>
              <a:rPr lang="en-US" sz="1800" dirty="0"/>
              <a:t>[], </a:t>
            </a:r>
            <a:r>
              <a:rPr lang="en-US" sz="1800" dirty="0" err="1"/>
              <a:t>int</a:t>
            </a:r>
            <a:r>
              <a:rPr lang="en-US" sz="1800" dirty="0"/>
              <a:t> quantum)</a:t>
            </a:r>
          </a:p>
          <a:p>
            <a:r>
              <a:rPr lang="en-US" sz="1800" dirty="0"/>
              <a:t>{</a:t>
            </a:r>
          </a:p>
          <a:p>
            <a:r>
              <a:rPr lang="en-US" sz="1800" dirty="0"/>
              <a:t>    // Make a copy of burst times </a:t>
            </a:r>
            <a:r>
              <a:rPr lang="en-US" sz="1800" dirty="0" err="1"/>
              <a:t>bt</a:t>
            </a:r>
            <a:r>
              <a:rPr lang="en-US" sz="1800" dirty="0"/>
              <a:t>[] to store remaining</a:t>
            </a:r>
          </a:p>
          <a:p>
            <a:r>
              <a:rPr lang="en-US" sz="1800" dirty="0"/>
              <a:t>    // burst times.</a:t>
            </a:r>
          </a:p>
          <a:p>
            <a:r>
              <a:rPr lang="en-US" sz="1800" dirty="0"/>
              <a:t>    </a:t>
            </a:r>
            <a:r>
              <a:rPr lang="en-US" sz="1800" dirty="0" err="1"/>
              <a:t>int</a:t>
            </a:r>
            <a:r>
              <a:rPr lang="en-US" sz="1800" dirty="0"/>
              <a:t> </a:t>
            </a:r>
            <a:r>
              <a:rPr lang="en-US" sz="1800" dirty="0" err="1"/>
              <a:t>rem_bt</a:t>
            </a:r>
            <a:r>
              <a:rPr lang="en-US" sz="1800" dirty="0"/>
              <a:t>[n];</a:t>
            </a:r>
          </a:p>
          <a:p>
            <a:r>
              <a:rPr lang="en-US" sz="1800" dirty="0"/>
              <a:t>    for (</a:t>
            </a:r>
            <a:r>
              <a:rPr lang="en-US" sz="1800" dirty="0" err="1"/>
              <a:t>int</a:t>
            </a:r>
            <a:r>
              <a:rPr lang="en-US" sz="1800" dirty="0"/>
              <a:t> i = 0 ; i &lt; n ; i++)</a:t>
            </a:r>
          </a:p>
          <a:p>
            <a:r>
              <a:rPr lang="en-US" sz="1800" dirty="0"/>
              <a:t>        </a:t>
            </a:r>
            <a:r>
              <a:rPr lang="en-US" sz="1800" dirty="0" err="1"/>
              <a:t>rem_bt</a:t>
            </a:r>
            <a:r>
              <a:rPr lang="en-US" sz="1800" dirty="0"/>
              <a:t>[i] = </a:t>
            </a:r>
            <a:r>
              <a:rPr lang="en-US" sz="1800" dirty="0" err="1"/>
              <a:t>bt</a:t>
            </a:r>
            <a:r>
              <a:rPr lang="en-US" sz="1800" dirty="0"/>
              <a:t>[i];</a:t>
            </a:r>
          </a:p>
          <a:p>
            <a:r>
              <a:rPr lang="en-US" sz="1800" dirty="0"/>
              <a:t> </a:t>
            </a:r>
          </a:p>
          <a:p>
            <a:r>
              <a:rPr lang="en-US" sz="1800" dirty="0"/>
              <a:t>    </a:t>
            </a:r>
            <a:r>
              <a:rPr lang="en-US" sz="1800" dirty="0" err="1"/>
              <a:t>int</a:t>
            </a:r>
            <a:r>
              <a:rPr lang="en-US" sz="1800" dirty="0"/>
              <a:t> t = 0; // Current time</a:t>
            </a:r>
          </a:p>
          <a:p>
            <a:r>
              <a:rPr lang="en-US" sz="1800" dirty="0"/>
              <a:t> </a:t>
            </a:r>
          </a:p>
          <a:p>
            <a:r>
              <a:rPr lang="en-US" sz="1800" dirty="0"/>
              <a:t>    // Keep traversing processes in round robin manner</a:t>
            </a:r>
          </a:p>
          <a:p>
            <a:r>
              <a:rPr lang="en-US" sz="1800" dirty="0"/>
              <a:t>    // until all of them are not done.</a:t>
            </a:r>
          </a:p>
          <a:p>
            <a:r>
              <a:rPr lang="en-US" sz="1800" dirty="0"/>
              <a:t>    while (1)</a:t>
            </a:r>
          </a:p>
          <a:p>
            <a:pPr marL="0" indent="0">
              <a:buNone/>
            </a:pPr>
            <a:endParaRPr lang="en-US" sz="1800" dirty="0"/>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smtClean="0">
              <a:ln>
                <a:noFill/>
              </a:ln>
              <a:effectLst/>
              <a:latin typeface="Arial" panose="020B0604020202020204" pitchFamily="34" charset="0"/>
            </a:endParaRPr>
          </a:p>
        </p:txBody>
      </p:sp>
    </p:spTree>
    <p:extLst>
      <p:ext uri="{BB962C8B-B14F-4D97-AF65-F5344CB8AC3E}">
        <p14:creationId xmlns:p14="http://schemas.microsoft.com/office/powerpoint/2010/main" val="339416623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noChangeArrowheads="1"/>
          </p:cNvSpPr>
          <p:nvPr>
            <p:ph idx="1"/>
          </p:nvPr>
        </p:nvSpPr>
        <p:spPr bwMode="auto">
          <a:xfrm>
            <a:off x="457200" y="858244"/>
            <a:ext cx="9612923" cy="553997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dirty="0" smtClean="0">
                <a:ln>
                  <a:noFill/>
                </a:ln>
                <a:solidFill>
                  <a:srgbClr val="273239"/>
                </a:solidFill>
                <a:effectLst/>
                <a:latin typeface="Consolas" pitchFamily="49" charset="0"/>
                <a:cs typeface="Arial" pitchFamily="34" charset="0"/>
              </a:rPr>
              <a:t>    </a:t>
            </a:r>
            <a:r>
              <a:rPr kumimoji="0" lang="en-US" sz="1800" i="0" u="none" strike="noStrike" cap="none" normalizeH="0" baseline="0" dirty="0" smtClean="0">
                <a:ln>
                  <a:noFill/>
                </a:ln>
                <a:effectLst/>
                <a:latin typeface="Arial" pitchFamily="34" charset="0"/>
                <a:cs typeface="Arial" pitchFamily="34" charset="0"/>
              </a:rPr>
              <a:t>while (1)</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sz="1800" i="0" u="none" strike="noStrike" cap="none" normalizeH="0" baseline="0" dirty="0" smtClean="0">
                <a:ln>
                  <a:noFill/>
                </a:ln>
                <a:effectLst/>
                <a:latin typeface="Arial" pitchFamily="34" charset="0"/>
                <a:cs typeface="Arial"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sz="1800" i="0" u="none" strike="noStrike" cap="none" normalizeH="0" baseline="0" dirty="0" smtClean="0">
                <a:ln>
                  <a:noFill/>
                </a:ln>
                <a:effectLst/>
                <a:latin typeface="Arial" pitchFamily="34" charset="0"/>
                <a:cs typeface="Arial" pitchFamily="34" charset="0"/>
              </a:rPr>
              <a:t>        </a:t>
            </a:r>
            <a:r>
              <a:rPr kumimoji="0" lang="en-US" sz="1800" i="0" u="none" strike="noStrike" cap="none" normalizeH="0" baseline="0" dirty="0" err="1" smtClean="0">
                <a:ln>
                  <a:noFill/>
                </a:ln>
                <a:effectLst/>
                <a:latin typeface="Arial" pitchFamily="34" charset="0"/>
                <a:cs typeface="Arial" pitchFamily="34" charset="0"/>
              </a:rPr>
              <a:t>bool</a:t>
            </a:r>
            <a:r>
              <a:rPr kumimoji="0" lang="en-US" sz="1800" i="0" u="none" strike="noStrike" cap="none" normalizeH="0" baseline="0" dirty="0" smtClean="0">
                <a:ln>
                  <a:noFill/>
                </a:ln>
                <a:effectLst/>
                <a:latin typeface="Arial" pitchFamily="34" charset="0"/>
                <a:cs typeface="Arial" pitchFamily="34" charset="0"/>
              </a:rPr>
              <a:t> done = true;</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sz="1800" i="0" u="none" strike="noStrike" cap="none" normalizeH="0" baseline="0" dirty="0" smtClean="0">
                <a:ln>
                  <a:noFill/>
                </a:ln>
                <a:effectLst/>
                <a:latin typeface="Arial" pitchFamily="34" charset="0"/>
                <a:cs typeface="Arial"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sz="1800" i="0" u="none" strike="noStrike" cap="none" normalizeH="0" baseline="0" dirty="0" smtClean="0">
                <a:ln>
                  <a:noFill/>
                </a:ln>
                <a:effectLst/>
                <a:latin typeface="Arial" pitchFamily="34" charset="0"/>
                <a:cs typeface="Arial" pitchFamily="34" charset="0"/>
              </a:rPr>
              <a:t>        // Traverse all processes one by one repeatedly</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sz="1800" i="0" u="none" strike="noStrike" cap="none" normalizeH="0" baseline="0" dirty="0" smtClean="0">
                <a:ln>
                  <a:noFill/>
                </a:ln>
                <a:effectLst/>
                <a:latin typeface="Arial" pitchFamily="34" charset="0"/>
                <a:cs typeface="Arial" pitchFamily="34" charset="0"/>
              </a:rPr>
              <a:t>        for (</a:t>
            </a:r>
            <a:r>
              <a:rPr kumimoji="0" lang="en-US" sz="1800" i="0" u="none" strike="noStrike" cap="none" normalizeH="0" baseline="0" dirty="0" err="1" smtClean="0">
                <a:ln>
                  <a:noFill/>
                </a:ln>
                <a:effectLst/>
                <a:latin typeface="Arial" pitchFamily="34" charset="0"/>
                <a:cs typeface="Arial" pitchFamily="34" charset="0"/>
              </a:rPr>
              <a:t>int</a:t>
            </a:r>
            <a:r>
              <a:rPr kumimoji="0" lang="en-US" sz="1800" i="0" u="none" strike="noStrike" cap="none" normalizeH="0" baseline="0" dirty="0" smtClean="0">
                <a:ln>
                  <a:noFill/>
                </a:ln>
                <a:effectLst/>
                <a:latin typeface="Arial" pitchFamily="34" charset="0"/>
                <a:cs typeface="Arial" pitchFamily="34" charset="0"/>
              </a:rPr>
              <a:t> i = 0 ; i &lt; n; i++)</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sz="1800" i="0" u="none" strike="noStrike" cap="none" normalizeH="0" baseline="0" dirty="0" smtClean="0">
                <a:ln>
                  <a:noFill/>
                </a:ln>
                <a:effectLst/>
                <a:latin typeface="Arial" pitchFamily="34" charset="0"/>
                <a:cs typeface="Arial"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sz="1800" i="0" u="none" strike="noStrike" cap="none" normalizeH="0" baseline="0" dirty="0" smtClean="0">
                <a:ln>
                  <a:noFill/>
                </a:ln>
                <a:effectLst/>
                <a:latin typeface="Arial" pitchFamily="34" charset="0"/>
                <a:cs typeface="Arial" pitchFamily="34" charset="0"/>
              </a:rPr>
              <a:t>            // If burst time of a process is greater than 0</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sz="1800" i="0" u="none" strike="noStrike" cap="none" normalizeH="0" baseline="0" dirty="0" smtClean="0">
                <a:ln>
                  <a:noFill/>
                </a:ln>
                <a:effectLst/>
                <a:latin typeface="Arial" pitchFamily="34" charset="0"/>
                <a:cs typeface="Arial" pitchFamily="34" charset="0"/>
              </a:rPr>
              <a:t>            // then only need to process further</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sz="1800" i="0" u="none" strike="noStrike" cap="none" normalizeH="0" baseline="0" dirty="0" smtClean="0">
                <a:ln>
                  <a:noFill/>
                </a:ln>
                <a:effectLst/>
                <a:latin typeface="Arial" pitchFamily="34" charset="0"/>
                <a:cs typeface="Arial" pitchFamily="34" charset="0"/>
              </a:rPr>
              <a:t>            if (</a:t>
            </a:r>
            <a:r>
              <a:rPr kumimoji="0" lang="en-US" sz="1800" i="0" u="none" strike="noStrike" cap="none" normalizeH="0" baseline="0" dirty="0" err="1" smtClean="0">
                <a:ln>
                  <a:noFill/>
                </a:ln>
                <a:effectLst/>
                <a:latin typeface="Arial" pitchFamily="34" charset="0"/>
                <a:cs typeface="Arial" pitchFamily="34" charset="0"/>
              </a:rPr>
              <a:t>rem_bt</a:t>
            </a:r>
            <a:r>
              <a:rPr kumimoji="0" lang="en-US" sz="1800" i="0" u="none" strike="noStrike" cap="none" normalizeH="0" baseline="0" dirty="0" smtClean="0">
                <a:ln>
                  <a:noFill/>
                </a:ln>
                <a:effectLst/>
                <a:latin typeface="Arial" pitchFamily="34" charset="0"/>
                <a:cs typeface="Arial" pitchFamily="34" charset="0"/>
              </a:rPr>
              <a:t>[i] &gt; 0)</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sz="1800" i="0" u="none" strike="noStrike" cap="none" normalizeH="0" baseline="0" dirty="0" smtClean="0">
                <a:ln>
                  <a:noFill/>
                </a:ln>
                <a:effectLst/>
                <a:latin typeface="Arial" pitchFamily="34" charset="0"/>
                <a:cs typeface="Arial"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sz="1800" i="0" u="none" strike="noStrike" cap="none" normalizeH="0" baseline="0" dirty="0" smtClean="0">
                <a:ln>
                  <a:noFill/>
                </a:ln>
                <a:effectLst/>
                <a:latin typeface="Arial" pitchFamily="34" charset="0"/>
                <a:cs typeface="Arial" pitchFamily="34" charset="0"/>
              </a:rPr>
              <a:t>                done = false; // There is a pending process</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sz="1800" i="0" u="none" strike="noStrike" cap="none" normalizeH="0" baseline="0" dirty="0" smtClean="0">
                <a:ln>
                  <a:noFill/>
                </a:ln>
                <a:effectLst/>
                <a:latin typeface="Arial" pitchFamily="34" charset="0"/>
                <a:cs typeface="Arial"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sz="1800" i="0" u="none" strike="noStrike" cap="none" normalizeH="0" baseline="0" dirty="0" smtClean="0">
                <a:ln>
                  <a:noFill/>
                </a:ln>
                <a:effectLst/>
                <a:latin typeface="Arial" pitchFamily="34" charset="0"/>
                <a:cs typeface="Arial" pitchFamily="34" charset="0"/>
              </a:rPr>
              <a:t>                if (</a:t>
            </a:r>
            <a:r>
              <a:rPr kumimoji="0" lang="en-US" sz="1800" i="0" u="none" strike="noStrike" cap="none" normalizeH="0" baseline="0" dirty="0" err="1" smtClean="0">
                <a:ln>
                  <a:noFill/>
                </a:ln>
                <a:effectLst/>
                <a:latin typeface="Arial" pitchFamily="34" charset="0"/>
                <a:cs typeface="Arial" pitchFamily="34" charset="0"/>
              </a:rPr>
              <a:t>rem_bt</a:t>
            </a:r>
            <a:r>
              <a:rPr kumimoji="0" lang="en-US" sz="1800" i="0" u="none" strike="noStrike" cap="none" normalizeH="0" baseline="0" dirty="0" smtClean="0">
                <a:ln>
                  <a:noFill/>
                </a:ln>
                <a:effectLst/>
                <a:latin typeface="Arial" pitchFamily="34" charset="0"/>
                <a:cs typeface="Arial" pitchFamily="34" charset="0"/>
              </a:rPr>
              <a:t>[i] &gt; quantum)</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sz="1800" i="0" u="none" strike="noStrike" cap="none" normalizeH="0" baseline="0" dirty="0" smtClean="0">
                <a:ln>
                  <a:noFill/>
                </a:ln>
                <a:effectLst/>
                <a:latin typeface="Arial" pitchFamily="34" charset="0"/>
                <a:cs typeface="Arial"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sz="1800" i="0" u="none" strike="noStrike" cap="none" normalizeH="0" baseline="0" dirty="0" smtClean="0">
                <a:ln>
                  <a:noFill/>
                </a:ln>
                <a:effectLst/>
                <a:latin typeface="Arial" pitchFamily="34" charset="0"/>
                <a:cs typeface="Arial" pitchFamily="34" charset="0"/>
              </a:rPr>
              <a:t>                    // Increase the value of t i.e. shows</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sz="1800" i="0" u="none" strike="noStrike" cap="none" normalizeH="0" baseline="0" dirty="0" smtClean="0">
                <a:ln>
                  <a:noFill/>
                </a:ln>
                <a:effectLst/>
                <a:latin typeface="Arial" pitchFamily="34" charset="0"/>
                <a:cs typeface="Arial" pitchFamily="34" charset="0"/>
              </a:rPr>
              <a:t>                    // how much time a process has been processed</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sz="1800" i="0" u="none" strike="noStrike" cap="none" normalizeH="0" baseline="0" dirty="0" smtClean="0">
                <a:ln>
                  <a:noFill/>
                </a:ln>
                <a:effectLst/>
                <a:latin typeface="Arial" pitchFamily="34" charset="0"/>
                <a:cs typeface="Arial" pitchFamily="34" charset="0"/>
              </a:rPr>
              <a:t>                    t += quantum;</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sz="1800" i="0" u="none" strike="noStrike" cap="none" normalizeH="0" baseline="0" dirty="0" smtClean="0">
                <a:ln>
                  <a:noFill/>
                </a:ln>
                <a:effectLst/>
                <a:latin typeface="Arial" pitchFamily="34" charset="0"/>
                <a:cs typeface="Arial" pitchFamily="34" charset="0"/>
              </a:rPr>
              <a:t/>
            </a:r>
            <a:br>
              <a:rPr kumimoji="0" lang="en-US" sz="1800" i="0" u="none" strike="noStrike" cap="none" normalizeH="0" baseline="0" dirty="0" smtClean="0">
                <a:ln>
                  <a:noFill/>
                </a:ln>
                <a:effectLst/>
                <a:latin typeface="Arial" pitchFamily="34" charset="0"/>
                <a:cs typeface="Arial" pitchFamily="34" charset="0"/>
              </a:rPr>
            </a:br>
            <a:endParaRPr kumimoji="0" lang="en-US" sz="1800" i="0" u="none" strike="noStrike" cap="none" normalizeH="0" baseline="0" dirty="0" smtClean="0">
              <a:ln>
                <a:noFill/>
              </a:ln>
              <a:effectLst/>
              <a:latin typeface="Arial" pitchFamily="34" charset="0"/>
              <a:cs typeface="Arial" pitchFamily="34" charset="0"/>
            </a:endParaRPr>
          </a:p>
        </p:txBody>
      </p:sp>
    </p:spTree>
    <p:extLst>
      <p:ext uri="{BB962C8B-B14F-4D97-AF65-F5344CB8AC3E}">
        <p14:creationId xmlns:p14="http://schemas.microsoft.com/office/powerpoint/2010/main" val="340140934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46185" y="410309"/>
            <a:ext cx="11840308" cy="6330460"/>
          </a:xfrm>
        </p:spPr>
        <p:txBody>
          <a:bodyPr>
            <a:noAutofit/>
          </a:bodyPr>
          <a:lstStyle/>
          <a:p>
            <a:pPr fontAlgn="base"/>
            <a:r>
              <a:rPr lang="en-US" sz="1800" dirty="0">
                <a:latin typeface="Arial" pitchFamily="34" charset="0"/>
                <a:cs typeface="Arial" pitchFamily="34" charset="0"/>
              </a:rPr>
              <a:t> // Decrease the </a:t>
            </a:r>
            <a:r>
              <a:rPr lang="en-US" sz="1800" dirty="0" err="1">
                <a:latin typeface="Arial" pitchFamily="34" charset="0"/>
                <a:cs typeface="Arial" pitchFamily="34" charset="0"/>
              </a:rPr>
              <a:t>burst_time</a:t>
            </a:r>
            <a:r>
              <a:rPr lang="en-US" sz="1800" dirty="0">
                <a:latin typeface="Arial" pitchFamily="34" charset="0"/>
                <a:cs typeface="Arial" pitchFamily="34" charset="0"/>
              </a:rPr>
              <a:t> of current process</a:t>
            </a:r>
          </a:p>
          <a:p>
            <a:pPr fontAlgn="base"/>
            <a:r>
              <a:rPr lang="en-US" sz="1800" dirty="0">
                <a:latin typeface="Arial" pitchFamily="34" charset="0"/>
                <a:cs typeface="Arial" pitchFamily="34" charset="0"/>
              </a:rPr>
              <a:t>                    // by quantum</a:t>
            </a:r>
          </a:p>
          <a:p>
            <a:pPr fontAlgn="base"/>
            <a:r>
              <a:rPr lang="en-US" sz="1800" dirty="0">
                <a:latin typeface="Arial" pitchFamily="34" charset="0"/>
                <a:cs typeface="Arial" pitchFamily="34" charset="0"/>
              </a:rPr>
              <a:t>                    </a:t>
            </a:r>
            <a:r>
              <a:rPr lang="en-US" sz="1800" dirty="0" err="1">
                <a:latin typeface="Arial" pitchFamily="34" charset="0"/>
                <a:cs typeface="Arial" pitchFamily="34" charset="0"/>
              </a:rPr>
              <a:t>rem_bt</a:t>
            </a:r>
            <a:r>
              <a:rPr lang="en-US" sz="1800" dirty="0">
                <a:latin typeface="Arial" pitchFamily="34" charset="0"/>
                <a:cs typeface="Arial" pitchFamily="34" charset="0"/>
              </a:rPr>
              <a:t>[i] -= quantum;</a:t>
            </a:r>
          </a:p>
          <a:p>
            <a:pPr fontAlgn="base"/>
            <a:r>
              <a:rPr lang="en-US" sz="1800" dirty="0">
                <a:latin typeface="Arial" pitchFamily="34" charset="0"/>
                <a:cs typeface="Arial" pitchFamily="34" charset="0"/>
              </a:rPr>
              <a:t>                }</a:t>
            </a:r>
          </a:p>
          <a:p>
            <a:pPr fontAlgn="base"/>
            <a:r>
              <a:rPr lang="en-US" sz="1800" dirty="0">
                <a:latin typeface="Arial" pitchFamily="34" charset="0"/>
                <a:cs typeface="Arial" pitchFamily="34" charset="0"/>
              </a:rPr>
              <a:t> </a:t>
            </a:r>
          </a:p>
          <a:p>
            <a:pPr fontAlgn="base"/>
            <a:r>
              <a:rPr lang="en-US" sz="1800" dirty="0">
                <a:latin typeface="Arial" pitchFamily="34" charset="0"/>
                <a:cs typeface="Arial" pitchFamily="34" charset="0"/>
              </a:rPr>
              <a:t>                // If burst time is smaller than or equal to</a:t>
            </a:r>
          </a:p>
          <a:p>
            <a:pPr fontAlgn="base"/>
            <a:r>
              <a:rPr lang="en-US" sz="1800" dirty="0">
                <a:latin typeface="Arial" pitchFamily="34" charset="0"/>
                <a:cs typeface="Arial" pitchFamily="34" charset="0"/>
              </a:rPr>
              <a:t>                // quantum. Last cycle for this process</a:t>
            </a:r>
          </a:p>
          <a:p>
            <a:pPr fontAlgn="base"/>
            <a:r>
              <a:rPr lang="en-US" sz="1800" dirty="0">
                <a:latin typeface="Arial" pitchFamily="34" charset="0"/>
                <a:cs typeface="Arial" pitchFamily="34" charset="0"/>
              </a:rPr>
              <a:t>                else</a:t>
            </a:r>
          </a:p>
          <a:p>
            <a:pPr fontAlgn="base"/>
            <a:r>
              <a:rPr lang="en-US" sz="1800" dirty="0">
                <a:latin typeface="Arial" pitchFamily="34" charset="0"/>
                <a:cs typeface="Arial" pitchFamily="34" charset="0"/>
              </a:rPr>
              <a:t>                {</a:t>
            </a:r>
          </a:p>
          <a:p>
            <a:pPr fontAlgn="base"/>
            <a:r>
              <a:rPr lang="en-US" sz="1800" dirty="0">
                <a:latin typeface="Arial" pitchFamily="34" charset="0"/>
                <a:cs typeface="Arial" pitchFamily="34" charset="0"/>
              </a:rPr>
              <a:t>                    // Increase the value of t i.e. shows</a:t>
            </a:r>
          </a:p>
          <a:p>
            <a:pPr fontAlgn="base"/>
            <a:r>
              <a:rPr lang="en-US" sz="1800" dirty="0">
                <a:latin typeface="Arial" pitchFamily="34" charset="0"/>
                <a:cs typeface="Arial" pitchFamily="34" charset="0"/>
              </a:rPr>
              <a:t>                    // how much time a process has been processed</a:t>
            </a:r>
          </a:p>
          <a:p>
            <a:pPr fontAlgn="base"/>
            <a:r>
              <a:rPr lang="en-US" sz="1800" dirty="0">
                <a:latin typeface="Arial" pitchFamily="34" charset="0"/>
                <a:cs typeface="Arial" pitchFamily="34" charset="0"/>
              </a:rPr>
              <a:t>                    t = t + </a:t>
            </a:r>
            <a:r>
              <a:rPr lang="en-US" sz="1800" dirty="0" err="1">
                <a:latin typeface="Arial" pitchFamily="34" charset="0"/>
                <a:cs typeface="Arial" pitchFamily="34" charset="0"/>
              </a:rPr>
              <a:t>rem_bt</a:t>
            </a:r>
            <a:r>
              <a:rPr lang="en-US" sz="1800" dirty="0">
                <a:latin typeface="Arial" pitchFamily="34" charset="0"/>
                <a:cs typeface="Arial" pitchFamily="34" charset="0"/>
              </a:rPr>
              <a:t>[i];</a:t>
            </a:r>
          </a:p>
          <a:p>
            <a:pPr fontAlgn="base"/>
            <a:r>
              <a:rPr lang="en-US" sz="1800" dirty="0">
                <a:latin typeface="Arial" pitchFamily="34" charset="0"/>
                <a:cs typeface="Arial" pitchFamily="34" charset="0"/>
              </a:rPr>
              <a:t> </a:t>
            </a:r>
          </a:p>
          <a:p>
            <a:pPr fontAlgn="base"/>
            <a:r>
              <a:rPr lang="en-US" sz="1800" dirty="0">
                <a:latin typeface="Arial" pitchFamily="34" charset="0"/>
                <a:cs typeface="Arial" pitchFamily="34" charset="0"/>
              </a:rPr>
              <a:t>                    // Waiting time is current time minus time</a:t>
            </a:r>
          </a:p>
          <a:p>
            <a:pPr fontAlgn="base"/>
            <a:r>
              <a:rPr lang="en-US" sz="1800" dirty="0">
                <a:latin typeface="Arial" pitchFamily="34" charset="0"/>
                <a:cs typeface="Arial" pitchFamily="34" charset="0"/>
              </a:rPr>
              <a:t>                    // used by this process</a:t>
            </a:r>
          </a:p>
          <a:p>
            <a:pPr fontAlgn="base"/>
            <a:r>
              <a:rPr lang="en-US" sz="1800" dirty="0">
                <a:latin typeface="Arial" pitchFamily="34" charset="0"/>
                <a:cs typeface="Arial" pitchFamily="34" charset="0"/>
              </a:rPr>
              <a:t>                    </a:t>
            </a:r>
            <a:r>
              <a:rPr lang="en-US" sz="1800" dirty="0" err="1">
                <a:latin typeface="Arial" pitchFamily="34" charset="0"/>
                <a:cs typeface="Arial" pitchFamily="34" charset="0"/>
              </a:rPr>
              <a:t>wt</a:t>
            </a:r>
            <a:r>
              <a:rPr lang="en-US" sz="1800" dirty="0">
                <a:latin typeface="Arial" pitchFamily="34" charset="0"/>
                <a:cs typeface="Arial" pitchFamily="34" charset="0"/>
              </a:rPr>
              <a:t>[i] = t - </a:t>
            </a:r>
            <a:r>
              <a:rPr lang="en-US" sz="1800" dirty="0" err="1">
                <a:latin typeface="Arial" pitchFamily="34" charset="0"/>
                <a:cs typeface="Arial" pitchFamily="34" charset="0"/>
              </a:rPr>
              <a:t>bt</a:t>
            </a:r>
            <a:r>
              <a:rPr lang="en-US" sz="1800" dirty="0">
                <a:latin typeface="Arial" pitchFamily="34" charset="0"/>
                <a:cs typeface="Arial" pitchFamily="34" charset="0"/>
              </a:rPr>
              <a:t>[i</a:t>
            </a:r>
            <a:r>
              <a:rPr lang="en-US" sz="1800" dirty="0" smtClean="0">
                <a:latin typeface="Arial" pitchFamily="34" charset="0"/>
                <a:cs typeface="Arial" pitchFamily="34" charset="0"/>
              </a:rPr>
              <a:t>];</a:t>
            </a:r>
            <a:r>
              <a:rPr lang="en-US" sz="1800" dirty="0">
                <a:latin typeface="Arial" pitchFamily="34" charset="0"/>
                <a:cs typeface="Arial" pitchFamily="34" charset="0"/>
              </a:rPr>
              <a:t>                  </a:t>
            </a:r>
            <a:endParaRPr lang="en-US" altLang="en-US" sz="1800" dirty="0">
              <a:latin typeface="Arial" pitchFamily="34" charset="0"/>
              <a:cs typeface="Arial" pitchFamily="34" charset="0"/>
            </a:endParaRPr>
          </a:p>
        </p:txBody>
      </p:sp>
    </p:spTree>
    <p:extLst>
      <p:ext uri="{BB962C8B-B14F-4D97-AF65-F5344CB8AC3E}">
        <p14:creationId xmlns:p14="http://schemas.microsoft.com/office/powerpoint/2010/main" val="266609216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69630" y="422030"/>
            <a:ext cx="11828585" cy="7573107"/>
          </a:xfrm>
        </p:spPr>
        <p:txBody>
          <a:bodyPr>
            <a:noAutofit/>
          </a:bodyPr>
          <a:lstStyle/>
          <a:p>
            <a:pPr fontAlgn="base"/>
            <a:r>
              <a:rPr lang="en-US" sz="1600" b="1" dirty="0"/>
              <a:t> // As the process gets fully executed</a:t>
            </a:r>
          </a:p>
          <a:p>
            <a:pPr fontAlgn="base"/>
            <a:r>
              <a:rPr lang="en-US" sz="1600" b="1" dirty="0"/>
              <a:t>                    // make its remaining burst time = 0</a:t>
            </a:r>
          </a:p>
          <a:p>
            <a:pPr fontAlgn="base"/>
            <a:r>
              <a:rPr lang="en-US" sz="1600" b="1" dirty="0"/>
              <a:t>                    </a:t>
            </a:r>
            <a:r>
              <a:rPr lang="en-US" sz="1600" b="1" dirty="0" err="1"/>
              <a:t>rem_bt</a:t>
            </a:r>
            <a:r>
              <a:rPr lang="en-US" sz="1600" b="1" dirty="0"/>
              <a:t>[i] = 0;</a:t>
            </a:r>
          </a:p>
          <a:p>
            <a:pPr fontAlgn="base"/>
            <a:r>
              <a:rPr lang="en-US" sz="1600" b="1" dirty="0"/>
              <a:t>                }</a:t>
            </a:r>
          </a:p>
          <a:p>
            <a:pPr fontAlgn="base"/>
            <a:r>
              <a:rPr lang="en-US" sz="1600" b="1" dirty="0"/>
              <a:t>            }</a:t>
            </a:r>
          </a:p>
          <a:p>
            <a:pPr fontAlgn="base"/>
            <a:r>
              <a:rPr lang="en-US" sz="1600" b="1" dirty="0"/>
              <a:t>        }</a:t>
            </a:r>
          </a:p>
          <a:p>
            <a:pPr fontAlgn="base"/>
            <a:r>
              <a:rPr lang="en-US" sz="1600" b="1" dirty="0"/>
              <a:t> </a:t>
            </a:r>
          </a:p>
          <a:p>
            <a:pPr fontAlgn="base"/>
            <a:r>
              <a:rPr lang="en-US" sz="1600" b="1" dirty="0"/>
              <a:t>        // If all processes are done</a:t>
            </a:r>
          </a:p>
          <a:p>
            <a:pPr fontAlgn="base"/>
            <a:r>
              <a:rPr lang="en-US" sz="1600" b="1" dirty="0"/>
              <a:t>        if (done == true)</a:t>
            </a:r>
          </a:p>
          <a:p>
            <a:pPr fontAlgn="base"/>
            <a:r>
              <a:rPr lang="en-US" sz="1600" b="1" dirty="0"/>
              <a:t>        break;</a:t>
            </a:r>
          </a:p>
          <a:p>
            <a:pPr fontAlgn="base"/>
            <a:r>
              <a:rPr lang="en-US" sz="1600" b="1" dirty="0"/>
              <a:t>    }</a:t>
            </a:r>
          </a:p>
          <a:p>
            <a:pPr fontAlgn="base"/>
            <a:r>
              <a:rPr lang="en-US" sz="1600" b="1" dirty="0"/>
              <a:t>}</a:t>
            </a:r>
          </a:p>
          <a:p>
            <a:pPr fontAlgn="base"/>
            <a:r>
              <a:rPr lang="en-US" sz="1600" b="1" dirty="0"/>
              <a:t> </a:t>
            </a:r>
          </a:p>
          <a:p>
            <a:pPr fontAlgn="base"/>
            <a:r>
              <a:rPr lang="en-US" sz="1600" b="1" dirty="0"/>
              <a:t>// Function to calculate turn around time</a:t>
            </a:r>
          </a:p>
          <a:p>
            <a:pPr fontAlgn="base"/>
            <a:r>
              <a:rPr lang="en-US" sz="1600" b="1" dirty="0"/>
              <a:t>void </a:t>
            </a:r>
            <a:r>
              <a:rPr lang="en-US" sz="1600" b="1" dirty="0" err="1"/>
              <a:t>findTurnAroundTime</a:t>
            </a:r>
            <a:r>
              <a:rPr lang="en-US" sz="1600" b="1" dirty="0"/>
              <a:t>(</a:t>
            </a:r>
            <a:r>
              <a:rPr lang="en-US" sz="1600" b="1" dirty="0" err="1"/>
              <a:t>int</a:t>
            </a:r>
            <a:r>
              <a:rPr lang="en-US" sz="1600" b="1" dirty="0"/>
              <a:t> processes[], </a:t>
            </a:r>
            <a:r>
              <a:rPr lang="en-US" sz="1600" b="1" dirty="0" err="1"/>
              <a:t>int</a:t>
            </a:r>
            <a:r>
              <a:rPr lang="en-US" sz="1600" b="1" dirty="0"/>
              <a:t> n,</a:t>
            </a:r>
          </a:p>
          <a:p>
            <a:pPr fontAlgn="base"/>
            <a:r>
              <a:rPr lang="en-US" sz="1600" b="1" dirty="0"/>
              <a:t>                        </a:t>
            </a:r>
            <a:r>
              <a:rPr lang="en-US" sz="1600" b="1" dirty="0" err="1"/>
              <a:t>int</a:t>
            </a:r>
            <a:r>
              <a:rPr lang="en-US" sz="1600" b="1" dirty="0"/>
              <a:t> </a:t>
            </a:r>
            <a:r>
              <a:rPr lang="en-US" sz="1600" b="1" dirty="0" err="1"/>
              <a:t>bt</a:t>
            </a:r>
            <a:r>
              <a:rPr lang="en-US" sz="1600" b="1" dirty="0"/>
              <a:t>[], </a:t>
            </a:r>
            <a:r>
              <a:rPr lang="en-US" sz="1600" b="1" dirty="0" err="1"/>
              <a:t>int</a:t>
            </a:r>
            <a:r>
              <a:rPr lang="en-US" sz="1600" b="1" dirty="0"/>
              <a:t> </a:t>
            </a:r>
            <a:r>
              <a:rPr lang="en-US" sz="1600" b="1" dirty="0" err="1"/>
              <a:t>wt</a:t>
            </a:r>
            <a:r>
              <a:rPr lang="en-US" sz="1600" b="1" dirty="0"/>
              <a:t>[], </a:t>
            </a:r>
            <a:r>
              <a:rPr lang="en-US" sz="1600" b="1" dirty="0" err="1"/>
              <a:t>int</a:t>
            </a:r>
            <a:r>
              <a:rPr lang="en-US" sz="1600" b="1" dirty="0"/>
              <a:t> tat[])</a:t>
            </a:r>
          </a:p>
          <a:p>
            <a:pPr fontAlgn="base"/>
            <a:r>
              <a:rPr lang="en-US" sz="1600" b="1" dirty="0"/>
              <a:t>{</a:t>
            </a:r>
          </a:p>
          <a:p>
            <a:pPr fontAlgn="base"/>
            <a:r>
              <a:rPr lang="en-US" sz="1600" b="1" dirty="0"/>
              <a:t>    // calculating turnaround time by adding</a:t>
            </a:r>
          </a:p>
          <a:p>
            <a:pPr fontAlgn="base"/>
            <a:r>
              <a:rPr lang="en-US" sz="1600" b="1" dirty="0"/>
              <a:t>    // </a:t>
            </a:r>
            <a:r>
              <a:rPr lang="en-US" sz="1600" b="1" dirty="0" err="1"/>
              <a:t>bt</a:t>
            </a:r>
            <a:r>
              <a:rPr lang="en-US" sz="1600" b="1" dirty="0"/>
              <a:t>[i] + </a:t>
            </a:r>
            <a:r>
              <a:rPr lang="en-US" sz="1600" b="1" dirty="0" err="1"/>
              <a:t>wt</a:t>
            </a:r>
            <a:r>
              <a:rPr lang="en-US" sz="1600" b="1" dirty="0"/>
              <a:t>[i]</a:t>
            </a:r>
          </a:p>
          <a:p>
            <a:pPr fontAlgn="base"/>
            <a:r>
              <a:rPr lang="en-US" sz="1600" b="1" dirty="0"/>
              <a:t>    for (</a:t>
            </a:r>
            <a:r>
              <a:rPr lang="en-US" sz="1600" b="1" dirty="0" err="1"/>
              <a:t>int</a:t>
            </a:r>
            <a:r>
              <a:rPr lang="en-US" sz="1600" b="1" dirty="0"/>
              <a:t> i = 0; i &lt; n ; i++)</a:t>
            </a:r>
          </a:p>
          <a:p>
            <a:pPr fontAlgn="base"/>
            <a:r>
              <a:rPr lang="en-US" sz="1600" b="1" dirty="0"/>
              <a:t>        tat[i] = </a:t>
            </a:r>
            <a:r>
              <a:rPr lang="en-US" sz="1600" b="1" dirty="0" err="1"/>
              <a:t>bt</a:t>
            </a:r>
            <a:r>
              <a:rPr lang="en-US" sz="1600" b="1" dirty="0"/>
              <a:t>[i] + </a:t>
            </a:r>
            <a:r>
              <a:rPr lang="en-US" sz="1600" b="1" dirty="0" err="1"/>
              <a:t>wt</a:t>
            </a:r>
            <a:r>
              <a:rPr lang="en-US" sz="1600" b="1" dirty="0"/>
              <a:t>[i];</a:t>
            </a:r>
          </a:p>
          <a:p>
            <a:pPr fontAlgn="base"/>
            <a:r>
              <a:rPr lang="en-US" sz="1600" b="1" dirty="0"/>
              <a:t>}</a:t>
            </a:r>
          </a:p>
          <a:p>
            <a:pPr marL="0" indent="0">
              <a:buNone/>
            </a:pPr>
            <a:endParaRPr lang="en-US" sz="1600" b="1" dirty="0"/>
          </a:p>
        </p:txBody>
      </p:sp>
    </p:spTree>
    <p:extLst>
      <p:ext uri="{BB962C8B-B14F-4D97-AF65-F5344CB8AC3E}">
        <p14:creationId xmlns:p14="http://schemas.microsoft.com/office/powerpoint/2010/main" val="28099885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973015" y="836533"/>
            <a:ext cx="10034954" cy="553997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to calculate average time</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1" i="0" u="none" strike="noStrike" cap="none" normalizeH="0" baseline="0" dirty="0" smtClean="0">
                <a:ln>
                  <a:noFill/>
                </a:ln>
                <a:effectLst/>
                <a:latin typeface="Consolas" pitchFamily="49" charset="0"/>
                <a:cs typeface="Arial" pitchFamily="34" charset="0"/>
              </a:rPr>
              <a:t>void</a:t>
            </a:r>
            <a:r>
              <a:rPr kumimoji="0" lang="en-US" b="0" i="0" u="none" strike="noStrike" cap="none" normalizeH="0" baseline="0" dirty="0" smtClean="0">
                <a:ln>
                  <a:noFill/>
                </a:ln>
                <a:effectLst/>
                <a:latin typeface="Consolas" pitchFamily="49" charset="0"/>
                <a:cs typeface="Arial" pitchFamily="34" charset="0"/>
              </a:rPr>
              <a:t> </a:t>
            </a:r>
            <a:r>
              <a:rPr kumimoji="0" lang="en-US" b="0" i="0" u="none" strike="noStrike" cap="none" normalizeH="0" baseline="0" dirty="0" err="1" smtClean="0">
                <a:ln>
                  <a:noFill/>
                </a:ln>
                <a:effectLst/>
                <a:latin typeface="Consolas" pitchFamily="49" charset="0"/>
                <a:cs typeface="Arial" pitchFamily="34" charset="0"/>
              </a:rPr>
              <a:t>findavgTime</a:t>
            </a:r>
            <a:r>
              <a:rPr kumimoji="0" lang="en-US" b="0" i="0" u="none" strike="noStrike" cap="none" normalizeH="0" baseline="0" dirty="0" smtClean="0">
                <a:ln>
                  <a:noFill/>
                </a:ln>
                <a:effectLst/>
                <a:latin typeface="Consolas" pitchFamily="49" charset="0"/>
                <a:cs typeface="Arial" pitchFamily="34" charset="0"/>
              </a:rPr>
              <a:t>(</a:t>
            </a:r>
            <a:r>
              <a:rPr kumimoji="0" lang="en-US" b="1" i="0" u="none" strike="noStrike" cap="none" normalizeH="0" baseline="0" dirty="0" err="1" smtClean="0">
                <a:ln>
                  <a:noFill/>
                </a:ln>
                <a:effectLst/>
                <a:latin typeface="Consolas" pitchFamily="49" charset="0"/>
                <a:cs typeface="Arial" pitchFamily="34" charset="0"/>
              </a:rPr>
              <a:t>int</a:t>
            </a:r>
            <a:r>
              <a:rPr kumimoji="0" lang="en-US" b="0" i="0" u="none" strike="noStrike" cap="none" normalizeH="0" baseline="0" dirty="0" smtClean="0">
                <a:ln>
                  <a:noFill/>
                </a:ln>
                <a:effectLst/>
                <a:latin typeface="Consolas" pitchFamily="49" charset="0"/>
                <a:cs typeface="Arial" pitchFamily="34" charset="0"/>
              </a:rPr>
              <a:t> processes[], </a:t>
            </a:r>
            <a:r>
              <a:rPr kumimoji="0" lang="en-US" b="1" i="0" u="none" strike="noStrike" cap="none" normalizeH="0" baseline="0" dirty="0" err="1" smtClean="0">
                <a:ln>
                  <a:noFill/>
                </a:ln>
                <a:effectLst/>
                <a:latin typeface="Consolas" pitchFamily="49" charset="0"/>
                <a:cs typeface="Arial" pitchFamily="34" charset="0"/>
              </a:rPr>
              <a:t>int</a:t>
            </a:r>
            <a:r>
              <a:rPr kumimoji="0" lang="en-US" b="0" i="0" u="none" strike="noStrike" cap="none" normalizeH="0" baseline="0" dirty="0" smtClean="0">
                <a:ln>
                  <a:noFill/>
                </a:ln>
                <a:effectLst/>
                <a:latin typeface="Consolas" pitchFamily="49" charset="0"/>
                <a:cs typeface="Arial" pitchFamily="34" charset="0"/>
              </a:rPr>
              <a:t> n, </a:t>
            </a:r>
            <a:r>
              <a:rPr kumimoji="0" lang="en-US" b="1" i="0" u="none" strike="noStrike" cap="none" normalizeH="0" baseline="0" dirty="0" err="1" smtClean="0">
                <a:ln>
                  <a:noFill/>
                </a:ln>
                <a:effectLst/>
                <a:latin typeface="Consolas" pitchFamily="49" charset="0"/>
                <a:cs typeface="Arial" pitchFamily="34" charset="0"/>
              </a:rPr>
              <a:t>int</a:t>
            </a:r>
            <a:r>
              <a:rPr kumimoji="0" lang="en-US" b="0" i="0" u="none" strike="noStrike" cap="none" normalizeH="0" baseline="0" dirty="0" smtClean="0">
                <a:ln>
                  <a:noFill/>
                </a:ln>
                <a:effectLst/>
                <a:latin typeface="Consolas" pitchFamily="49" charset="0"/>
                <a:cs typeface="Arial" pitchFamily="34" charset="0"/>
              </a:rPr>
              <a:t> </a:t>
            </a:r>
            <a:r>
              <a:rPr kumimoji="0" lang="en-US" b="0" i="0" u="none" strike="noStrike" cap="none" normalizeH="0" baseline="0" dirty="0" err="1" smtClean="0">
                <a:ln>
                  <a:noFill/>
                </a:ln>
                <a:effectLst/>
                <a:latin typeface="Consolas" pitchFamily="49" charset="0"/>
                <a:cs typeface="Arial" pitchFamily="34" charset="0"/>
              </a:rPr>
              <a:t>bt</a:t>
            </a:r>
            <a:r>
              <a:rPr kumimoji="0" lang="en-US" b="0" i="0" u="none" strike="noStrike" cap="none" normalizeH="0" baseline="0" dirty="0" smtClean="0">
                <a:ln>
                  <a:noFill/>
                </a:ln>
                <a:effectLst/>
                <a:latin typeface="Consolas" pitchFamily="49" charset="0"/>
                <a:cs typeface="Arial" pitchFamily="34" charset="0"/>
              </a:rPr>
              <a:t>[],</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a:t>
            </a:r>
            <a:r>
              <a:rPr kumimoji="0" lang="en-US" b="1" i="0" u="none" strike="noStrike" cap="none" normalizeH="0" baseline="0" dirty="0" err="1" smtClean="0">
                <a:ln>
                  <a:noFill/>
                </a:ln>
                <a:effectLst/>
                <a:latin typeface="Consolas" pitchFamily="49" charset="0"/>
                <a:cs typeface="Arial" pitchFamily="34" charset="0"/>
              </a:rPr>
              <a:t>int</a:t>
            </a:r>
            <a:r>
              <a:rPr kumimoji="0" lang="en-US" b="0" i="0" u="none" strike="noStrike" cap="none" normalizeH="0" baseline="0" dirty="0" smtClean="0">
                <a:ln>
                  <a:noFill/>
                </a:ln>
                <a:effectLst/>
                <a:latin typeface="Consolas" pitchFamily="49" charset="0"/>
                <a:cs typeface="Arial" pitchFamily="34" charset="0"/>
              </a:rPr>
              <a:t> quantum)</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a:t>
            </a:r>
            <a:r>
              <a:rPr kumimoji="0" lang="en-US" b="1" i="0" u="none" strike="noStrike" cap="none" normalizeH="0" baseline="0" dirty="0" err="1" smtClean="0">
                <a:ln>
                  <a:noFill/>
                </a:ln>
                <a:effectLst/>
                <a:latin typeface="Consolas" pitchFamily="49" charset="0"/>
                <a:cs typeface="Arial" pitchFamily="34" charset="0"/>
              </a:rPr>
              <a:t>int</a:t>
            </a:r>
            <a:r>
              <a:rPr kumimoji="0" lang="en-US" b="0" i="0" u="none" strike="noStrike" cap="none" normalizeH="0" baseline="0" dirty="0" smtClean="0">
                <a:ln>
                  <a:noFill/>
                </a:ln>
                <a:effectLst/>
                <a:latin typeface="Consolas" pitchFamily="49" charset="0"/>
                <a:cs typeface="Arial" pitchFamily="34" charset="0"/>
              </a:rPr>
              <a:t> </a:t>
            </a:r>
            <a:r>
              <a:rPr kumimoji="0" lang="en-US" b="0" i="0" u="none" strike="noStrike" cap="none" normalizeH="0" baseline="0" dirty="0" err="1" smtClean="0">
                <a:ln>
                  <a:noFill/>
                </a:ln>
                <a:effectLst/>
                <a:latin typeface="Consolas" pitchFamily="49" charset="0"/>
                <a:cs typeface="Arial" pitchFamily="34" charset="0"/>
              </a:rPr>
              <a:t>wt</a:t>
            </a:r>
            <a:r>
              <a:rPr kumimoji="0" lang="en-US" b="0" i="0" u="none" strike="noStrike" cap="none" normalizeH="0" baseline="0" dirty="0" smtClean="0">
                <a:ln>
                  <a:noFill/>
                </a:ln>
                <a:effectLst/>
                <a:latin typeface="Consolas" pitchFamily="49" charset="0"/>
                <a:cs typeface="Arial" pitchFamily="34" charset="0"/>
              </a:rPr>
              <a:t>[n], tat[n], </a:t>
            </a:r>
            <a:r>
              <a:rPr kumimoji="0" lang="en-US" b="0" i="0" u="none" strike="noStrike" cap="none" normalizeH="0" baseline="0" dirty="0" err="1" smtClean="0">
                <a:ln>
                  <a:noFill/>
                </a:ln>
                <a:effectLst/>
                <a:latin typeface="Consolas" pitchFamily="49" charset="0"/>
                <a:cs typeface="Arial" pitchFamily="34" charset="0"/>
              </a:rPr>
              <a:t>total_wt</a:t>
            </a:r>
            <a:r>
              <a:rPr kumimoji="0" lang="en-US" b="0" i="0" u="none" strike="noStrike" cap="none" normalizeH="0" baseline="0" dirty="0" smtClean="0">
                <a:ln>
                  <a:noFill/>
                </a:ln>
                <a:effectLst/>
                <a:latin typeface="Consolas" pitchFamily="49" charset="0"/>
                <a:cs typeface="Arial" pitchFamily="34" charset="0"/>
              </a:rPr>
              <a:t> = 0, </a:t>
            </a:r>
            <a:r>
              <a:rPr kumimoji="0" lang="en-US" b="0" i="0" u="none" strike="noStrike" cap="none" normalizeH="0" baseline="0" dirty="0" err="1" smtClean="0">
                <a:ln>
                  <a:noFill/>
                </a:ln>
                <a:effectLst/>
                <a:latin typeface="Consolas" pitchFamily="49" charset="0"/>
                <a:cs typeface="Arial" pitchFamily="34" charset="0"/>
              </a:rPr>
              <a:t>total_tat</a:t>
            </a:r>
            <a:r>
              <a:rPr kumimoji="0" lang="en-US" b="0" i="0" u="none" strike="noStrike" cap="none" normalizeH="0" baseline="0" dirty="0" smtClean="0">
                <a:ln>
                  <a:noFill/>
                </a:ln>
                <a:effectLst/>
                <a:latin typeface="Consolas" pitchFamily="49" charset="0"/>
                <a:cs typeface="Arial" pitchFamily="34" charset="0"/>
              </a:rPr>
              <a:t> = 0;</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 Function to find waiting time of all processes</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a:t>
            </a:r>
            <a:r>
              <a:rPr kumimoji="0" lang="en-US" b="0" i="0" u="none" strike="noStrike" cap="none" normalizeH="0" baseline="0" dirty="0" err="1" smtClean="0">
                <a:ln>
                  <a:noFill/>
                </a:ln>
                <a:effectLst/>
                <a:latin typeface="Consolas" pitchFamily="49" charset="0"/>
                <a:cs typeface="Arial" pitchFamily="34" charset="0"/>
              </a:rPr>
              <a:t>findWaitingTime</a:t>
            </a:r>
            <a:r>
              <a:rPr kumimoji="0" lang="en-US" b="0" i="0" u="none" strike="noStrike" cap="none" normalizeH="0" baseline="0" dirty="0" smtClean="0">
                <a:ln>
                  <a:noFill/>
                </a:ln>
                <a:effectLst/>
                <a:latin typeface="Consolas" pitchFamily="49" charset="0"/>
                <a:cs typeface="Arial" pitchFamily="34" charset="0"/>
              </a:rPr>
              <a:t>(processes, n, </a:t>
            </a:r>
            <a:r>
              <a:rPr kumimoji="0" lang="en-US" b="0" i="0" u="none" strike="noStrike" cap="none" normalizeH="0" baseline="0" dirty="0" err="1" smtClean="0">
                <a:ln>
                  <a:noFill/>
                </a:ln>
                <a:effectLst/>
                <a:latin typeface="Consolas" pitchFamily="49" charset="0"/>
                <a:cs typeface="Arial" pitchFamily="34" charset="0"/>
              </a:rPr>
              <a:t>bt</a:t>
            </a:r>
            <a:r>
              <a:rPr kumimoji="0" lang="en-US" b="0" i="0" u="none" strike="noStrike" cap="none" normalizeH="0" baseline="0" dirty="0" smtClean="0">
                <a:ln>
                  <a:noFill/>
                </a:ln>
                <a:effectLst/>
                <a:latin typeface="Consolas" pitchFamily="49" charset="0"/>
                <a:cs typeface="Arial" pitchFamily="34" charset="0"/>
              </a:rPr>
              <a:t>, </a:t>
            </a:r>
            <a:r>
              <a:rPr kumimoji="0" lang="en-US" b="0" i="0" u="none" strike="noStrike" cap="none" normalizeH="0" baseline="0" dirty="0" err="1" smtClean="0">
                <a:ln>
                  <a:noFill/>
                </a:ln>
                <a:effectLst/>
                <a:latin typeface="Consolas" pitchFamily="49" charset="0"/>
                <a:cs typeface="Arial" pitchFamily="34" charset="0"/>
              </a:rPr>
              <a:t>wt</a:t>
            </a:r>
            <a:r>
              <a:rPr kumimoji="0" lang="en-US" b="0" i="0" u="none" strike="noStrike" cap="none" normalizeH="0" baseline="0" dirty="0" smtClean="0">
                <a:ln>
                  <a:noFill/>
                </a:ln>
                <a:effectLst/>
                <a:latin typeface="Consolas" pitchFamily="49" charset="0"/>
                <a:cs typeface="Arial" pitchFamily="34" charset="0"/>
              </a:rPr>
              <a:t>, quantum);</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 Function to find turn around time for all processes</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a:t>
            </a:r>
            <a:r>
              <a:rPr kumimoji="0" lang="en-US" b="0" i="0" u="none" strike="noStrike" cap="none" normalizeH="0" baseline="0" dirty="0" err="1" smtClean="0">
                <a:ln>
                  <a:noFill/>
                </a:ln>
                <a:effectLst/>
                <a:latin typeface="Consolas" pitchFamily="49" charset="0"/>
                <a:cs typeface="Arial" pitchFamily="34" charset="0"/>
              </a:rPr>
              <a:t>findTurnAroundTime</a:t>
            </a:r>
            <a:r>
              <a:rPr kumimoji="0" lang="en-US" b="0" i="0" u="none" strike="noStrike" cap="none" normalizeH="0" baseline="0" dirty="0" smtClean="0">
                <a:ln>
                  <a:noFill/>
                </a:ln>
                <a:effectLst/>
                <a:latin typeface="Consolas" pitchFamily="49" charset="0"/>
                <a:cs typeface="Arial" pitchFamily="34" charset="0"/>
              </a:rPr>
              <a:t>(processes, n, </a:t>
            </a:r>
            <a:r>
              <a:rPr kumimoji="0" lang="en-US" b="0" i="0" u="none" strike="noStrike" cap="none" normalizeH="0" baseline="0" dirty="0" err="1" smtClean="0">
                <a:ln>
                  <a:noFill/>
                </a:ln>
                <a:effectLst/>
                <a:latin typeface="Consolas" pitchFamily="49" charset="0"/>
                <a:cs typeface="Arial" pitchFamily="34" charset="0"/>
              </a:rPr>
              <a:t>bt</a:t>
            </a:r>
            <a:r>
              <a:rPr kumimoji="0" lang="en-US" b="0" i="0" u="none" strike="noStrike" cap="none" normalizeH="0" baseline="0" dirty="0" smtClean="0">
                <a:ln>
                  <a:noFill/>
                </a:ln>
                <a:effectLst/>
                <a:latin typeface="Consolas" pitchFamily="49" charset="0"/>
                <a:cs typeface="Arial" pitchFamily="34" charset="0"/>
              </a:rPr>
              <a:t>, </a:t>
            </a:r>
            <a:r>
              <a:rPr kumimoji="0" lang="en-US" b="0" i="0" u="none" strike="noStrike" cap="none" normalizeH="0" baseline="0" dirty="0" err="1" smtClean="0">
                <a:ln>
                  <a:noFill/>
                </a:ln>
                <a:effectLst/>
                <a:latin typeface="Consolas" pitchFamily="49" charset="0"/>
                <a:cs typeface="Arial" pitchFamily="34" charset="0"/>
              </a:rPr>
              <a:t>wt</a:t>
            </a:r>
            <a:r>
              <a:rPr kumimoji="0" lang="en-US" b="0" i="0" u="none" strike="noStrike" cap="none" normalizeH="0" baseline="0" dirty="0" smtClean="0">
                <a:ln>
                  <a:noFill/>
                </a:ln>
                <a:effectLst/>
                <a:latin typeface="Consolas" pitchFamily="49" charset="0"/>
                <a:cs typeface="Arial" pitchFamily="34" charset="0"/>
              </a:rPr>
              <a:t>, tat);</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 Display processes along with all details</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a:t>
            </a:r>
            <a:r>
              <a:rPr kumimoji="0" lang="en-US" b="0" i="0" u="none" strike="noStrike" cap="none" normalizeH="0" baseline="0" dirty="0" err="1" smtClean="0">
                <a:ln>
                  <a:noFill/>
                </a:ln>
                <a:effectLst/>
                <a:latin typeface="Consolas" pitchFamily="49" charset="0"/>
                <a:cs typeface="Arial" pitchFamily="34" charset="0"/>
              </a:rPr>
              <a:t>cout</a:t>
            </a:r>
            <a:r>
              <a:rPr kumimoji="0" lang="en-US" b="0" i="0" u="none" strike="noStrike" cap="none" normalizeH="0" baseline="0" dirty="0" smtClean="0">
                <a:ln>
                  <a:noFill/>
                </a:ln>
                <a:effectLst/>
                <a:latin typeface="Consolas" pitchFamily="49" charset="0"/>
                <a:cs typeface="Arial" pitchFamily="34" charset="0"/>
              </a:rPr>
              <a:t> &lt;&lt; "Processes "&lt;&lt; " Burst time "</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&lt;&lt; " Waiting time " &lt;&lt; " Turn around time\n";</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 Calculate total waiting time and total turn</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 around time</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a:t>
            </a:r>
            <a:r>
              <a:rPr kumimoji="0" lang="en-US" b="1" i="0" u="none" strike="noStrike" cap="none" normalizeH="0" baseline="0" dirty="0" smtClean="0">
                <a:ln>
                  <a:noFill/>
                </a:ln>
                <a:effectLst/>
                <a:latin typeface="Consolas" pitchFamily="49" charset="0"/>
                <a:cs typeface="Arial" pitchFamily="34" charset="0"/>
              </a:rPr>
              <a:t>for</a:t>
            </a:r>
            <a:r>
              <a:rPr kumimoji="0" lang="en-US" b="0" i="0" u="none" strike="noStrike" cap="none" normalizeH="0" baseline="0" dirty="0" smtClean="0">
                <a:ln>
                  <a:noFill/>
                </a:ln>
                <a:effectLst/>
                <a:latin typeface="Consolas" pitchFamily="49" charset="0"/>
                <a:cs typeface="Arial" pitchFamily="34" charset="0"/>
              </a:rPr>
              <a:t> (</a:t>
            </a:r>
            <a:r>
              <a:rPr kumimoji="0" lang="en-US" b="1" i="0" u="none" strike="noStrike" cap="none" normalizeH="0" baseline="0" dirty="0" err="1" smtClean="0">
                <a:ln>
                  <a:noFill/>
                </a:ln>
                <a:effectLst/>
                <a:latin typeface="Consolas" pitchFamily="49" charset="0"/>
                <a:cs typeface="Arial" pitchFamily="34" charset="0"/>
              </a:rPr>
              <a:t>int</a:t>
            </a:r>
            <a:r>
              <a:rPr kumimoji="0" lang="en-US" b="0" i="0" u="none" strike="noStrike" cap="none" normalizeH="0" baseline="0" dirty="0" smtClean="0">
                <a:ln>
                  <a:noFill/>
                </a:ln>
                <a:effectLst/>
                <a:latin typeface="Consolas" pitchFamily="49" charset="0"/>
                <a:cs typeface="Arial" pitchFamily="34" charset="0"/>
              </a:rPr>
              <a:t> i=0; i&lt;n; i++)</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a:t>
            </a:r>
            <a:endParaRPr kumimoji="0" lang="en-US" b="0" i="0" u="none" strike="noStrike" cap="none" normalizeH="0" baseline="0" dirty="0" smtClean="0">
              <a:ln>
                <a:noFill/>
              </a:ln>
              <a:effectLst/>
              <a:latin typeface="Arial" pitchFamily="34" charset="0"/>
              <a:cs typeface="Arial" pitchFamily="34" charset="0"/>
            </a:endParaRPr>
          </a:p>
        </p:txBody>
      </p:sp>
    </p:spTree>
    <p:extLst>
      <p:ext uri="{BB962C8B-B14F-4D97-AF65-F5344CB8AC3E}">
        <p14:creationId xmlns:p14="http://schemas.microsoft.com/office/powerpoint/2010/main" val="20267276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p:cNvSpPr>
            <a:spLocks noChangeArrowheads="1"/>
          </p:cNvSpPr>
          <p:nvPr/>
        </p:nvSpPr>
        <p:spPr bwMode="auto">
          <a:xfrm>
            <a:off x="293076" y="610758"/>
            <a:ext cx="11793415" cy="5816977"/>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b="0" i="0" u="none" strike="noStrike" cap="none" normalizeH="0" baseline="0" dirty="0" err="1" smtClean="0">
                <a:ln>
                  <a:noFill/>
                </a:ln>
                <a:effectLst/>
                <a:latin typeface="Consolas" pitchFamily="49" charset="0"/>
                <a:cs typeface="Arial" pitchFamily="34" charset="0"/>
              </a:rPr>
              <a:t>cout</a:t>
            </a:r>
            <a:r>
              <a:rPr kumimoji="0" lang="en-US" b="0" i="0" u="none" strike="noStrike" cap="none" normalizeH="0" baseline="0" dirty="0" smtClean="0">
                <a:ln>
                  <a:noFill/>
                </a:ln>
                <a:effectLst/>
                <a:latin typeface="Consolas" pitchFamily="49" charset="0"/>
                <a:cs typeface="Arial" pitchFamily="34" charset="0"/>
              </a:rPr>
              <a:t> &lt;&lt; "Average waiting time = "</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&lt;&lt; (</a:t>
            </a:r>
            <a:r>
              <a:rPr kumimoji="0" lang="en-US" b="1" i="0" u="none" strike="noStrike" cap="none" normalizeH="0" baseline="0" dirty="0" smtClean="0">
                <a:ln>
                  <a:noFill/>
                </a:ln>
                <a:effectLst/>
                <a:latin typeface="Consolas" pitchFamily="49" charset="0"/>
                <a:cs typeface="Arial" pitchFamily="34" charset="0"/>
              </a:rPr>
              <a:t>float</a:t>
            </a:r>
            <a:r>
              <a:rPr kumimoji="0" lang="en-US" b="0" i="0" u="none" strike="noStrike" cap="none" normalizeH="0" baseline="0" dirty="0" smtClean="0">
                <a:ln>
                  <a:noFill/>
                </a:ln>
                <a:effectLst/>
                <a:latin typeface="Consolas" pitchFamily="49" charset="0"/>
                <a:cs typeface="Arial" pitchFamily="34" charset="0"/>
              </a:rPr>
              <a:t>)</a:t>
            </a:r>
            <a:r>
              <a:rPr kumimoji="0" lang="en-US" b="0" i="0" u="none" strike="noStrike" cap="none" normalizeH="0" baseline="0" dirty="0" err="1" smtClean="0">
                <a:ln>
                  <a:noFill/>
                </a:ln>
                <a:effectLst/>
                <a:latin typeface="Consolas" pitchFamily="49" charset="0"/>
                <a:cs typeface="Arial" pitchFamily="34" charset="0"/>
              </a:rPr>
              <a:t>total_wt</a:t>
            </a:r>
            <a:r>
              <a:rPr kumimoji="0" lang="en-US" b="0" i="0" u="none" strike="noStrike" cap="none" normalizeH="0" baseline="0" dirty="0" smtClean="0">
                <a:ln>
                  <a:noFill/>
                </a:ln>
                <a:effectLst/>
                <a:latin typeface="Consolas" pitchFamily="49" charset="0"/>
                <a:cs typeface="Arial" pitchFamily="34" charset="0"/>
              </a:rPr>
              <a:t> / (</a:t>
            </a:r>
            <a:r>
              <a:rPr kumimoji="0" lang="en-US" b="1" i="0" u="none" strike="noStrike" cap="none" normalizeH="0" baseline="0" dirty="0" smtClean="0">
                <a:ln>
                  <a:noFill/>
                </a:ln>
                <a:effectLst/>
                <a:latin typeface="Consolas" pitchFamily="49" charset="0"/>
                <a:cs typeface="Arial" pitchFamily="34" charset="0"/>
              </a:rPr>
              <a:t>float</a:t>
            </a:r>
            <a:r>
              <a:rPr kumimoji="0" lang="en-US" b="0" i="0" u="none" strike="noStrike" cap="none" normalizeH="0" baseline="0" dirty="0" smtClean="0">
                <a:ln>
                  <a:noFill/>
                </a:ln>
                <a:effectLst/>
                <a:latin typeface="Consolas" pitchFamily="49" charset="0"/>
                <a:cs typeface="Arial" pitchFamily="34" charset="0"/>
              </a:rPr>
              <a:t>)n;</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a:t>
            </a:r>
            <a:r>
              <a:rPr kumimoji="0" lang="en-US" b="0" i="0" u="none" strike="noStrike" cap="none" normalizeH="0" baseline="0" dirty="0" err="1" smtClean="0">
                <a:ln>
                  <a:noFill/>
                </a:ln>
                <a:effectLst/>
                <a:latin typeface="Consolas" pitchFamily="49" charset="0"/>
                <a:cs typeface="Arial" pitchFamily="34" charset="0"/>
              </a:rPr>
              <a:t>cout</a:t>
            </a:r>
            <a:r>
              <a:rPr kumimoji="0" lang="en-US" b="0" i="0" u="none" strike="noStrike" cap="none" normalizeH="0" baseline="0" dirty="0" smtClean="0">
                <a:ln>
                  <a:noFill/>
                </a:ln>
                <a:effectLst/>
                <a:latin typeface="Consolas" pitchFamily="49" charset="0"/>
                <a:cs typeface="Arial" pitchFamily="34" charset="0"/>
              </a:rPr>
              <a:t> &lt;&lt; "\</a:t>
            </a:r>
            <a:r>
              <a:rPr kumimoji="0" lang="en-US" b="0" i="0" u="none" strike="noStrike" cap="none" normalizeH="0" baseline="0" dirty="0" err="1" smtClean="0">
                <a:ln>
                  <a:noFill/>
                </a:ln>
                <a:effectLst/>
                <a:latin typeface="Consolas" pitchFamily="49" charset="0"/>
                <a:cs typeface="Arial" pitchFamily="34" charset="0"/>
              </a:rPr>
              <a:t>nAverage</a:t>
            </a:r>
            <a:r>
              <a:rPr kumimoji="0" lang="en-US" b="0" i="0" u="none" strike="noStrike" cap="none" normalizeH="0" baseline="0" dirty="0" smtClean="0">
                <a:ln>
                  <a:noFill/>
                </a:ln>
                <a:effectLst/>
                <a:latin typeface="Consolas" pitchFamily="49" charset="0"/>
                <a:cs typeface="Arial" pitchFamily="34" charset="0"/>
              </a:rPr>
              <a:t> turn around time = "</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&lt;&lt; (</a:t>
            </a:r>
            <a:r>
              <a:rPr kumimoji="0" lang="en-US" b="1" i="0" u="none" strike="noStrike" cap="none" normalizeH="0" baseline="0" dirty="0" smtClean="0">
                <a:ln>
                  <a:noFill/>
                </a:ln>
                <a:effectLst/>
                <a:latin typeface="Consolas" pitchFamily="49" charset="0"/>
                <a:cs typeface="Arial" pitchFamily="34" charset="0"/>
              </a:rPr>
              <a:t>float</a:t>
            </a:r>
            <a:r>
              <a:rPr kumimoji="0" lang="en-US" b="0" i="0" u="none" strike="noStrike" cap="none" normalizeH="0" baseline="0" dirty="0" smtClean="0">
                <a:ln>
                  <a:noFill/>
                </a:ln>
                <a:effectLst/>
                <a:latin typeface="Consolas" pitchFamily="49" charset="0"/>
                <a:cs typeface="Arial" pitchFamily="34" charset="0"/>
              </a:rPr>
              <a:t>)</a:t>
            </a:r>
            <a:r>
              <a:rPr kumimoji="0" lang="en-US" b="0" i="0" u="none" strike="noStrike" cap="none" normalizeH="0" baseline="0" dirty="0" err="1" smtClean="0">
                <a:ln>
                  <a:noFill/>
                </a:ln>
                <a:effectLst/>
                <a:latin typeface="Consolas" pitchFamily="49" charset="0"/>
                <a:cs typeface="Arial" pitchFamily="34" charset="0"/>
              </a:rPr>
              <a:t>total_tat</a:t>
            </a:r>
            <a:r>
              <a:rPr kumimoji="0" lang="en-US" b="0" i="0" u="none" strike="noStrike" cap="none" normalizeH="0" baseline="0" dirty="0" smtClean="0">
                <a:ln>
                  <a:noFill/>
                </a:ln>
                <a:effectLst/>
                <a:latin typeface="Consolas" pitchFamily="49" charset="0"/>
                <a:cs typeface="Arial" pitchFamily="34" charset="0"/>
              </a:rPr>
              <a:t> / (</a:t>
            </a:r>
            <a:r>
              <a:rPr kumimoji="0" lang="en-US" b="1" i="0" u="none" strike="noStrike" cap="none" normalizeH="0" baseline="0" dirty="0" smtClean="0">
                <a:ln>
                  <a:noFill/>
                </a:ln>
                <a:effectLst/>
                <a:latin typeface="Consolas" pitchFamily="49" charset="0"/>
                <a:cs typeface="Arial" pitchFamily="34" charset="0"/>
              </a:rPr>
              <a:t>float</a:t>
            </a:r>
            <a:r>
              <a:rPr kumimoji="0" lang="en-US" b="0" i="0" u="none" strike="noStrike" cap="none" normalizeH="0" baseline="0" dirty="0" smtClean="0">
                <a:ln>
                  <a:noFill/>
                </a:ln>
                <a:effectLst/>
                <a:latin typeface="Consolas" pitchFamily="49" charset="0"/>
                <a:cs typeface="Arial" pitchFamily="34" charset="0"/>
              </a:rPr>
              <a:t>)n;</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Driver code</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1" i="0" u="none" strike="noStrike" cap="none" normalizeH="0" baseline="0" dirty="0" err="1" smtClean="0">
                <a:ln>
                  <a:noFill/>
                </a:ln>
                <a:effectLst/>
                <a:latin typeface="Consolas" pitchFamily="49" charset="0"/>
                <a:cs typeface="Arial" pitchFamily="34" charset="0"/>
              </a:rPr>
              <a:t>int</a:t>
            </a:r>
            <a:r>
              <a:rPr kumimoji="0" lang="en-US" b="0" i="0" u="none" strike="noStrike" cap="none" normalizeH="0" baseline="0" dirty="0" smtClean="0">
                <a:ln>
                  <a:noFill/>
                </a:ln>
                <a:effectLst/>
                <a:latin typeface="Consolas" pitchFamily="49" charset="0"/>
                <a:cs typeface="Arial" pitchFamily="34" charset="0"/>
              </a:rPr>
              <a:t> main()</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 process id's</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a:t>
            </a:r>
            <a:r>
              <a:rPr kumimoji="0" lang="en-US" b="1" i="0" u="none" strike="noStrike" cap="none" normalizeH="0" baseline="0" dirty="0" err="1" smtClean="0">
                <a:ln>
                  <a:noFill/>
                </a:ln>
                <a:effectLst/>
                <a:latin typeface="Consolas" pitchFamily="49" charset="0"/>
                <a:cs typeface="Arial" pitchFamily="34" charset="0"/>
              </a:rPr>
              <a:t>int</a:t>
            </a:r>
            <a:r>
              <a:rPr kumimoji="0" lang="en-US" b="0" i="0" u="none" strike="noStrike" cap="none" normalizeH="0" baseline="0" dirty="0" smtClean="0">
                <a:ln>
                  <a:noFill/>
                </a:ln>
                <a:effectLst/>
                <a:latin typeface="Consolas" pitchFamily="49" charset="0"/>
                <a:cs typeface="Arial" pitchFamily="34" charset="0"/>
              </a:rPr>
              <a:t> processes[] = { 1, 2, 3};</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a:t>
            </a:r>
            <a:r>
              <a:rPr kumimoji="0" lang="en-US" b="1" i="0" u="none" strike="noStrike" cap="none" normalizeH="0" baseline="0" dirty="0" err="1" smtClean="0">
                <a:ln>
                  <a:noFill/>
                </a:ln>
                <a:effectLst/>
                <a:latin typeface="Consolas" pitchFamily="49" charset="0"/>
                <a:cs typeface="Arial" pitchFamily="34" charset="0"/>
              </a:rPr>
              <a:t>int</a:t>
            </a:r>
            <a:r>
              <a:rPr kumimoji="0" lang="en-US" b="0" i="0" u="none" strike="noStrike" cap="none" normalizeH="0" baseline="0" dirty="0" smtClean="0">
                <a:ln>
                  <a:noFill/>
                </a:ln>
                <a:effectLst/>
                <a:latin typeface="Consolas" pitchFamily="49" charset="0"/>
                <a:cs typeface="Arial" pitchFamily="34" charset="0"/>
              </a:rPr>
              <a:t> n = </a:t>
            </a:r>
            <a:r>
              <a:rPr kumimoji="0" lang="en-US" b="1" i="0" u="none" strike="noStrike" cap="none" normalizeH="0" baseline="0" dirty="0" err="1" smtClean="0">
                <a:ln>
                  <a:noFill/>
                </a:ln>
                <a:effectLst/>
                <a:latin typeface="Consolas" pitchFamily="49" charset="0"/>
                <a:cs typeface="Arial" pitchFamily="34" charset="0"/>
              </a:rPr>
              <a:t>sizeof</a:t>
            </a:r>
            <a:r>
              <a:rPr kumimoji="0" lang="en-US" b="0" i="0" u="none" strike="noStrike" cap="none" normalizeH="0" baseline="0" dirty="0" smtClean="0">
                <a:ln>
                  <a:noFill/>
                </a:ln>
                <a:effectLst/>
                <a:latin typeface="Consolas" pitchFamily="49" charset="0"/>
                <a:cs typeface="Arial" pitchFamily="34" charset="0"/>
              </a:rPr>
              <a:t> processes / </a:t>
            </a:r>
            <a:r>
              <a:rPr kumimoji="0" lang="en-US" b="1" i="0" u="none" strike="noStrike" cap="none" normalizeH="0" baseline="0" dirty="0" err="1" smtClean="0">
                <a:ln>
                  <a:noFill/>
                </a:ln>
                <a:effectLst/>
                <a:latin typeface="Consolas" pitchFamily="49" charset="0"/>
                <a:cs typeface="Arial" pitchFamily="34" charset="0"/>
              </a:rPr>
              <a:t>sizeof</a:t>
            </a:r>
            <a:r>
              <a:rPr kumimoji="0" lang="en-US" b="0" i="0" u="none" strike="noStrike" cap="none" normalizeH="0" baseline="0" dirty="0" smtClean="0">
                <a:ln>
                  <a:noFill/>
                </a:ln>
                <a:effectLst/>
                <a:latin typeface="Consolas" pitchFamily="49" charset="0"/>
                <a:cs typeface="Arial" pitchFamily="34" charset="0"/>
              </a:rPr>
              <a:t> processes[0];</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 Burst time of all processes</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a:t>
            </a:r>
            <a:r>
              <a:rPr kumimoji="0" lang="en-US" b="1" i="0" u="none" strike="noStrike" cap="none" normalizeH="0" baseline="0" dirty="0" err="1" smtClean="0">
                <a:ln>
                  <a:noFill/>
                </a:ln>
                <a:effectLst/>
                <a:latin typeface="Consolas" pitchFamily="49" charset="0"/>
                <a:cs typeface="Arial" pitchFamily="34" charset="0"/>
              </a:rPr>
              <a:t>int</a:t>
            </a:r>
            <a:r>
              <a:rPr kumimoji="0" lang="en-US" b="0" i="0" u="none" strike="noStrike" cap="none" normalizeH="0" baseline="0" dirty="0" smtClean="0">
                <a:ln>
                  <a:noFill/>
                </a:ln>
                <a:effectLst/>
                <a:latin typeface="Consolas" pitchFamily="49" charset="0"/>
                <a:cs typeface="Arial" pitchFamily="34" charset="0"/>
              </a:rPr>
              <a:t> </a:t>
            </a:r>
            <a:r>
              <a:rPr kumimoji="0" lang="en-US" b="0" i="0" u="none" strike="noStrike" cap="none" normalizeH="0" baseline="0" dirty="0" err="1" smtClean="0">
                <a:ln>
                  <a:noFill/>
                </a:ln>
                <a:effectLst/>
                <a:latin typeface="Consolas" pitchFamily="49" charset="0"/>
                <a:cs typeface="Arial" pitchFamily="34" charset="0"/>
              </a:rPr>
              <a:t>burst_time</a:t>
            </a:r>
            <a:r>
              <a:rPr kumimoji="0" lang="en-US" b="0" i="0" u="none" strike="noStrike" cap="none" normalizeH="0" baseline="0" dirty="0" smtClean="0">
                <a:ln>
                  <a:noFill/>
                </a:ln>
                <a:effectLst/>
                <a:latin typeface="Consolas" pitchFamily="49" charset="0"/>
                <a:cs typeface="Arial" pitchFamily="34" charset="0"/>
              </a:rPr>
              <a:t>[] = {10, 5, 8};</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 Time quantum</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a:t>
            </a:r>
            <a:r>
              <a:rPr kumimoji="0" lang="en-US" b="1" i="0" u="none" strike="noStrike" cap="none" normalizeH="0" baseline="0" dirty="0" err="1" smtClean="0">
                <a:ln>
                  <a:noFill/>
                </a:ln>
                <a:effectLst/>
                <a:latin typeface="Consolas" pitchFamily="49" charset="0"/>
                <a:cs typeface="Arial" pitchFamily="34" charset="0"/>
              </a:rPr>
              <a:t>int</a:t>
            </a:r>
            <a:r>
              <a:rPr kumimoji="0" lang="en-US" b="0" i="0" u="none" strike="noStrike" cap="none" normalizeH="0" baseline="0" dirty="0" smtClean="0">
                <a:ln>
                  <a:noFill/>
                </a:ln>
                <a:effectLst/>
                <a:latin typeface="Consolas" pitchFamily="49" charset="0"/>
                <a:cs typeface="Arial" pitchFamily="34" charset="0"/>
              </a:rPr>
              <a:t> quantum = 2;</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a:t>
            </a:r>
            <a:r>
              <a:rPr kumimoji="0" lang="en-US" b="0" i="0" u="none" strike="noStrike" cap="none" normalizeH="0" baseline="0" dirty="0" err="1" smtClean="0">
                <a:ln>
                  <a:noFill/>
                </a:ln>
                <a:effectLst/>
                <a:latin typeface="Consolas" pitchFamily="49" charset="0"/>
                <a:cs typeface="Arial" pitchFamily="34" charset="0"/>
              </a:rPr>
              <a:t>findavgTime</a:t>
            </a:r>
            <a:r>
              <a:rPr kumimoji="0" lang="en-US" b="0" i="0" u="none" strike="noStrike" cap="none" normalizeH="0" baseline="0" dirty="0" smtClean="0">
                <a:ln>
                  <a:noFill/>
                </a:ln>
                <a:effectLst/>
                <a:latin typeface="Consolas" pitchFamily="49" charset="0"/>
                <a:cs typeface="Arial" pitchFamily="34" charset="0"/>
              </a:rPr>
              <a:t>(processes, n, </a:t>
            </a:r>
            <a:r>
              <a:rPr kumimoji="0" lang="en-US" b="0" i="0" u="none" strike="noStrike" cap="none" normalizeH="0" baseline="0" dirty="0" err="1" smtClean="0">
                <a:ln>
                  <a:noFill/>
                </a:ln>
                <a:effectLst/>
                <a:latin typeface="Consolas" pitchFamily="49" charset="0"/>
                <a:cs typeface="Arial" pitchFamily="34" charset="0"/>
              </a:rPr>
              <a:t>burst_time</a:t>
            </a:r>
            <a:r>
              <a:rPr kumimoji="0" lang="en-US" b="0" i="0" u="none" strike="noStrike" cap="none" normalizeH="0" baseline="0" dirty="0" smtClean="0">
                <a:ln>
                  <a:noFill/>
                </a:ln>
                <a:effectLst/>
                <a:latin typeface="Consolas" pitchFamily="49" charset="0"/>
                <a:cs typeface="Arial" pitchFamily="34" charset="0"/>
              </a:rPr>
              <a:t>, quantum);</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    </a:t>
            </a:r>
            <a:r>
              <a:rPr kumimoji="0" lang="en-US" b="1" i="0" u="none" strike="noStrike" cap="none" normalizeH="0" baseline="0" dirty="0" smtClean="0">
                <a:ln>
                  <a:noFill/>
                </a:ln>
                <a:effectLst/>
                <a:latin typeface="Consolas" pitchFamily="49" charset="0"/>
                <a:cs typeface="Arial" pitchFamily="34" charset="0"/>
              </a:rPr>
              <a:t>return</a:t>
            </a:r>
            <a:r>
              <a:rPr kumimoji="0" lang="en-US" b="0" i="0" u="none" strike="noStrike" cap="none" normalizeH="0" baseline="0" dirty="0" smtClean="0">
                <a:ln>
                  <a:noFill/>
                </a:ln>
                <a:effectLst/>
                <a:latin typeface="Consolas" pitchFamily="49" charset="0"/>
                <a:cs typeface="Arial" pitchFamily="34" charset="0"/>
              </a:rPr>
              <a:t> 0;</a:t>
            </a:r>
            <a:endParaRPr kumimoji="0" lang="en-US" b="0" i="0" u="none" strike="noStrike" cap="none" normalizeH="0" baseline="0" dirty="0" smtClean="0">
              <a:ln>
                <a:noFill/>
              </a:ln>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smtClean="0">
                <a:ln>
                  <a:noFill/>
                </a:ln>
                <a:effectLst/>
                <a:latin typeface="Consolas" pitchFamily="49" charset="0"/>
                <a:cs typeface="Arial" pitchFamily="34" charset="0"/>
              </a:rPr>
              <a:t>}</a:t>
            </a:r>
            <a:endParaRPr kumimoji="0" lang="en-US" b="0" i="0" u="none" strike="noStrike" cap="none" normalizeH="0" baseline="0" dirty="0" smtClean="0">
              <a:ln>
                <a:noFill/>
              </a:ln>
              <a:effectLst/>
              <a:latin typeface="Arial" pitchFamily="34" charset="0"/>
              <a:cs typeface="Arial" pitchFamily="34" charset="0"/>
            </a:endParaRPr>
          </a:p>
        </p:txBody>
      </p:sp>
    </p:spTree>
    <p:extLst>
      <p:ext uri="{BB962C8B-B14F-4D97-AF65-F5344CB8AC3E}">
        <p14:creationId xmlns:p14="http://schemas.microsoft.com/office/powerpoint/2010/main" val="33402703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0247" y="2063262"/>
            <a:ext cx="8170983" cy="3600986"/>
          </a:xfrm>
          <a:prstGeom prst="rect">
            <a:avLst/>
          </a:prstGeom>
          <a:noFill/>
        </p:spPr>
        <p:txBody>
          <a:bodyPr wrap="square" rtlCol="0">
            <a:spAutoFit/>
          </a:bodyPr>
          <a:lstStyle/>
          <a:p>
            <a:pPr fontAlgn="base"/>
            <a:r>
              <a:rPr lang="en-US" sz="2800" b="1" dirty="0"/>
              <a:t>Output:</a:t>
            </a:r>
            <a:r>
              <a:rPr lang="en-US" sz="2800" dirty="0"/>
              <a:t> </a:t>
            </a:r>
            <a:br>
              <a:rPr lang="en-US" sz="2800" dirty="0"/>
            </a:br>
            <a:r>
              <a:rPr lang="en-US" sz="2800" dirty="0"/>
              <a:t> </a:t>
            </a:r>
          </a:p>
          <a:p>
            <a:r>
              <a:rPr lang="en-US" sz="2400" dirty="0"/>
              <a:t>Processes 	</a:t>
            </a:r>
            <a:r>
              <a:rPr lang="en-US" sz="2400" dirty="0" smtClean="0"/>
              <a:t>Burst </a:t>
            </a:r>
            <a:r>
              <a:rPr lang="en-US" sz="2400" dirty="0"/>
              <a:t>time </a:t>
            </a:r>
            <a:r>
              <a:rPr lang="en-US" sz="2400" dirty="0" smtClean="0"/>
              <a:t>	Waiting </a:t>
            </a:r>
            <a:r>
              <a:rPr lang="en-US" sz="2400" dirty="0"/>
              <a:t>time </a:t>
            </a:r>
            <a:r>
              <a:rPr lang="en-US" sz="2400" dirty="0" smtClean="0"/>
              <a:t>	Turn </a:t>
            </a:r>
            <a:r>
              <a:rPr lang="en-US" sz="2400" dirty="0"/>
              <a:t>around </a:t>
            </a:r>
            <a:r>
              <a:rPr lang="en-US" sz="2400" dirty="0" smtClean="0"/>
              <a:t>time</a:t>
            </a:r>
          </a:p>
          <a:p>
            <a:r>
              <a:rPr lang="en-US" dirty="0" smtClean="0"/>
              <a:t>  </a:t>
            </a:r>
            <a:r>
              <a:rPr lang="en-US" sz="2400" dirty="0" smtClean="0"/>
              <a:t>1 		10		13		23</a:t>
            </a:r>
          </a:p>
          <a:p>
            <a:r>
              <a:rPr lang="en-US" sz="2400" dirty="0" smtClean="0"/>
              <a:t> 2		 5		10		15</a:t>
            </a:r>
          </a:p>
          <a:p>
            <a:r>
              <a:rPr lang="en-US" sz="2400" dirty="0" smtClean="0"/>
              <a:t> 3        		 8		13		21</a:t>
            </a:r>
            <a:r>
              <a:rPr lang="en-US" dirty="0" smtClean="0"/>
              <a:t>				</a:t>
            </a:r>
          </a:p>
          <a:p>
            <a:r>
              <a:rPr lang="en-US" sz="2000" dirty="0" smtClean="0"/>
              <a:t>Average waiting time =12</a:t>
            </a:r>
          </a:p>
          <a:p>
            <a:r>
              <a:rPr lang="en-US" sz="2000" dirty="0" smtClean="0"/>
              <a:t>Average turn- </a:t>
            </a:r>
            <a:r>
              <a:rPr lang="en-US" sz="2000" dirty="0" err="1" smtClean="0"/>
              <a:t>arround</a:t>
            </a:r>
            <a:r>
              <a:rPr lang="en-US" sz="2000" dirty="0" smtClean="0"/>
              <a:t>  time=19.667</a:t>
            </a:r>
            <a:endParaRPr lang="en-US" sz="2000" dirty="0"/>
          </a:p>
          <a:p>
            <a:endParaRPr lang="en-US" dirty="0" smtClean="0"/>
          </a:p>
        </p:txBody>
      </p:sp>
    </p:spTree>
    <p:extLst>
      <p:ext uri="{BB962C8B-B14F-4D97-AF65-F5344CB8AC3E}">
        <p14:creationId xmlns:p14="http://schemas.microsoft.com/office/powerpoint/2010/main" val="19474811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77389" y="862148"/>
            <a:ext cx="10515600" cy="4885509"/>
          </a:xfrm>
        </p:spPr>
        <p:txBody>
          <a:bodyPr>
            <a:normAutofit/>
          </a:bodyPr>
          <a:lstStyle/>
          <a:p>
            <a:pPr marL="0" indent="0">
              <a:buNone/>
            </a:pPr>
            <a:r>
              <a:rPr lang="en-US" sz="3200" b="1" dirty="0" smtClean="0"/>
              <a:t>Advantages:</a:t>
            </a:r>
          </a:p>
          <a:p>
            <a:pPr marL="0" indent="0">
              <a:buNone/>
            </a:pPr>
            <a:endParaRPr lang="en-US" sz="2400" dirty="0" smtClean="0"/>
          </a:p>
          <a:p>
            <a:pPr marL="0" indent="0">
              <a:buNone/>
            </a:pPr>
            <a:r>
              <a:rPr lang="en-US" sz="2400" dirty="0" smtClean="0"/>
              <a:t>1.There </a:t>
            </a:r>
            <a:r>
              <a:rPr lang="en-US" sz="2400" dirty="0"/>
              <a:t>is fairness since every process gets equal share of CPU</a:t>
            </a:r>
            <a:r>
              <a:rPr lang="en-US" sz="2400" dirty="0" smtClean="0"/>
              <a:t>.</a:t>
            </a:r>
          </a:p>
          <a:p>
            <a:pPr marL="0" indent="0">
              <a:buNone/>
            </a:pPr>
            <a:r>
              <a:rPr lang="en-US" sz="2400" dirty="0" smtClean="0"/>
              <a:t>2.The </a:t>
            </a:r>
            <a:r>
              <a:rPr lang="en-US" sz="2400" dirty="0"/>
              <a:t>newly created process is added to end of ready queue</a:t>
            </a:r>
            <a:r>
              <a:rPr lang="en-US" sz="2400" dirty="0" smtClean="0"/>
              <a:t>.</a:t>
            </a:r>
          </a:p>
          <a:p>
            <a:pPr marL="0" indent="0">
              <a:buNone/>
            </a:pPr>
            <a:r>
              <a:rPr lang="en-US" sz="2400" dirty="0" smtClean="0"/>
              <a:t>3.A </a:t>
            </a:r>
            <a:r>
              <a:rPr lang="en-US" sz="2400" dirty="0"/>
              <a:t>round-robin scheduler generally employs time-sharing, giving each job a time slot or quantum. </a:t>
            </a:r>
            <a:endParaRPr lang="en-US" sz="2400" dirty="0" smtClean="0"/>
          </a:p>
          <a:p>
            <a:pPr marL="0" indent="0">
              <a:buNone/>
            </a:pPr>
            <a:r>
              <a:rPr lang="en-US" sz="2400" dirty="0" smtClean="0"/>
              <a:t>4.While </a:t>
            </a:r>
            <a:r>
              <a:rPr lang="en-US" sz="2400" dirty="0"/>
              <a:t>performing a round-robin </a:t>
            </a:r>
            <a:r>
              <a:rPr lang="en-US" sz="2400" dirty="0" err="1"/>
              <a:t>scheduling,a</a:t>
            </a:r>
            <a:r>
              <a:rPr lang="en-US" sz="2400" dirty="0"/>
              <a:t> particular time quantum is </a:t>
            </a:r>
            <a:r>
              <a:rPr lang="en-US" sz="2400" dirty="0" err="1"/>
              <a:t>alloted</a:t>
            </a:r>
            <a:r>
              <a:rPr lang="en-US" sz="2400" dirty="0"/>
              <a:t> to different jobs. </a:t>
            </a:r>
            <a:endParaRPr lang="en-US" sz="2400" dirty="0" smtClean="0"/>
          </a:p>
          <a:p>
            <a:pPr marL="0" indent="0">
              <a:buNone/>
            </a:pPr>
            <a:r>
              <a:rPr lang="en-US" sz="2400" dirty="0" smtClean="0"/>
              <a:t>5.Each </a:t>
            </a:r>
            <a:r>
              <a:rPr lang="en-US" sz="2400" dirty="0"/>
              <a:t>process get a chance to reschedule after a particular quantum time in this scheduling. </a:t>
            </a:r>
            <a:endParaRPr lang="en-US" sz="2400" dirty="0" smtClean="0"/>
          </a:p>
          <a:p>
            <a:pPr marL="0" indent="0">
              <a:buNone/>
            </a:pPr>
            <a:endParaRPr lang="en-US" sz="2400" dirty="0" smtClean="0"/>
          </a:p>
        </p:txBody>
      </p:sp>
    </p:spTree>
    <p:extLst>
      <p:ext uri="{BB962C8B-B14F-4D97-AF65-F5344CB8AC3E}">
        <p14:creationId xmlns:p14="http://schemas.microsoft.com/office/powerpoint/2010/main" val="3026440947"/>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b="1" dirty="0" err="1" smtClean="0">
                <a:latin typeface="+mn-lt"/>
              </a:rPr>
              <a:t>Dissadvantages</a:t>
            </a:r>
            <a:r>
              <a:rPr lang="en-US" sz="3200" b="1" dirty="0" smtClean="0">
                <a:latin typeface="+mn-lt"/>
              </a:rPr>
              <a:t>:</a:t>
            </a:r>
            <a:endParaRPr lang="en-US" sz="3200" b="1" dirty="0">
              <a:latin typeface="+mn-lt"/>
            </a:endParaRPr>
          </a:p>
        </p:txBody>
      </p:sp>
      <p:sp>
        <p:nvSpPr>
          <p:cNvPr id="3" name="Content Placeholder 2"/>
          <p:cNvSpPr>
            <a:spLocks noGrp="1"/>
          </p:cNvSpPr>
          <p:nvPr>
            <p:ph idx="1"/>
          </p:nvPr>
        </p:nvSpPr>
        <p:spPr/>
        <p:txBody>
          <a:bodyPr/>
          <a:lstStyle/>
          <a:p>
            <a:r>
              <a:rPr lang="en-US" dirty="0"/>
              <a:t>There is Larger waiting time and Response time</a:t>
            </a:r>
            <a:r>
              <a:rPr lang="en-US" dirty="0" smtClean="0"/>
              <a:t>.</a:t>
            </a:r>
          </a:p>
          <a:p>
            <a:r>
              <a:rPr lang="en-US" dirty="0"/>
              <a:t>There is Low throughput</a:t>
            </a:r>
            <a:r>
              <a:rPr lang="en-US" dirty="0" smtClean="0"/>
              <a:t>.</a:t>
            </a:r>
          </a:p>
          <a:p>
            <a:r>
              <a:rPr lang="en-US" dirty="0"/>
              <a:t>There is Context Switches</a:t>
            </a:r>
            <a:r>
              <a:rPr lang="en-US" dirty="0" smtClean="0"/>
              <a:t>.</a:t>
            </a:r>
          </a:p>
          <a:p>
            <a:r>
              <a:rPr lang="en-US" dirty="0"/>
              <a:t>Gantt chart seems to come too big (if quantum time is less for </a:t>
            </a:r>
            <a:r>
              <a:rPr lang="en-US" dirty="0" err="1"/>
              <a:t>scheduling.For</a:t>
            </a:r>
            <a:r>
              <a:rPr lang="en-US" dirty="0"/>
              <a:t> Example:1 </a:t>
            </a:r>
            <a:r>
              <a:rPr lang="en-US" dirty="0" err="1"/>
              <a:t>ms</a:t>
            </a:r>
            <a:r>
              <a:rPr lang="en-US" dirty="0"/>
              <a:t> for big scheduling</a:t>
            </a:r>
            <a:r>
              <a:rPr lang="en-US" dirty="0" smtClean="0"/>
              <a:t>.)</a:t>
            </a:r>
          </a:p>
          <a:p>
            <a:r>
              <a:rPr lang="en-US" dirty="0"/>
              <a:t>Time consuming scheduling for small </a:t>
            </a:r>
            <a:r>
              <a:rPr lang="en-US" dirty="0" err="1"/>
              <a:t>quantums</a:t>
            </a:r>
            <a:r>
              <a:rPr lang="en-US" dirty="0"/>
              <a:t> .</a:t>
            </a:r>
            <a:endParaRPr lang="en-US" dirty="0"/>
          </a:p>
        </p:txBody>
      </p:sp>
    </p:spTree>
    <p:extLst>
      <p:ext uri="{BB962C8B-B14F-4D97-AF65-F5344CB8AC3E}">
        <p14:creationId xmlns:p14="http://schemas.microsoft.com/office/powerpoint/2010/main" val="36948464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661</TotalTime>
  <Words>848</Words>
  <Application>Microsoft Office PowerPoint</Application>
  <PresentationFormat>Custom</PresentationFormat>
  <Paragraphs>296</Paragraphs>
  <Slides>21</Slides>
  <Notes>0</Notes>
  <HiddenSlides>0</HiddenSlides>
  <MMClips>0</MMClips>
  <ScaleCrop>false</ScaleCrop>
  <HeadingPairs>
    <vt:vector size="4" baseType="variant">
      <vt:variant>
        <vt:lpstr>Theme</vt:lpstr>
      </vt:variant>
      <vt:variant>
        <vt:i4>1</vt:i4>
      </vt:variant>
      <vt:variant>
        <vt:lpstr>Slide Titles</vt:lpstr>
      </vt:variant>
      <vt:variant>
        <vt:i4>21</vt:i4>
      </vt:variant>
    </vt:vector>
  </HeadingPairs>
  <TitlesOfParts>
    <vt:vector size="22" baseType="lpstr">
      <vt:lpstr>Office Theme</vt:lpstr>
      <vt:lpstr>PowerPoint Presentation</vt:lpstr>
      <vt:lpstr>FIFO (First In First Out page replacement algorithm)</vt:lpstr>
      <vt:lpstr>How it works !</vt:lpstr>
      <vt:lpstr>Pseudocode</vt:lpstr>
      <vt:lpstr>PowerPoint Presentation</vt:lpstr>
      <vt:lpstr>Program</vt:lpstr>
      <vt:lpstr>PowerPoint Presentation</vt:lpstr>
      <vt:lpstr>PowerPoint Presentation</vt:lpstr>
      <vt:lpstr>PowerPoint Presentation</vt:lpstr>
      <vt:lpstr>PowerPoint Presentation</vt:lpstr>
      <vt:lpstr>Round -robin CPU Scheduling Algorithm</vt:lpstr>
      <vt:lpstr>How it works !</vt:lpstr>
      <vt:lpstr>Program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Dissadvantages:</vt:lpstr>
    </vt:vector>
  </TitlesOfParts>
  <Company>Microsoft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ganana</dc:creator>
  <cp:lastModifiedBy>USER</cp:lastModifiedBy>
  <cp:revision>48</cp:revision>
  <dcterms:created xsi:type="dcterms:W3CDTF">2021-12-28T12:42:44Z</dcterms:created>
  <dcterms:modified xsi:type="dcterms:W3CDTF">2022-01-02T13:56:13Z</dcterms:modified>
</cp:coreProperties>
</file>