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3" r:id="rId11"/>
    <p:sldId id="265" r:id="rId12"/>
    <p:sldId id="271" r:id="rId13"/>
    <p:sldId id="266" r:id="rId14"/>
    <p:sldId id="267" r:id="rId15"/>
    <p:sldId id="269" r:id="rId16"/>
    <p:sldId id="268" r:id="rId17"/>
    <p:sldId id="272"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81" d="100"/>
          <a:sy n="81" d="100"/>
        </p:scale>
        <p:origin x="-300"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CF6849-20AA-43E0-A27F-9779161156B5}" type="datetimeFigureOut">
              <a:rPr lang="en-US" smtClean="0"/>
              <a:t>12/31/2021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EA472-DEFF-40AC-B886-7E8EBE320FD1}" type="slidenum">
              <a:rPr lang="en-US" smtClean="0"/>
              <a:t>‹#›</a:t>
            </a:fld>
            <a:endParaRPr lang="en-US"/>
          </a:p>
        </p:txBody>
      </p:sp>
    </p:spTree>
    <p:extLst>
      <p:ext uri="{BB962C8B-B14F-4D97-AF65-F5344CB8AC3E}">
        <p14:creationId xmlns:p14="http://schemas.microsoft.com/office/powerpoint/2010/main" val="342671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CF6849-20AA-43E0-A27F-9779161156B5}" type="datetimeFigureOut">
              <a:rPr lang="en-US" smtClean="0"/>
              <a:t>12/31/2021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EA472-DEFF-40AC-B886-7E8EBE320FD1}" type="slidenum">
              <a:rPr lang="en-US" smtClean="0"/>
              <a:t>‹#›</a:t>
            </a:fld>
            <a:endParaRPr lang="en-US"/>
          </a:p>
        </p:txBody>
      </p:sp>
    </p:spTree>
    <p:extLst>
      <p:ext uri="{BB962C8B-B14F-4D97-AF65-F5344CB8AC3E}">
        <p14:creationId xmlns:p14="http://schemas.microsoft.com/office/powerpoint/2010/main" val="3621105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2CF6849-20AA-43E0-A27F-9779161156B5}" type="datetimeFigureOut">
              <a:rPr lang="en-US" smtClean="0"/>
              <a:t>12/31/2021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EA472-DEFF-40AC-B886-7E8EBE320FD1}" type="slidenum">
              <a:rPr lang="en-US" smtClean="0"/>
              <a:t>‹#›</a:t>
            </a:fld>
            <a:endParaRPr lang="en-US"/>
          </a:p>
        </p:txBody>
      </p:sp>
    </p:spTree>
    <p:extLst>
      <p:ext uri="{BB962C8B-B14F-4D97-AF65-F5344CB8AC3E}">
        <p14:creationId xmlns:p14="http://schemas.microsoft.com/office/powerpoint/2010/main" val="2978426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2CF6849-20AA-43E0-A27F-9779161156B5}" type="datetimeFigureOut">
              <a:rPr lang="en-US" smtClean="0"/>
              <a:t>12/31/2021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7EA472-DEFF-40AC-B886-7E8EBE320FD1}" type="slidenum">
              <a:rPr lang="en-US" smtClean="0"/>
              <a:t>‹#›</a:t>
            </a:fld>
            <a:endParaRPr lang="en-US"/>
          </a:p>
        </p:txBody>
      </p:sp>
    </p:spTree>
    <p:extLst>
      <p:ext uri="{BB962C8B-B14F-4D97-AF65-F5344CB8AC3E}">
        <p14:creationId xmlns:p14="http://schemas.microsoft.com/office/powerpoint/2010/main" val="4213694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2CF6849-20AA-43E0-A27F-9779161156B5}" type="datetimeFigureOut">
              <a:rPr lang="en-US" smtClean="0"/>
              <a:t>12/31/2021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7EA472-DEFF-40AC-B886-7E8EBE320FD1}" type="slidenum">
              <a:rPr lang="en-US" smtClean="0"/>
              <a:t>‹#›</a:t>
            </a:fld>
            <a:endParaRPr lang="en-US"/>
          </a:p>
        </p:txBody>
      </p:sp>
    </p:spTree>
    <p:extLst>
      <p:ext uri="{BB962C8B-B14F-4D97-AF65-F5344CB8AC3E}">
        <p14:creationId xmlns:p14="http://schemas.microsoft.com/office/powerpoint/2010/main" val="122198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2CF6849-20AA-43E0-A27F-9779161156B5}" type="datetimeFigureOut">
              <a:rPr lang="en-US" smtClean="0"/>
              <a:t>12/31/2021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7EA472-DEFF-40AC-B886-7E8EBE320FD1}" type="slidenum">
              <a:rPr lang="en-US" smtClean="0"/>
              <a:t>‹#›</a:t>
            </a:fld>
            <a:endParaRPr lang="en-US"/>
          </a:p>
        </p:txBody>
      </p:sp>
    </p:spTree>
    <p:extLst>
      <p:ext uri="{BB962C8B-B14F-4D97-AF65-F5344CB8AC3E}">
        <p14:creationId xmlns:p14="http://schemas.microsoft.com/office/powerpoint/2010/main" val="1981305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CF6849-20AA-43E0-A27F-9779161156B5}" type="datetimeFigureOut">
              <a:rPr lang="en-US" smtClean="0"/>
              <a:t>12/31/2021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7EA472-DEFF-40AC-B886-7E8EBE320FD1}" type="slidenum">
              <a:rPr lang="en-US" smtClean="0"/>
              <a:t>‹#›</a:t>
            </a:fld>
            <a:endParaRPr lang="en-US"/>
          </a:p>
        </p:txBody>
      </p:sp>
    </p:spTree>
    <p:extLst>
      <p:ext uri="{BB962C8B-B14F-4D97-AF65-F5344CB8AC3E}">
        <p14:creationId xmlns:p14="http://schemas.microsoft.com/office/powerpoint/2010/main" val="401301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2CF6849-20AA-43E0-A27F-9779161156B5}" type="datetimeFigureOut">
              <a:rPr lang="en-US" smtClean="0"/>
              <a:t>12/31/2021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7EA472-DEFF-40AC-B886-7E8EBE320FD1}" type="slidenum">
              <a:rPr lang="en-US" smtClean="0"/>
              <a:t>‹#›</a:t>
            </a:fld>
            <a:endParaRPr lang="en-US"/>
          </a:p>
        </p:txBody>
      </p:sp>
    </p:spTree>
    <p:extLst>
      <p:ext uri="{BB962C8B-B14F-4D97-AF65-F5344CB8AC3E}">
        <p14:creationId xmlns:p14="http://schemas.microsoft.com/office/powerpoint/2010/main" val="1747212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2CF6849-20AA-43E0-A27F-9779161156B5}" type="datetimeFigureOut">
              <a:rPr lang="en-US" smtClean="0"/>
              <a:t>12/31/2021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7EA472-DEFF-40AC-B886-7E8EBE320FD1}" type="slidenum">
              <a:rPr lang="en-US" smtClean="0"/>
              <a:t>‹#›</a:t>
            </a:fld>
            <a:endParaRPr lang="en-US"/>
          </a:p>
        </p:txBody>
      </p:sp>
    </p:spTree>
    <p:extLst>
      <p:ext uri="{BB962C8B-B14F-4D97-AF65-F5344CB8AC3E}">
        <p14:creationId xmlns:p14="http://schemas.microsoft.com/office/powerpoint/2010/main" val="727980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CF6849-20AA-43E0-A27F-9779161156B5}" type="datetimeFigureOut">
              <a:rPr lang="en-US" smtClean="0"/>
              <a:t>12/31/2021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EA472-DEFF-40AC-B886-7E8EBE320FD1}" type="slidenum">
              <a:rPr lang="en-US" smtClean="0"/>
              <a:t>‹#›</a:t>
            </a:fld>
            <a:endParaRPr lang="en-US"/>
          </a:p>
        </p:txBody>
      </p:sp>
    </p:spTree>
    <p:extLst>
      <p:ext uri="{BB962C8B-B14F-4D97-AF65-F5344CB8AC3E}">
        <p14:creationId xmlns:p14="http://schemas.microsoft.com/office/powerpoint/2010/main" val="1653186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CF6849-20AA-43E0-A27F-9779161156B5}" type="datetimeFigureOut">
              <a:rPr lang="en-US" smtClean="0"/>
              <a:t>12/31/2021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7EA472-DEFF-40AC-B886-7E8EBE320FD1}" type="slidenum">
              <a:rPr lang="en-US" smtClean="0"/>
              <a:t>‹#›</a:t>
            </a:fld>
            <a:endParaRPr lang="en-US"/>
          </a:p>
        </p:txBody>
      </p:sp>
    </p:spTree>
    <p:extLst>
      <p:ext uri="{BB962C8B-B14F-4D97-AF65-F5344CB8AC3E}">
        <p14:creationId xmlns:p14="http://schemas.microsoft.com/office/powerpoint/2010/main" val="2113628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CF6849-20AA-43E0-A27F-9779161156B5}" type="datetimeFigureOut">
              <a:rPr lang="en-US" smtClean="0"/>
              <a:t>12/31/2021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7EA472-DEFF-40AC-B886-7E8EBE320FD1}" type="slidenum">
              <a:rPr lang="en-US" smtClean="0"/>
              <a:t>‹#›</a:t>
            </a:fld>
            <a:endParaRPr lang="en-US"/>
          </a:p>
        </p:txBody>
      </p:sp>
    </p:spTree>
    <p:extLst>
      <p:ext uri="{BB962C8B-B14F-4D97-AF65-F5344CB8AC3E}">
        <p14:creationId xmlns:p14="http://schemas.microsoft.com/office/powerpoint/2010/main" val="27201551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490480" y="404949"/>
            <a:ext cx="9466145" cy="1636189"/>
          </a:xfrm>
          <a:prstGeom prst="rect">
            <a:avLst/>
          </a:prstGeom>
        </p:spPr>
      </p:pic>
      <p:graphicFrame>
        <p:nvGraphicFramePr>
          <p:cNvPr id="14" name="Table 13"/>
          <p:cNvGraphicFramePr>
            <a:graphicFrameLocks noGrp="1"/>
          </p:cNvGraphicFramePr>
          <p:nvPr>
            <p:extLst>
              <p:ext uri="{D42A27DB-BD31-4B8C-83A1-F6EECF244321}">
                <p14:modId xmlns:p14="http://schemas.microsoft.com/office/powerpoint/2010/main" val="3470714025"/>
              </p:ext>
            </p:extLst>
          </p:nvPr>
        </p:nvGraphicFramePr>
        <p:xfrm>
          <a:off x="2013542" y="5294231"/>
          <a:ext cx="8414822" cy="1335940"/>
        </p:xfrm>
        <a:graphic>
          <a:graphicData uri="http://schemas.openxmlformats.org/drawingml/2006/table">
            <a:tbl>
              <a:tblPr firstRow="1" firstCol="1" lastRow="1" lastCol="1" bandRow="1" bandCol="1"/>
              <a:tblGrid>
                <a:gridCol w="1373654">
                  <a:extLst>
                    <a:ext uri="{9D8B030D-6E8A-4147-A177-3AD203B41FA5}">
                      <a16:colId xmlns:a16="http://schemas.microsoft.com/office/drawing/2014/main" xmlns="" val="3909881184"/>
                    </a:ext>
                  </a:extLst>
                </a:gridCol>
                <a:gridCol w="2836409">
                  <a:extLst>
                    <a:ext uri="{9D8B030D-6E8A-4147-A177-3AD203B41FA5}">
                      <a16:colId xmlns:a16="http://schemas.microsoft.com/office/drawing/2014/main" xmlns="" val="2311398943"/>
                    </a:ext>
                  </a:extLst>
                </a:gridCol>
                <a:gridCol w="4204759">
                  <a:extLst>
                    <a:ext uri="{9D8B030D-6E8A-4147-A177-3AD203B41FA5}">
                      <a16:colId xmlns:a16="http://schemas.microsoft.com/office/drawing/2014/main" xmlns="" val="899798524"/>
                    </a:ext>
                  </a:extLst>
                </a:gridCol>
              </a:tblGrid>
              <a:tr h="431074">
                <a:tc>
                  <a:txBody>
                    <a:bodyPr/>
                    <a:lstStyle/>
                    <a:p>
                      <a:pPr marL="75565" marR="0">
                        <a:lnSpc>
                          <a:spcPts val="1600"/>
                        </a:lnSpc>
                        <a:spcBef>
                          <a:spcPts val="0"/>
                        </a:spcBef>
                        <a:spcAft>
                          <a:spcPts val="0"/>
                        </a:spcAft>
                      </a:pPr>
                      <a:r>
                        <a:rPr lang="en-US" sz="1400" b="1" dirty="0">
                          <a:effectLst/>
                          <a:latin typeface="Times New Roman" panose="02020603050405020304" pitchFamily="18" charset="0"/>
                          <a:ea typeface="Carlito"/>
                          <a:cs typeface="Carlito"/>
                        </a:rPr>
                        <a:t>Sl. No.</a:t>
                      </a:r>
                      <a:endParaRPr lang="en-US" sz="1200" dirty="0">
                        <a:effectLst/>
                        <a:latin typeface="Carlito"/>
                        <a:ea typeface="Carlito"/>
                        <a:cs typeface="Carlito"/>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5565" marR="0" algn="ctr">
                        <a:lnSpc>
                          <a:spcPts val="1600"/>
                        </a:lnSpc>
                        <a:spcBef>
                          <a:spcPts val="0"/>
                        </a:spcBef>
                        <a:spcAft>
                          <a:spcPts val="0"/>
                        </a:spcAft>
                      </a:pPr>
                      <a:r>
                        <a:rPr lang="en-US" sz="1600" b="1" dirty="0">
                          <a:effectLst/>
                          <a:latin typeface="Times New Roman" panose="02020603050405020304" pitchFamily="18" charset="0"/>
                          <a:ea typeface="Carlito"/>
                          <a:cs typeface="Carlito"/>
                        </a:rPr>
                        <a:t>USN</a:t>
                      </a:r>
                      <a:endParaRPr lang="en-US" sz="1400" dirty="0">
                        <a:effectLst/>
                        <a:latin typeface="Carlito"/>
                        <a:ea typeface="Carlito"/>
                        <a:cs typeface="Carlito"/>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4295" marR="0" algn="ctr">
                        <a:lnSpc>
                          <a:spcPts val="1600"/>
                        </a:lnSpc>
                        <a:spcBef>
                          <a:spcPts val="0"/>
                        </a:spcBef>
                        <a:spcAft>
                          <a:spcPts val="0"/>
                        </a:spcAft>
                      </a:pPr>
                      <a:r>
                        <a:rPr lang="en-US" sz="1800" b="1" dirty="0">
                          <a:effectLst/>
                          <a:latin typeface="Times New Roman" panose="02020603050405020304" pitchFamily="18" charset="0"/>
                          <a:ea typeface="Carlito"/>
                          <a:cs typeface="Carlito"/>
                        </a:rPr>
                        <a:t>NAME</a:t>
                      </a:r>
                      <a:endParaRPr lang="en-US" sz="1600" dirty="0">
                        <a:effectLst/>
                        <a:latin typeface="Carlito"/>
                        <a:ea typeface="Carlito"/>
                        <a:cs typeface="Carlito"/>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34524197"/>
                  </a:ext>
                </a:extLst>
              </a:tr>
              <a:tr h="470263">
                <a:tc>
                  <a:txBody>
                    <a:bodyPr/>
                    <a:lstStyle/>
                    <a:p>
                      <a:pPr marL="0" marR="0" lvl="0" indent="0" algn="ctr">
                        <a:lnSpc>
                          <a:spcPts val="1600"/>
                        </a:lnSpc>
                        <a:spcBef>
                          <a:spcPts val="10"/>
                        </a:spcBef>
                        <a:spcAft>
                          <a:spcPts val="0"/>
                        </a:spcAft>
                        <a:buFont typeface="+mj-lt"/>
                        <a:buNone/>
                      </a:pPr>
                      <a:r>
                        <a:rPr lang="en-US" sz="1600" dirty="0" smtClean="0">
                          <a:effectLst/>
                          <a:latin typeface="Times New Roman" panose="02020603050405020304" pitchFamily="18" charset="0"/>
                          <a:ea typeface="Carlito"/>
                          <a:cs typeface="Carlito"/>
                        </a:rPr>
                        <a:t>1.</a:t>
                      </a:r>
                      <a:endParaRPr lang="en-US" sz="1400" dirty="0">
                        <a:effectLst/>
                        <a:latin typeface="Carlito"/>
                        <a:ea typeface="Carlito"/>
                        <a:cs typeface="Carlito"/>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5565" marR="0" algn="ctr">
                        <a:lnSpc>
                          <a:spcPts val="1600"/>
                        </a:lnSpc>
                        <a:spcBef>
                          <a:spcPts val="10"/>
                        </a:spcBef>
                        <a:spcAft>
                          <a:spcPts val="0"/>
                        </a:spcAft>
                      </a:pPr>
                      <a:r>
                        <a:rPr lang="en-US" sz="1600" dirty="0" smtClean="0">
                          <a:effectLst/>
                          <a:latin typeface="Times New Roman" panose="02020603050405020304" pitchFamily="18" charset="0"/>
                          <a:ea typeface="Carlito"/>
                          <a:cs typeface="Carlito"/>
                        </a:rPr>
                        <a:t>4NI19CS097</a:t>
                      </a:r>
                      <a:endParaRPr lang="en-US" sz="1400" dirty="0">
                        <a:effectLst/>
                        <a:latin typeface="Carlito"/>
                        <a:ea typeface="Carlito"/>
                        <a:cs typeface="Carlito"/>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4295" marR="0">
                        <a:lnSpc>
                          <a:spcPts val="1600"/>
                        </a:lnSpc>
                        <a:spcBef>
                          <a:spcPts val="10"/>
                        </a:spcBef>
                        <a:spcAft>
                          <a:spcPts val="0"/>
                        </a:spcAft>
                      </a:pPr>
                      <a:r>
                        <a:rPr lang="en-US" sz="1600" dirty="0" smtClean="0">
                          <a:effectLst/>
                          <a:latin typeface="Times New Roman" panose="02020603050405020304" pitchFamily="18" charset="0"/>
                          <a:ea typeface="Carlito"/>
                          <a:cs typeface="Carlito"/>
                        </a:rPr>
                        <a:t>SANJANA</a:t>
                      </a:r>
                      <a:r>
                        <a:rPr lang="en-US" sz="1600" baseline="0" dirty="0" smtClean="0">
                          <a:effectLst/>
                          <a:latin typeface="Times New Roman" panose="02020603050405020304" pitchFamily="18" charset="0"/>
                          <a:ea typeface="Carlito"/>
                          <a:cs typeface="Carlito"/>
                        </a:rPr>
                        <a:t> URS K</a:t>
                      </a:r>
                      <a:endParaRPr lang="en-US" sz="1400" dirty="0">
                        <a:effectLst/>
                        <a:latin typeface="Carlito"/>
                        <a:ea typeface="Carlito"/>
                        <a:cs typeface="Carlito"/>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975341937"/>
                  </a:ext>
                </a:extLst>
              </a:tr>
              <a:tr h="434603">
                <a:tc>
                  <a:txBody>
                    <a:bodyPr/>
                    <a:lstStyle/>
                    <a:p>
                      <a:pPr marL="0" marR="0" lvl="0" indent="0" algn="ctr">
                        <a:lnSpc>
                          <a:spcPts val="1600"/>
                        </a:lnSpc>
                        <a:spcBef>
                          <a:spcPts val="10"/>
                        </a:spcBef>
                        <a:spcAft>
                          <a:spcPts val="0"/>
                        </a:spcAft>
                        <a:buFont typeface="+mj-lt"/>
                        <a:buNone/>
                      </a:pPr>
                      <a:r>
                        <a:rPr lang="en-US" sz="1600" dirty="0" smtClean="0">
                          <a:effectLst/>
                          <a:latin typeface="Times New Roman" panose="02020603050405020304" pitchFamily="18" charset="0"/>
                          <a:ea typeface="Carlito"/>
                          <a:cs typeface="Carlito"/>
                        </a:rPr>
                        <a:t>2.</a:t>
                      </a:r>
                      <a:endParaRPr lang="en-US" sz="1400" dirty="0">
                        <a:effectLst/>
                        <a:latin typeface="Carlito"/>
                        <a:ea typeface="Carlito"/>
                        <a:cs typeface="Carlito"/>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5565" marR="0" algn="ctr">
                        <a:lnSpc>
                          <a:spcPts val="1600"/>
                        </a:lnSpc>
                        <a:spcBef>
                          <a:spcPts val="10"/>
                        </a:spcBef>
                        <a:spcAft>
                          <a:spcPts val="0"/>
                        </a:spcAft>
                      </a:pPr>
                      <a:r>
                        <a:rPr lang="en-US" sz="1600" dirty="0" smtClean="0">
                          <a:effectLst/>
                          <a:latin typeface="Times New Roman" panose="02020603050405020304" pitchFamily="18" charset="0"/>
                          <a:ea typeface="Carlito"/>
                          <a:cs typeface="Carlito"/>
                        </a:rPr>
                        <a:t>4NI20CS406</a:t>
                      </a:r>
                      <a:endParaRPr lang="en-US" sz="1400" dirty="0">
                        <a:effectLst/>
                        <a:latin typeface="Carlito"/>
                        <a:ea typeface="Carlito"/>
                        <a:cs typeface="Carlito"/>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4295" marR="0">
                        <a:lnSpc>
                          <a:spcPts val="1600"/>
                        </a:lnSpc>
                        <a:spcBef>
                          <a:spcPts val="10"/>
                        </a:spcBef>
                        <a:spcAft>
                          <a:spcPts val="0"/>
                        </a:spcAft>
                      </a:pPr>
                      <a:r>
                        <a:rPr lang="en-US" sz="1600" dirty="0" smtClean="0">
                          <a:effectLst/>
                          <a:latin typeface="Times New Roman" panose="02020603050405020304" pitchFamily="18" charset="0"/>
                          <a:ea typeface="Carlito"/>
                          <a:cs typeface="Carlito"/>
                        </a:rPr>
                        <a:t>SANDHYA</a:t>
                      </a:r>
                      <a:r>
                        <a:rPr lang="en-US" sz="1600" baseline="0" dirty="0" smtClean="0">
                          <a:effectLst/>
                          <a:latin typeface="Times New Roman" panose="02020603050405020304" pitchFamily="18" charset="0"/>
                          <a:ea typeface="Carlito"/>
                          <a:cs typeface="Carlito"/>
                        </a:rPr>
                        <a:t> HS</a:t>
                      </a:r>
                      <a:endParaRPr lang="en-US" sz="1400" dirty="0">
                        <a:effectLst/>
                        <a:latin typeface="Carlito"/>
                        <a:ea typeface="Carlito"/>
                        <a:cs typeface="Carlito"/>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64840359"/>
                  </a:ext>
                </a:extLst>
              </a:tr>
            </a:tbl>
          </a:graphicData>
        </a:graphic>
      </p:graphicFrame>
      <p:sp>
        <p:nvSpPr>
          <p:cNvPr id="15" name="Rectangle 6"/>
          <p:cNvSpPr>
            <a:spLocks noChangeArrowheads="1"/>
          </p:cNvSpPr>
          <p:nvPr/>
        </p:nvSpPr>
        <p:spPr bwMode="auto">
          <a:xfrm>
            <a:off x="3300660" y="1922634"/>
            <a:ext cx="5840586" cy="2723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0163" algn="ctr"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a:t>
            </a:r>
            <a:r>
              <a:rPr kumimoji="0" lang="en-US" altLang="en-US" sz="20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Operating System tutorials (CS5C02) – 2021-22</a:t>
            </a:r>
          </a:p>
          <a:p>
            <a:pPr marL="0" marR="0" lvl="0" indent="30163" algn="ctr" defTabSz="914400" rtl="0" eaLnBrk="0" fontAlgn="base" latinLnBrk="0" hangingPunct="0">
              <a:lnSpc>
                <a:spcPct val="150000"/>
              </a:lnSpc>
              <a:spcBef>
                <a:spcPct val="0"/>
              </a:spcBef>
              <a:spcAft>
                <a:spcPct val="0"/>
              </a:spcAft>
              <a:buClrTx/>
              <a:buSzTx/>
              <a:buFontTx/>
              <a:buNone/>
              <a:tabLst/>
            </a:pPr>
            <a:r>
              <a:rPr lang="en-US" altLang="en-US" sz="2000" dirty="0" smtClean="0">
                <a:ea typeface="Times New Roman" panose="02020603050405020304" pitchFamily="18" charset="0"/>
              </a:rPr>
              <a:t>To the Course Instructor</a:t>
            </a:r>
          </a:p>
          <a:p>
            <a:pPr marL="0" marR="0" lvl="0" indent="30163" algn="ctr"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Dr.</a:t>
            </a:r>
            <a:r>
              <a:rPr kumimoji="0" lang="en-US" altLang="en-US" sz="2000" b="0" i="0" u="none" strike="noStrike" cap="none" normalizeH="0" dirty="0" smtClean="0">
                <a:ln>
                  <a:noFill/>
                </a:ln>
                <a:solidFill>
                  <a:schemeClr val="tx1"/>
                </a:solidFill>
                <a:effectLst/>
                <a:latin typeface="Arial" panose="020B0604020202020204" pitchFamily="34" charset="0"/>
                <a:ea typeface="Times New Roman" panose="02020603050405020304" pitchFamily="18" charset="0"/>
              </a:rPr>
              <a:t> JAYASRI BS</a:t>
            </a:r>
          </a:p>
          <a:p>
            <a:pPr marL="0" marR="0" lvl="0" indent="30163" algn="ctr" defTabSz="914400" rtl="0" eaLnBrk="0" fontAlgn="base" latinLnBrk="0" hangingPunct="0">
              <a:lnSpc>
                <a:spcPct val="150000"/>
              </a:lnSpc>
              <a:spcBef>
                <a:spcPct val="0"/>
              </a:spcBef>
              <a:spcAft>
                <a:spcPct val="0"/>
              </a:spcAft>
              <a:buClrTx/>
              <a:buSzTx/>
              <a:buFontTx/>
              <a:buNone/>
              <a:tabLst/>
            </a:pPr>
            <a:r>
              <a:rPr lang="en-US" altLang="en-US" sz="2000" baseline="0" dirty="0" smtClean="0">
                <a:ea typeface="Times New Roman" panose="02020603050405020304" pitchFamily="18" charset="0"/>
              </a:rPr>
              <a:t>(Associate</a:t>
            </a:r>
            <a:r>
              <a:rPr lang="en-US" altLang="en-US" sz="2000" dirty="0" smtClean="0">
                <a:ea typeface="Times New Roman" panose="02020603050405020304" pitchFamily="18" charset="0"/>
              </a:rPr>
              <a:t> Professor)</a:t>
            </a:r>
            <a:r>
              <a:rPr kumimoji="0" lang="en-US" altLang="en-US" sz="20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a:r>
            <a:br>
              <a:rPr kumimoji="0" lang="en-US" altLang="en-US" sz="20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br>
            <a:r>
              <a:rPr kumimoji="0" lang="en-US" altLang="en-US" sz="20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a:t>
            </a:r>
            <a:r>
              <a:rPr kumimoji="0" lang="en-US" altLang="en-US" b="1" i="0" u="sng"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Operating System Report</a:t>
            </a:r>
            <a:endParaRPr kumimoji="0" lang="en-US" altLang="en-US" sz="1600" b="0" i="0" u="none" strike="noStrike" cap="none" normalizeH="0" baseline="0" dirty="0" smtClean="0">
              <a:ln>
                <a:noFill/>
              </a:ln>
              <a:solidFill>
                <a:schemeClr val="tx1"/>
              </a:solidFill>
              <a:effectLst/>
              <a:latin typeface="Arial" panose="020B0604020202020204" pitchFamily="34" charset="0"/>
            </a:endParaRPr>
          </a:p>
          <a:p>
            <a:pPr marL="0" marR="0" lvl="0" indent="30163" algn="ctr"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Title: Page replacement and Scheduling Algorithms</a:t>
            </a:r>
            <a:endParaRPr kumimoji="0" lang="en-US" altLang="en-US" sz="20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endParaRPr>
          </a:p>
        </p:txBody>
      </p:sp>
      <p:sp>
        <p:nvSpPr>
          <p:cNvPr id="16" name="TextBox 15"/>
          <p:cNvSpPr txBox="1"/>
          <p:nvPr/>
        </p:nvSpPr>
        <p:spPr>
          <a:xfrm>
            <a:off x="1800651" y="4700884"/>
            <a:ext cx="1746184" cy="615553"/>
          </a:xfrm>
          <a:prstGeom prst="rect">
            <a:avLst/>
          </a:prstGeom>
          <a:noFill/>
        </p:spPr>
        <p:txBody>
          <a:bodyPr wrap="none" rtlCol="0">
            <a:spAutoFit/>
          </a:bodyPr>
          <a:lstStyle/>
          <a:p>
            <a:pPr lvl="0"/>
            <a:r>
              <a:rPr lang="en-US" altLang="en-US" sz="2000" b="1" dirty="0">
                <a:latin typeface="Arial" panose="020B0604020202020204" pitchFamily="34" charset="0"/>
                <a:ea typeface="Times New Roman" panose="02020603050405020304" pitchFamily="18" charset="0"/>
              </a:rPr>
              <a:t>Team Details</a:t>
            </a:r>
            <a:endParaRPr kumimoji="0" lang="en-US" altLang="en-US" sz="20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endParaRPr>
          </a:p>
          <a:p>
            <a:endParaRPr lang="en-US" sz="1400" dirty="0"/>
          </a:p>
        </p:txBody>
      </p:sp>
    </p:spTree>
    <p:extLst>
      <p:ext uri="{BB962C8B-B14F-4D97-AF65-F5344CB8AC3E}">
        <p14:creationId xmlns:p14="http://schemas.microsoft.com/office/powerpoint/2010/main" val="37084528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4224"/>
          </a:xfrm>
        </p:spPr>
        <p:txBody>
          <a:bodyPr>
            <a:normAutofit fontScale="90000"/>
          </a:bodyPr>
          <a:lstStyle/>
          <a:p>
            <a:r>
              <a:rPr lang="en-US" sz="4000" b="1" dirty="0" smtClean="0">
                <a:latin typeface="Bahnschrift SemiBold" panose="020B0502040204020203" pitchFamily="34" charset="0"/>
              </a:rPr>
              <a:t>FIFO</a:t>
            </a:r>
            <a:r>
              <a:rPr lang="en-US" sz="4000" dirty="0" smtClean="0"/>
              <a:t> (First In First Out page replacement algorithm)</a:t>
            </a:r>
            <a:endParaRPr lang="en-US" sz="4000" dirty="0"/>
          </a:p>
        </p:txBody>
      </p:sp>
      <p:sp>
        <p:nvSpPr>
          <p:cNvPr id="3" name="Content Placeholder 2"/>
          <p:cNvSpPr>
            <a:spLocks noGrp="1"/>
          </p:cNvSpPr>
          <p:nvPr>
            <p:ph idx="1"/>
          </p:nvPr>
        </p:nvSpPr>
        <p:spPr>
          <a:xfrm>
            <a:off x="838200" y="1528356"/>
            <a:ext cx="10515600" cy="4872444"/>
          </a:xfrm>
        </p:spPr>
        <p:txBody>
          <a:bodyPr>
            <a:normAutofit fontScale="62500" lnSpcReduction="20000"/>
          </a:bodyPr>
          <a:lstStyle/>
          <a:p>
            <a:pPr marL="0" indent="0">
              <a:lnSpc>
                <a:spcPct val="170000"/>
              </a:lnSpc>
              <a:buNone/>
            </a:pPr>
            <a:r>
              <a:rPr lang="en-US" sz="4500" dirty="0" smtClean="0"/>
              <a:t>Introduction</a:t>
            </a:r>
          </a:p>
          <a:p>
            <a:pPr marL="0" marR="294005" algn="just">
              <a:lnSpc>
                <a:spcPct val="150000"/>
              </a:lnSpc>
              <a:spcBef>
                <a:spcPts val="0"/>
              </a:spcBef>
              <a:spcAft>
                <a:spcPts val="0"/>
              </a:spcAft>
            </a:pPr>
            <a:r>
              <a:rPr lang="en-US" sz="3200" dirty="0" smtClean="0">
                <a:latin typeface="Times New Roman" panose="02020603050405020304" pitchFamily="18" charset="0"/>
                <a:ea typeface="Carlito"/>
                <a:cs typeface="Carlito"/>
              </a:rPr>
              <a:t>In </a:t>
            </a:r>
            <a:r>
              <a:rPr lang="en-US" sz="3200" dirty="0">
                <a:latin typeface="Times New Roman" panose="02020603050405020304" pitchFamily="18" charset="0"/>
                <a:ea typeface="Carlito"/>
                <a:cs typeface="Carlito"/>
              </a:rPr>
              <a:t>operating systems that use paging for memory management, page replacement algorithm are needed to decide which page needed to be replaced when new page comes in. Whenever a new page is referred and not present in </a:t>
            </a:r>
            <a:r>
              <a:rPr lang="en-US" sz="3200" dirty="0" smtClean="0">
                <a:latin typeface="Times New Roman" panose="02020603050405020304" pitchFamily="18" charset="0"/>
                <a:ea typeface="Carlito"/>
                <a:cs typeface="Carlito"/>
              </a:rPr>
              <a:t>memory</a:t>
            </a:r>
            <a:r>
              <a:rPr lang="en-US" sz="3200" dirty="0">
                <a:latin typeface="Times New Roman" panose="02020603050405020304" pitchFamily="18" charset="0"/>
                <a:ea typeface="Carlito"/>
                <a:cs typeface="Carlito"/>
              </a:rPr>
              <a:t>, page fault occurs and Operating System replaces one of the existing pages with newly needed page. Different page replacement algorithms suggest different ways to decide which page to replace. The target for all algorithms is to reduce number of page faults.</a:t>
            </a:r>
            <a:endParaRPr lang="en-US" sz="3800" dirty="0" smtClean="0">
              <a:effectLst/>
              <a:latin typeface="Carlito"/>
              <a:ea typeface="Carlito"/>
              <a:cs typeface="Carlito"/>
            </a:endParaRPr>
          </a:p>
          <a:p>
            <a:pPr marL="0" marR="294005" algn="just">
              <a:lnSpc>
                <a:spcPct val="150000"/>
              </a:lnSpc>
              <a:spcBef>
                <a:spcPts val="0"/>
              </a:spcBef>
              <a:spcAft>
                <a:spcPts val="0"/>
              </a:spcAft>
            </a:pPr>
            <a:r>
              <a:rPr lang="en-US" sz="3200" dirty="0">
                <a:latin typeface="Times New Roman" panose="02020603050405020304" pitchFamily="18" charset="0"/>
                <a:ea typeface="Carlito"/>
                <a:cs typeface="Carlito"/>
              </a:rPr>
              <a:t>First In First Out (</a:t>
            </a:r>
            <a:r>
              <a:rPr lang="en-US" sz="3200" b="1" dirty="0">
                <a:latin typeface="Times New Roman" panose="02020603050405020304" pitchFamily="18" charset="0"/>
                <a:ea typeface="Carlito"/>
                <a:cs typeface="Carlito"/>
              </a:rPr>
              <a:t>FIFO</a:t>
            </a:r>
            <a:r>
              <a:rPr lang="en-US" sz="3200" dirty="0">
                <a:latin typeface="Times New Roman" panose="02020603050405020304" pitchFamily="18" charset="0"/>
                <a:ea typeface="Carlito"/>
                <a:cs typeface="Carlito"/>
              </a:rPr>
              <a:t>) page replacement algorithm is the simplest page replacement algorithm. In this algorithm, operating system keeps track of all pages in the memory in a queue, oldest page is in the front of the queue. When a page needs to be replaced page in the front of the queue is selected for removal.</a:t>
            </a:r>
            <a:endParaRPr lang="en-US" sz="3800" dirty="0" smtClean="0">
              <a:effectLst/>
              <a:latin typeface="Carlito"/>
              <a:ea typeface="Carlito"/>
              <a:cs typeface="Carlito"/>
            </a:endParaRPr>
          </a:p>
          <a:p>
            <a:pPr marL="0" indent="0">
              <a:buNone/>
            </a:pPr>
            <a:endParaRPr lang="en-US" dirty="0"/>
          </a:p>
        </p:txBody>
      </p:sp>
    </p:spTree>
    <p:extLst>
      <p:ext uri="{BB962C8B-B14F-4D97-AF65-F5344CB8AC3E}">
        <p14:creationId xmlns:p14="http://schemas.microsoft.com/office/powerpoint/2010/main" val="38478508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smtClean="0">
                <a:latin typeface="Times New Roman" panose="02020603050405020304" pitchFamily="18" charset="0"/>
                <a:cs typeface="Times New Roman" panose="02020603050405020304" pitchFamily="18" charset="0"/>
              </a:rPr>
              <a:t>How it works !</a:t>
            </a:r>
            <a:endParaRPr lang="en-US"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a:lnSpc>
                <a:spcPct val="150000"/>
              </a:lnSpc>
            </a:pPr>
            <a:r>
              <a:rPr lang="en-US" sz="2400" dirty="0" smtClean="0">
                <a:latin typeface="Times New Roman" panose="02020603050405020304" pitchFamily="18" charset="0"/>
                <a:cs typeface="Times New Roman" panose="02020603050405020304" pitchFamily="18" charset="0"/>
              </a:rPr>
              <a:t>Operating system keeps track of all the pages in a queue</a:t>
            </a:r>
          </a:p>
          <a:p>
            <a:pPr>
              <a:lnSpc>
                <a:spcPct val="150000"/>
              </a:lnSpc>
            </a:pPr>
            <a:r>
              <a:rPr lang="en-US" sz="2400" dirty="0" smtClean="0">
                <a:latin typeface="Times New Roman" panose="02020603050405020304" pitchFamily="18" charset="0"/>
                <a:cs typeface="Times New Roman" panose="02020603050405020304" pitchFamily="18" charset="0"/>
              </a:rPr>
              <a:t>If a page is already present in set, it’s a hit and there will be no change in the queue. If the page in the string is not present, it’s a page fault.</a:t>
            </a:r>
          </a:p>
          <a:p>
            <a:pPr>
              <a:lnSpc>
                <a:spcPct val="150000"/>
              </a:lnSpc>
            </a:pPr>
            <a:r>
              <a:rPr lang="en-US" sz="2400" dirty="0" smtClean="0">
                <a:latin typeface="Times New Roman" panose="02020603050405020304" pitchFamily="18" charset="0"/>
                <a:cs typeface="Times New Roman" panose="02020603050405020304" pitchFamily="18" charset="0"/>
              </a:rPr>
              <a:t>If set holds less pages than capacity, insert page into the set one by one until all page requests are processed. Simultaneously maintain the pages in the queue to perform FIFO and increment page faults. If current page is already present, it does nothing.</a:t>
            </a:r>
          </a:p>
          <a:p>
            <a:pPr>
              <a:lnSpc>
                <a:spcPct val="150000"/>
              </a:lnSpc>
            </a:pPr>
            <a:r>
              <a:rPr lang="en-US" sz="2400" dirty="0" smtClean="0">
                <a:latin typeface="Times New Roman" panose="02020603050405020304" pitchFamily="18" charset="0"/>
                <a:cs typeface="Times New Roman" panose="02020603050405020304" pitchFamily="18" charset="0"/>
              </a:rPr>
              <a:t>If the queue is full, remove the first page from the queue, replace that first page with current page in the string and store it back in the queue.</a:t>
            </a:r>
          </a:p>
          <a:p>
            <a:pPr>
              <a:lnSpc>
                <a:spcPct val="150000"/>
              </a:lnSpc>
            </a:pPr>
            <a:r>
              <a:rPr lang="en-US" sz="2400" dirty="0" smtClean="0">
                <a:latin typeface="Times New Roman" panose="02020603050405020304" pitchFamily="18" charset="0"/>
                <a:cs typeface="Times New Roman" panose="02020603050405020304" pitchFamily="18" charset="0"/>
              </a:rPr>
              <a:t>Then page faults are incremented.</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73269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65126"/>
            <a:ext cx="10622280" cy="601526"/>
          </a:xfrm>
        </p:spPr>
        <p:txBody>
          <a:bodyPr>
            <a:noAutofit/>
          </a:bodyPr>
          <a:lstStyle/>
          <a:p>
            <a:r>
              <a:rPr lang="en-US" b="1" dirty="0" smtClean="0">
                <a:latin typeface="Times New Roman" panose="02020603050405020304" pitchFamily="18" charset="0"/>
                <a:cs typeface="Times New Roman" panose="02020603050405020304" pitchFamily="18" charset="0"/>
              </a:rPr>
              <a:t>Pseudocode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29640" y="1280160"/>
            <a:ext cx="10515600" cy="5210311"/>
          </a:xfrm>
        </p:spPr>
        <p:txBody>
          <a:bodyPr>
            <a:noAutofit/>
          </a:bodyPr>
          <a:lstStyle/>
          <a:p>
            <a:pPr marL="0" indent="0">
              <a:buNone/>
            </a:pPr>
            <a:r>
              <a:rPr lang="en-US" sz="2000" dirty="0" smtClean="0"/>
              <a:t>Data: Pages P, Number of Pages N, Capacity C</a:t>
            </a:r>
          </a:p>
          <a:p>
            <a:pPr marL="0" indent="0">
              <a:buNone/>
            </a:pPr>
            <a:r>
              <a:rPr lang="en-US" sz="2000" dirty="0" smtClean="0"/>
              <a:t>Result: Number of page fault PF</a:t>
            </a:r>
          </a:p>
          <a:p>
            <a:pPr marL="0" indent="0">
              <a:buNone/>
            </a:pPr>
            <a:r>
              <a:rPr lang="en-US" sz="2000" dirty="0" smtClean="0"/>
              <a:t>Function </a:t>
            </a:r>
            <a:r>
              <a:rPr lang="en-US" sz="2000" dirty="0" err="1" smtClean="0"/>
              <a:t>FindPage</a:t>
            </a:r>
            <a:r>
              <a:rPr lang="en-US" sz="2000" dirty="0" smtClean="0"/>
              <a:t> Fault(P, N, C)</a:t>
            </a:r>
          </a:p>
          <a:p>
            <a:pPr marL="0" indent="0">
              <a:buNone/>
            </a:pPr>
            <a:r>
              <a:rPr lang="en-US" sz="2000" dirty="0" smtClean="0"/>
              <a:t>S = set();</a:t>
            </a:r>
          </a:p>
          <a:p>
            <a:pPr marL="0" indent="0">
              <a:buNone/>
            </a:pPr>
            <a:r>
              <a:rPr lang="en-US" sz="2000" dirty="0" err="1" smtClean="0"/>
              <a:t>QPage</a:t>
            </a:r>
            <a:r>
              <a:rPr lang="en-US" sz="2000" dirty="0" smtClean="0"/>
              <a:t> Queue();</a:t>
            </a:r>
          </a:p>
          <a:p>
            <a:pPr marL="0" indent="0">
              <a:buNone/>
            </a:pPr>
            <a:r>
              <a:rPr lang="en-US" sz="2000" dirty="0" smtClean="0"/>
              <a:t>PF = 0;</a:t>
            </a:r>
          </a:p>
          <a:p>
            <a:pPr marL="0" indent="0">
              <a:buNone/>
            </a:pPr>
            <a:r>
              <a:rPr lang="en-US" sz="2000" dirty="0" smtClean="0"/>
              <a:t>for </a:t>
            </a:r>
            <a:r>
              <a:rPr lang="en-US" sz="2000" dirty="0" err="1" smtClean="0"/>
              <a:t>i</a:t>
            </a:r>
            <a:r>
              <a:rPr lang="en-US" sz="2000" dirty="0" smtClean="0"/>
              <a:t> = 0 to length(N) do</a:t>
            </a:r>
          </a:p>
          <a:p>
            <a:pPr marL="0" indent="0">
              <a:buNone/>
            </a:pPr>
            <a:r>
              <a:rPr lang="en-US" sz="2000" dirty="0" smtClean="0"/>
              <a:t>    if length(S) &lt; C then</a:t>
            </a:r>
          </a:p>
          <a:p>
            <a:pPr marL="0" indent="0">
              <a:buNone/>
            </a:pPr>
            <a:r>
              <a:rPr lang="en-US" sz="2000" dirty="0" smtClean="0"/>
              <a:t>       if P[</a:t>
            </a:r>
            <a:r>
              <a:rPr lang="en-US" sz="2000" dirty="0" err="1" smtClean="0"/>
              <a:t>i</a:t>
            </a:r>
            <a:r>
              <a:rPr lang="en-US" sz="2000" dirty="0" smtClean="0"/>
              <a:t>] not in S then</a:t>
            </a:r>
          </a:p>
          <a:p>
            <a:pPr marL="0" indent="0">
              <a:buNone/>
            </a:pPr>
            <a:r>
              <a:rPr lang="en-US" sz="2000" dirty="0" smtClean="0"/>
              <a:t>         </a:t>
            </a:r>
            <a:r>
              <a:rPr lang="en-US" sz="2000" dirty="0" err="1" smtClean="0"/>
              <a:t>S.add</a:t>
            </a:r>
            <a:r>
              <a:rPr lang="en-US" sz="2000" dirty="0" smtClean="0"/>
              <a:t>(P[</a:t>
            </a:r>
            <a:r>
              <a:rPr lang="en-US" sz="2000" dirty="0" err="1" smtClean="0"/>
              <a:t>i</a:t>
            </a:r>
            <a:r>
              <a:rPr lang="en-US" sz="2000" dirty="0" smtClean="0"/>
              <a:t>]);</a:t>
            </a:r>
          </a:p>
          <a:p>
            <a:pPr marL="0" indent="0">
              <a:buNone/>
            </a:pPr>
            <a:r>
              <a:rPr lang="en-US" sz="2000" dirty="0" smtClean="0"/>
              <a:t>         PF = PF +1;</a:t>
            </a:r>
          </a:p>
          <a:p>
            <a:pPr marL="0" indent="0">
              <a:buNone/>
            </a:pPr>
            <a:r>
              <a:rPr lang="en-US" sz="2000" dirty="0" smtClean="0"/>
              <a:t>         </a:t>
            </a:r>
            <a:r>
              <a:rPr lang="en-US" sz="2000" dirty="0" err="1" smtClean="0"/>
              <a:t>QPage.put</a:t>
            </a:r>
            <a:r>
              <a:rPr lang="en-US" sz="2000" dirty="0" smtClean="0"/>
              <a:t>(P[</a:t>
            </a:r>
            <a:r>
              <a:rPr lang="en-US" sz="2000" dirty="0" err="1" smtClean="0"/>
              <a:t>i</a:t>
            </a:r>
            <a:r>
              <a:rPr lang="en-US" sz="2000" dirty="0" smtClean="0"/>
              <a:t>]);</a:t>
            </a:r>
          </a:p>
          <a:p>
            <a:pPr marL="0" indent="0">
              <a:buNone/>
            </a:pPr>
            <a:r>
              <a:rPr lang="en-US" sz="2000" dirty="0" smtClean="0"/>
              <a:t>     end</a:t>
            </a:r>
          </a:p>
        </p:txBody>
      </p:sp>
    </p:spTree>
    <p:extLst>
      <p:ext uri="{BB962C8B-B14F-4D97-AF65-F5344CB8AC3E}">
        <p14:creationId xmlns:p14="http://schemas.microsoft.com/office/powerpoint/2010/main" val="11777091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91343" y="911225"/>
            <a:ext cx="10515600" cy="4351338"/>
          </a:xfrm>
        </p:spPr>
        <p:txBody>
          <a:bodyPr>
            <a:normAutofit fontScale="77500" lnSpcReduction="20000"/>
          </a:bodyPr>
          <a:lstStyle/>
          <a:p>
            <a:pPr marL="0" indent="0">
              <a:buNone/>
            </a:pPr>
            <a:r>
              <a:rPr lang="en-US" dirty="0" smtClean="0"/>
              <a:t>     else</a:t>
            </a:r>
          </a:p>
          <a:p>
            <a:pPr marL="0" indent="0">
              <a:buNone/>
            </a:pPr>
            <a:r>
              <a:rPr lang="en-US" dirty="0" smtClean="0"/>
              <a:t>        if P[</a:t>
            </a:r>
            <a:r>
              <a:rPr lang="en-US" dirty="0" err="1" smtClean="0"/>
              <a:t>i</a:t>
            </a:r>
            <a:r>
              <a:rPr lang="en-US" dirty="0" smtClean="0"/>
              <a:t>] </a:t>
            </a:r>
            <a:r>
              <a:rPr lang="en-US" dirty="0"/>
              <a:t>not in S then</a:t>
            </a:r>
          </a:p>
          <a:p>
            <a:pPr marL="0" indent="0">
              <a:buNone/>
            </a:pPr>
            <a:r>
              <a:rPr lang="en-US" dirty="0" smtClean="0"/>
              <a:t>           </a:t>
            </a:r>
            <a:r>
              <a:rPr lang="en-US" dirty="0" err="1" smtClean="0"/>
              <a:t>val</a:t>
            </a:r>
            <a:r>
              <a:rPr lang="en-US" dirty="0" smtClean="0"/>
              <a:t> = </a:t>
            </a:r>
            <a:r>
              <a:rPr lang="en-US" dirty="0" err="1" smtClean="0"/>
              <a:t>QPage.queue</a:t>
            </a:r>
            <a:r>
              <a:rPr lang="en-US" dirty="0" smtClean="0"/>
              <a:t>[0</a:t>
            </a:r>
            <a:r>
              <a:rPr lang="en-US" dirty="0"/>
              <a:t>];</a:t>
            </a:r>
          </a:p>
          <a:p>
            <a:pPr marL="0" indent="0">
              <a:buNone/>
            </a:pPr>
            <a:r>
              <a:rPr lang="en-US" dirty="0" smtClean="0"/>
              <a:t>           </a:t>
            </a:r>
            <a:r>
              <a:rPr lang="en-US" dirty="0" err="1" smtClean="0"/>
              <a:t>QPage.get</a:t>
            </a:r>
            <a:r>
              <a:rPr lang="en-US" dirty="0"/>
              <a:t>();</a:t>
            </a:r>
          </a:p>
          <a:p>
            <a:pPr marL="0" indent="0">
              <a:buNone/>
            </a:pPr>
            <a:r>
              <a:rPr lang="en-US" dirty="0" smtClean="0"/>
              <a:t>           </a:t>
            </a:r>
            <a:r>
              <a:rPr lang="en-US" dirty="0" err="1" smtClean="0"/>
              <a:t>S.remove</a:t>
            </a:r>
            <a:r>
              <a:rPr lang="en-US" dirty="0" smtClean="0"/>
              <a:t>(</a:t>
            </a:r>
            <a:r>
              <a:rPr lang="en-US" dirty="0" err="1" smtClean="0"/>
              <a:t>val</a:t>
            </a:r>
            <a:r>
              <a:rPr lang="en-US" dirty="0"/>
              <a:t>);</a:t>
            </a:r>
          </a:p>
          <a:p>
            <a:pPr marL="0" indent="0">
              <a:buNone/>
            </a:pPr>
            <a:r>
              <a:rPr lang="en-US" dirty="0" smtClean="0"/>
              <a:t>           </a:t>
            </a:r>
            <a:r>
              <a:rPr lang="en-US" dirty="0" err="1" smtClean="0"/>
              <a:t>S.add</a:t>
            </a:r>
            <a:r>
              <a:rPr lang="en-US" dirty="0" smtClean="0"/>
              <a:t>(P[</a:t>
            </a:r>
            <a:r>
              <a:rPr lang="en-US" dirty="0" err="1" smtClean="0"/>
              <a:t>i</a:t>
            </a:r>
            <a:r>
              <a:rPr lang="en-US" dirty="0" smtClean="0"/>
              <a:t>]);</a:t>
            </a:r>
            <a:endParaRPr lang="en-US" dirty="0"/>
          </a:p>
          <a:p>
            <a:pPr marL="0" indent="0">
              <a:buNone/>
            </a:pPr>
            <a:r>
              <a:rPr lang="en-US" dirty="0" smtClean="0"/>
              <a:t>           </a:t>
            </a:r>
            <a:r>
              <a:rPr lang="en-US" dirty="0" err="1" smtClean="0"/>
              <a:t>QPage.put</a:t>
            </a:r>
            <a:r>
              <a:rPr lang="en-US" dirty="0" smtClean="0"/>
              <a:t>(P[</a:t>
            </a:r>
            <a:r>
              <a:rPr lang="en-US" dirty="0" err="1" smtClean="0"/>
              <a:t>i</a:t>
            </a:r>
            <a:r>
              <a:rPr lang="en-US" dirty="0" smtClean="0"/>
              <a:t>]);</a:t>
            </a:r>
            <a:endParaRPr lang="en-US" dirty="0"/>
          </a:p>
          <a:p>
            <a:pPr marL="0" indent="0">
              <a:buNone/>
            </a:pPr>
            <a:r>
              <a:rPr lang="en-US" dirty="0" smtClean="0"/>
              <a:t>           PF </a:t>
            </a:r>
            <a:r>
              <a:rPr lang="en-US" dirty="0"/>
              <a:t>= PF +1</a:t>
            </a:r>
            <a:r>
              <a:rPr lang="en-US" dirty="0" smtClean="0"/>
              <a:t>;</a:t>
            </a:r>
          </a:p>
          <a:p>
            <a:pPr marL="0" indent="0">
              <a:buNone/>
            </a:pPr>
            <a:r>
              <a:rPr lang="en-US" dirty="0" smtClean="0"/>
              <a:t>       end</a:t>
            </a:r>
          </a:p>
          <a:p>
            <a:pPr marL="0" indent="0">
              <a:buNone/>
            </a:pPr>
            <a:r>
              <a:rPr lang="en-US" dirty="0" smtClean="0"/>
              <a:t>    end</a:t>
            </a:r>
          </a:p>
          <a:p>
            <a:pPr marL="0" indent="0">
              <a:buNone/>
            </a:pPr>
            <a:r>
              <a:rPr lang="en-US" dirty="0"/>
              <a:t> </a:t>
            </a:r>
            <a:r>
              <a:rPr lang="en-US" dirty="0" smtClean="0"/>
              <a:t>end</a:t>
            </a:r>
          </a:p>
          <a:p>
            <a:pPr marL="0" indent="0">
              <a:buNone/>
            </a:pPr>
            <a:r>
              <a:rPr lang="en-US" dirty="0" smtClean="0"/>
              <a:t>return </a:t>
            </a:r>
            <a:r>
              <a:rPr lang="en-US" dirty="0"/>
              <a:t>PF:</a:t>
            </a:r>
          </a:p>
          <a:p>
            <a:pPr marL="0" indent="0">
              <a:buNone/>
            </a:pPr>
            <a:endParaRPr lang="en-US" dirty="0"/>
          </a:p>
        </p:txBody>
      </p:sp>
    </p:spTree>
    <p:extLst>
      <p:ext uri="{BB962C8B-B14F-4D97-AF65-F5344CB8AC3E}">
        <p14:creationId xmlns:p14="http://schemas.microsoft.com/office/powerpoint/2010/main" val="13344472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normAutofit fontScale="90000"/>
          </a:bodyPr>
          <a:lstStyle/>
          <a:p>
            <a:r>
              <a:rPr lang="en-US" sz="5400" b="1" dirty="0" smtClean="0"/>
              <a:t>Program</a:t>
            </a:r>
            <a:endParaRPr lang="en-US" sz="5400" b="1" dirty="0"/>
          </a:p>
        </p:txBody>
      </p:sp>
      <p:sp>
        <p:nvSpPr>
          <p:cNvPr id="4" name="Rectangle 1"/>
          <p:cNvSpPr>
            <a:spLocks noGrp="1" noChangeArrowheads="1"/>
          </p:cNvSpPr>
          <p:nvPr>
            <p:ph idx="1"/>
          </p:nvPr>
        </p:nvSpPr>
        <p:spPr bwMode="auto">
          <a:xfrm>
            <a:off x="838200" y="1432503"/>
            <a:ext cx="9690463" cy="49244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Consolas" panose="020B0609020204030204" pitchFamily="49" charset="0"/>
              </a:rPr>
              <a:t>#include&lt;bits/</a:t>
            </a:r>
            <a:r>
              <a:rPr kumimoji="0" lang="en-US" altLang="en-US" sz="2000" b="0" i="0" u="none" strike="noStrike" cap="none" normalizeH="0" baseline="0" dirty="0" err="1" smtClean="0">
                <a:ln>
                  <a:noFill/>
                </a:ln>
                <a:effectLst/>
                <a:latin typeface="Consolas" panose="020B0609020204030204" pitchFamily="49" charset="0"/>
              </a:rPr>
              <a:t>stdc</a:t>
            </a:r>
            <a:r>
              <a:rPr kumimoji="0" lang="en-US" altLang="en-US" sz="2000" b="0" i="0" u="none" strike="noStrike" cap="none" normalizeH="0" baseline="0" dirty="0" smtClean="0">
                <a:ln>
                  <a:noFill/>
                </a:ln>
                <a:effectLst/>
                <a:latin typeface="Consolas" panose="020B0609020204030204" pitchFamily="49" charset="0"/>
              </a:rPr>
              <a:t>++.h&gt;</a:t>
            </a:r>
            <a:endParaRPr kumimoji="0" lang="en-US" altLang="en-US" sz="20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effectLst/>
                <a:latin typeface="Consolas" panose="020B0609020204030204" pitchFamily="49" charset="0"/>
              </a:rPr>
              <a:t>using</a:t>
            </a:r>
            <a:r>
              <a:rPr kumimoji="0" lang="en-US" altLang="en-US" sz="2000" b="0" i="0" u="none" strike="noStrike" cap="none" normalizeH="0" baseline="0" dirty="0" smtClean="0">
                <a:ln>
                  <a:noFill/>
                </a:ln>
                <a:effectLst/>
                <a:latin typeface="Consolas" panose="020B0609020204030204" pitchFamily="49" charset="0"/>
              </a:rPr>
              <a:t> </a:t>
            </a:r>
            <a:r>
              <a:rPr kumimoji="0" lang="en-US" altLang="en-US" sz="2000" b="1" i="0" u="none" strike="noStrike" cap="none" normalizeH="0" baseline="0" dirty="0" smtClean="0">
                <a:ln>
                  <a:noFill/>
                </a:ln>
                <a:effectLst/>
                <a:latin typeface="Consolas" panose="020B0609020204030204" pitchFamily="49" charset="0"/>
              </a:rPr>
              <a:t>namespace</a:t>
            </a:r>
            <a:r>
              <a:rPr kumimoji="0" lang="en-US" altLang="en-US" sz="2000" b="0" i="0" u="none" strike="noStrike" cap="none" normalizeH="0" baseline="0" dirty="0" smtClean="0">
                <a:ln>
                  <a:noFill/>
                </a:ln>
                <a:effectLst/>
                <a:latin typeface="Consolas" panose="020B0609020204030204" pitchFamily="49" charset="0"/>
              </a:rPr>
              <a:t> </a:t>
            </a:r>
            <a:r>
              <a:rPr kumimoji="0" lang="en-US" altLang="en-US" sz="2000" b="0" i="0" u="none" strike="noStrike" cap="none" normalizeH="0" baseline="0" dirty="0" err="1" smtClean="0">
                <a:ln>
                  <a:noFill/>
                </a:ln>
                <a:effectLst/>
                <a:latin typeface="Consolas" panose="020B0609020204030204" pitchFamily="49" charset="0"/>
              </a:rPr>
              <a:t>std</a:t>
            </a:r>
            <a:r>
              <a:rPr kumimoji="0" lang="en-US" altLang="en-US" sz="2000" b="0" i="0" u="none" strike="noStrike" cap="none" normalizeH="0" baseline="0" dirty="0" smtClean="0">
                <a:ln>
                  <a:noFill/>
                </a:ln>
                <a:effectLst/>
                <a:latin typeface="Consolas" panose="020B0609020204030204" pitchFamily="49" charset="0"/>
              </a:rPr>
              <a:t>;</a:t>
            </a:r>
            <a:endParaRPr kumimoji="0" lang="en-US" altLang="en-US" sz="20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Consolas" panose="020B0609020204030204" pitchFamily="49" charset="0"/>
              </a:rPr>
              <a:t>  </a:t>
            </a:r>
            <a:endParaRPr kumimoji="0" lang="en-US" altLang="en-US" sz="36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accent3"/>
                </a:solidFill>
                <a:effectLst/>
                <a:latin typeface="Consolas" panose="020B0609020204030204" pitchFamily="49" charset="0"/>
              </a:rPr>
              <a:t>// Function to find page faults using FIFO</a:t>
            </a:r>
            <a:endParaRPr kumimoji="0" lang="en-US" altLang="en-US" sz="2000" b="0" i="0" u="none" strike="noStrike" cap="none" normalizeH="0" baseline="0" dirty="0" smtClean="0">
              <a:ln>
                <a:noFill/>
              </a:ln>
              <a:solidFill>
                <a:schemeClr val="accent3"/>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smtClean="0">
                <a:ln>
                  <a:noFill/>
                </a:ln>
                <a:effectLst/>
                <a:latin typeface="Consolas" panose="020B0609020204030204" pitchFamily="49" charset="0"/>
              </a:rPr>
              <a:t>int</a:t>
            </a:r>
            <a:r>
              <a:rPr kumimoji="0" lang="en-US" altLang="en-US" sz="2000" b="0" i="0" u="none" strike="noStrike" cap="none" normalizeH="0" baseline="0" dirty="0" smtClean="0">
                <a:ln>
                  <a:noFill/>
                </a:ln>
                <a:effectLst/>
                <a:latin typeface="Consolas" panose="020B0609020204030204" pitchFamily="49" charset="0"/>
              </a:rPr>
              <a:t> </a:t>
            </a:r>
            <a:r>
              <a:rPr kumimoji="0" lang="en-US" altLang="en-US" sz="2000" b="0" i="0" u="none" strike="noStrike" cap="none" normalizeH="0" baseline="0" dirty="0" err="1" smtClean="0">
                <a:ln>
                  <a:noFill/>
                </a:ln>
                <a:effectLst/>
                <a:latin typeface="Consolas" panose="020B0609020204030204" pitchFamily="49" charset="0"/>
              </a:rPr>
              <a:t>pageFaults</a:t>
            </a:r>
            <a:r>
              <a:rPr kumimoji="0" lang="en-US" altLang="en-US" sz="2000" b="0" i="0" u="none" strike="noStrike" cap="none" normalizeH="0" baseline="0" dirty="0" smtClean="0">
                <a:ln>
                  <a:noFill/>
                </a:ln>
                <a:effectLst/>
                <a:latin typeface="Consolas" panose="020B0609020204030204" pitchFamily="49" charset="0"/>
              </a:rPr>
              <a:t>(</a:t>
            </a:r>
            <a:r>
              <a:rPr kumimoji="0" lang="en-US" altLang="en-US" sz="2000" b="1" i="0" u="none" strike="noStrike" cap="none" normalizeH="0" baseline="0" dirty="0" err="1" smtClean="0">
                <a:ln>
                  <a:noFill/>
                </a:ln>
                <a:effectLst/>
                <a:latin typeface="Consolas" panose="020B0609020204030204" pitchFamily="49" charset="0"/>
              </a:rPr>
              <a:t>int</a:t>
            </a:r>
            <a:r>
              <a:rPr kumimoji="0" lang="en-US" altLang="en-US" sz="2000" b="0" i="0" u="none" strike="noStrike" cap="none" normalizeH="0" baseline="0" dirty="0" smtClean="0">
                <a:ln>
                  <a:noFill/>
                </a:ln>
                <a:effectLst/>
                <a:latin typeface="Consolas" panose="020B0609020204030204" pitchFamily="49" charset="0"/>
              </a:rPr>
              <a:t> pages[], </a:t>
            </a:r>
            <a:r>
              <a:rPr kumimoji="0" lang="en-US" altLang="en-US" sz="2000" b="1" i="0" u="none" strike="noStrike" cap="none" normalizeH="0" baseline="0" dirty="0" err="1" smtClean="0">
                <a:ln>
                  <a:noFill/>
                </a:ln>
                <a:effectLst/>
                <a:latin typeface="Consolas" panose="020B0609020204030204" pitchFamily="49" charset="0"/>
              </a:rPr>
              <a:t>int</a:t>
            </a:r>
            <a:r>
              <a:rPr kumimoji="0" lang="en-US" altLang="en-US" sz="2000" b="0" i="0" u="none" strike="noStrike" cap="none" normalizeH="0" baseline="0" dirty="0" smtClean="0">
                <a:ln>
                  <a:noFill/>
                </a:ln>
                <a:effectLst/>
                <a:latin typeface="Consolas" panose="020B0609020204030204" pitchFamily="49" charset="0"/>
              </a:rPr>
              <a:t> n, </a:t>
            </a:r>
            <a:r>
              <a:rPr kumimoji="0" lang="en-US" altLang="en-US" sz="2000" b="1" i="0" u="none" strike="noStrike" cap="none" normalizeH="0" baseline="0" dirty="0" err="1" smtClean="0">
                <a:ln>
                  <a:noFill/>
                </a:ln>
                <a:effectLst/>
                <a:latin typeface="Consolas" panose="020B0609020204030204" pitchFamily="49" charset="0"/>
              </a:rPr>
              <a:t>int</a:t>
            </a:r>
            <a:r>
              <a:rPr kumimoji="0" lang="en-US" altLang="en-US" sz="2000" b="0" i="0" u="none" strike="noStrike" cap="none" normalizeH="0" baseline="0" dirty="0" smtClean="0">
                <a:ln>
                  <a:noFill/>
                </a:ln>
                <a:effectLst/>
                <a:latin typeface="Consolas" panose="020B0609020204030204" pitchFamily="49" charset="0"/>
              </a:rPr>
              <a:t> capacity)</a:t>
            </a:r>
            <a:endParaRPr kumimoji="0" lang="en-US" altLang="en-US" sz="20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Consolas" panose="020B0609020204030204" pitchFamily="49" charset="0"/>
              </a:rPr>
              <a:t>{</a:t>
            </a:r>
            <a:endParaRPr kumimoji="0" lang="en-US" altLang="en-US" sz="20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Consolas" panose="020B0609020204030204" pitchFamily="49" charset="0"/>
              </a:rPr>
              <a:t>    </a:t>
            </a:r>
            <a:r>
              <a:rPr kumimoji="0" lang="en-US" altLang="en-US" sz="2000" b="0" i="0" u="none" strike="noStrike" cap="none" normalizeH="0" baseline="0" dirty="0" smtClean="0">
                <a:ln>
                  <a:noFill/>
                </a:ln>
                <a:solidFill>
                  <a:schemeClr val="accent3"/>
                </a:solidFill>
                <a:effectLst/>
                <a:latin typeface="Consolas" panose="020B0609020204030204" pitchFamily="49" charset="0"/>
              </a:rPr>
              <a:t>/* To represent set of current pages. We use</a:t>
            </a:r>
            <a:r>
              <a:rPr lang="en-US" altLang="en-US" sz="2000" dirty="0">
                <a:solidFill>
                  <a:schemeClr val="accent3"/>
                </a:solidFill>
              </a:rPr>
              <a:t> </a:t>
            </a:r>
            <a:r>
              <a:rPr kumimoji="0" lang="en-US" altLang="en-US" sz="2000" b="0" i="0" u="none" strike="noStrike" cap="none" normalizeH="0" baseline="0" dirty="0" smtClean="0">
                <a:ln>
                  <a:noFill/>
                </a:ln>
                <a:solidFill>
                  <a:schemeClr val="accent3"/>
                </a:solidFill>
                <a:effectLst/>
                <a:latin typeface="Consolas" panose="020B0609020204030204" pitchFamily="49" charset="0"/>
              </a:rPr>
              <a:t>an </a:t>
            </a:r>
            <a:r>
              <a:rPr kumimoji="0" lang="en-US" altLang="en-US" sz="2000" b="0" i="0" u="none" strike="noStrike" cap="none" normalizeH="0" baseline="0" dirty="0" err="1" smtClean="0">
                <a:ln>
                  <a:noFill/>
                </a:ln>
                <a:solidFill>
                  <a:schemeClr val="accent3"/>
                </a:solidFill>
                <a:effectLst/>
                <a:latin typeface="Consolas" panose="020B0609020204030204" pitchFamily="49" charset="0"/>
              </a:rPr>
              <a:t>unordered_set</a:t>
            </a:r>
            <a:r>
              <a:rPr kumimoji="0" lang="en-US" altLang="en-US" sz="2000" b="0" i="0" u="none" strike="noStrike" cap="none" normalizeH="0" baseline="0" dirty="0" smtClean="0">
                <a:ln>
                  <a:noFill/>
                </a:ln>
                <a:solidFill>
                  <a:schemeClr val="accent3"/>
                </a:solidFill>
                <a:effectLst/>
                <a:latin typeface="Consolas" panose="020B0609020204030204" pitchFamily="49" charset="0"/>
              </a:rPr>
              <a:t> so       	that we quickly check</a:t>
            </a:r>
            <a:r>
              <a:rPr lang="en-US" altLang="en-US" sz="2000" dirty="0">
                <a:solidFill>
                  <a:schemeClr val="accent3"/>
                </a:solidFill>
              </a:rPr>
              <a:t> </a:t>
            </a:r>
            <a:r>
              <a:rPr kumimoji="0" lang="en-US" altLang="en-US" sz="2000" b="0" i="0" u="none" strike="noStrike" cap="none" normalizeH="0" baseline="0" dirty="0" smtClean="0">
                <a:ln>
                  <a:noFill/>
                </a:ln>
                <a:solidFill>
                  <a:schemeClr val="accent3"/>
                </a:solidFill>
                <a:effectLst/>
                <a:latin typeface="Consolas" panose="020B0609020204030204" pitchFamily="49" charset="0"/>
              </a:rPr>
              <a:t>if a page is present in set or not */</a:t>
            </a:r>
            <a:endParaRPr kumimoji="0" lang="en-US" altLang="en-US" sz="2000" b="0" i="0" u="none" strike="noStrike" cap="none" normalizeH="0" baseline="0" dirty="0" smtClean="0">
              <a:ln>
                <a:noFill/>
              </a:ln>
              <a:solidFill>
                <a:schemeClr val="accent3"/>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Consolas" panose="020B0609020204030204" pitchFamily="49" charset="0"/>
              </a:rPr>
              <a:t>    </a:t>
            </a:r>
            <a:r>
              <a:rPr kumimoji="0" lang="en-US" altLang="en-US" sz="2000" b="0" i="0" u="none" strike="noStrike" cap="none" normalizeH="0" baseline="0" dirty="0" err="1" smtClean="0">
                <a:ln>
                  <a:noFill/>
                </a:ln>
                <a:effectLst/>
                <a:latin typeface="Consolas" panose="020B0609020204030204" pitchFamily="49" charset="0"/>
              </a:rPr>
              <a:t>unordered_set</a:t>
            </a:r>
            <a:r>
              <a:rPr kumimoji="0" lang="en-US" altLang="en-US" sz="2000" b="0" i="0" u="none" strike="noStrike" cap="none" normalizeH="0" baseline="0" dirty="0" smtClean="0">
                <a:ln>
                  <a:noFill/>
                </a:ln>
                <a:effectLst/>
                <a:latin typeface="Consolas" panose="020B0609020204030204" pitchFamily="49" charset="0"/>
              </a:rPr>
              <a:t>&lt;</a:t>
            </a:r>
            <a:r>
              <a:rPr kumimoji="0" lang="en-US" altLang="en-US" sz="2000" b="1" i="0" u="none" strike="noStrike" cap="none" normalizeH="0" baseline="0" dirty="0" err="1" smtClean="0">
                <a:ln>
                  <a:noFill/>
                </a:ln>
                <a:effectLst/>
                <a:latin typeface="Consolas" panose="020B0609020204030204" pitchFamily="49" charset="0"/>
              </a:rPr>
              <a:t>int</a:t>
            </a:r>
            <a:r>
              <a:rPr kumimoji="0" lang="en-US" altLang="en-US" sz="2000" b="0" i="0" u="none" strike="noStrike" cap="none" normalizeH="0" baseline="0" dirty="0" smtClean="0">
                <a:ln>
                  <a:noFill/>
                </a:ln>
                <a:effectLst/>
                <a:latin typeface="Consolas" panose="020B0609020204030204" pitchFamily="49" charset="0"/>
              </a:rPr>
              <a:t>&gt; s;</a:t>
            </a:r>
            <a:endParaRPr kumimoji="0" lang="en-US" altLang="en-US" sz="20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Consolas" panose="020B0609020204030204" pitchFamily="49" charset="0"/>
              </a:rPr>
              <a:t>  </a:t>
            </a:r>
            <a:endParaRPr kumimoji="0" lang="en-US" altLang="en-US" sz="36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Consolas" panose="020B0609020204030204" pitchFamily="49" charset="0"/>
              </a:rPr>
              <a:t>    </a:t>
            </a:r>
            <a:r>
              <a:rPr kumimoji="0" lang="en-US" altLang="en-US" sz="2000" b="0" i="0" u="none" strike="noStrike" cap="none" normalizeH="0" baseline="0" dirty="0" smtClean="0">
                <a:ln>
                  <a:noFill/>
                </a:ln>
                <a:solidFill>
                  <a:schemeClr val="accent3"/>
                </a:solidFill>
                <a:effectLst/>
                <a:latin typeface="Consolas" panose="020B0609020204030204" pitchFamily="49" charset="0"/>
              </a:rPr>
              <a:t>// To store the pages in FIFO manner</a:t>
            </a:r>
            <a:endParaRPr kumimoji="0" lang="en-US" altLang="en-US" sz="2000" b="0" i="0" u="none" strike="noStrike" cap="none" normalizeH="0" baseline="0" dirty="0" smtClean="0">
              <a:ln>
                <a:noFill/>
              </a:ln>
              <a:solidFill>
                <a:schemeClr val="accent3"/>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Consolas" panose="020B0609020204030204" pitchFamily="49" charset="0"/>
              </a:rPr>
              <a:t>    queue&lt;</a:t>
            </a:r>
            <a:r>
              <a:rPr kumimoji="0" lang="en-US" altLang="en-US" sz="2000" b="1" i="0" u="none" strike="noStrike" cap="none" normalizeH="0" baseline="0" dirty="0" err="1" smtClean="0">
                <a:ln>
                  <a:noFill/>
                </a:ln>
                <a:effectLst/>
                <a:latin typeface="Consolas" panose="020B0609020204030204" pitchFamily="49" charset="0"/>
              </a:rPr>
              <a:t>int</a:t>
            </a:r>
            <a:r>
              <a:rPr kumimoji="0" lang="en-US" altLang="en-US" sz="2000" b="0" i="0" u="none" strike="noStrike" cap="none" normalizeH="0" baseline="0" dirty="0" smtClean="0">
                <a:ln>
                  <a:noFill/>
                </a:ln>
                <a:effectLst/>
                <a:latin typeface="Consolas" panose="020B0609020204030204" pitchFamily="49" charset="0"/>
              </a:rPr>
              <a:t>&gt; indexes;</a:t>
            </a:r>
            <a:endParaRPr kumimoji="0" lang="en-US" altLang="en-US" sz="20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Consolas" panose="020B0609020204030204" pitchFamily="49" charset="0"/>
              </a:rPr>
              <a:t>  </a:t>
            </a:r>
            <a:endParaRPr kumimoji="0" lang="en-US" altLang="en-US" sz="36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Consolas" panose="020B0609020204030204" pitchFamily="49" charset="0"/>
              </a:rPr>
              <a:t>    </a:t>
            </a:r>
            <a:r>
              <a:rPr kumimoji="0" lang="en-US" altLang="en-US" sz="2000" b="0" i="0" u="none" strike="noStrike" cap="none" normalizeH="0" baseline="0" dirty="0" smtClean="0">
                <a:ln>
                  <a:noFill/>
                </a:ln>
                <a:solidFill>
                  <a:schemeClr val="accent3"/>
                </a:solidFill>
                <a:effectLst/>
                <a:latin typeface="Consolas" panose="020B0609020204030204" pitchFamily="49" charset="0"/>
              </a:rPr>
              <a:t>// Start from initial page</a:t>
            </a:r>
            <a:endParaRPr kumimoji="0" lang="en-US" altLang="en-US" sz="2000" b="0" i="0" u="none" strike="noStrike" cap="none" normalizeH="0" baseline="0" dirty="0" smtClean="0">
              <a:ln>
                <a:noFill/>
              </a:ln>
              <a:solidFill>
                <a:schemeClr val="accent3"/>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Consolas" panose="020B0609020204030204" pitchFamily="49" charset="0"/>
              </a:rPr>
              <a:t>    </a:t>
            </a:r>
            <a:r>
              <a:rPr kumimoji="0" lang="en-US" altLang="en-US" sz="2000" b="1" i="0" u="none" strike="noStrike" cap="none" normalizeH="0" baseline="0" dirty="0" err="1" smtClean="0">
                <a:ln>
                  <a:noFill/>
                </a:ln>
                <a:effectLst/>
                <a:latin typeface="Consolas" panose="020B0609020204030204" pitchFamily="49" charset="0"/>
              </a:rPr>
              <a:t>int</a:t>
            </a:r>
            <a:r>
              <a:rPr kumimoji="0" lang="en-US" altLang="en-US" sz="2000" b="0" i="0" u="none" strike="noStrike" cap="none" normalizeH="0" baseline="0" dirty="0" smtClean="0">
                <a:ln>
                  <a:noFill/>
                </a:ln>
                <a:effectLst/>
                <a:latin typeface="Consolas" panose="020B0609020204030204" pitchFamily="49" charset="0"/>
              </a:rPr>
              <a:t> </a:t>
            </a:r>
            <a:r>
              <a:rPr kumimoji="0" lang="en-US" altLang="en-US" sz="2000" b="0" i="0" u="none" strike="noStrike" cap="none" normalizeH="0" baseline="0" dirty="0" err="1" smtClean="0">
                <a:ln>
                  <a:noFill/>
                </a:ln>
                <a:effectLst/>
                <a:latin typeface="Consolas" panose="020B0609020204030204" pitchFamily="49" charset="0"/>
              </a:rPr>
              <a:t>page_faults</a:t>
            </a:r>
            <a:r>
              <a:rPr kumimoji="0" lang="en-US" altLang="en-US" sz="2000" b="0" i="0" u="none" strike="noStrike" cap="none" normalizeH="0" baseline="0" dirty="0" smtClean="0">
                <a:ln>
                  <a:noFill/>
                </a:ln>
                <a:effectLst/>
                <a:latin typeface="Consolas" panose="020B0609020204030204" pitchFamily="49" charset="0"/>
              </a:rPr>
              <a:t> = 0;</a:t>
            </a:r>
            <a:endParaRPr kumimoji="0" lang="en-US" altLang="en-US" sz="20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Consolas" panose="020B0609020204030204" pitchFamily="49" charset="0"/>
              </a:rPr>
              <a:t>    </a:t>
            </a:r>
            <a:endParaRPr kumimoji="0" lang="en-US" altLang="en-US" sz="3600" b="0" i="0" u="none" strike="noStrike" cap="none" normalizeH="0" baseline="0" dirty="0" smtClean="0">
              <a:ln>
                <a:noFill/>
              </a:ln>
              <a:effectLst/>
            </a:endParaRPr>
          </a:p>
        </p:txBody>
      </p:sp>
    </p:spTree>
    <p:extLst>
      <p:ext uri="{BB962C8B-B14F-4D97-AF65-F5344CB8AC3E}">
        <p14:creationId xmlns:p14="http://schemas.microsoft.com/office/powerpoint/2010/main" val="29432984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074" y="694100"/>
            <a:ext cx="10515600" cy="6085523"/>
          </a:xfrm>
        </p:spPr>
        <p:txBody>
          <a:bodyPr>
            <a:normAutofit fontScale="77500" lnSpcReduction="20000"/>
          </a:bodyPr>
          <a:lstStyle/>
          <a:p>
            <a:pPr marL="0" lvl="0" indent="0" eaLnBrk="0" fontAlgn="base" hangingPunct="0">
              <a:lnSpc>
                <a:spcPct val="100000"/>
              </a:lnSpc>
              <a:spcBef>
                <a:spcPct val="0"/>
              </a:spcBef>
              <a:spcAft>
                <a:spcPct val="0"/>
              </a:spcAft>
              <a:buNone/>
            </a:pPr>
            <a:r>
              <a:rPr lang="en-US" altLang="en-US" b="1" dirty="0">
                <a:latin typeface="Consolas" panose="020B0609020204030204" pitchFamily="49" charset="0"/>
              </a:rPr>
              <a:t>for</a:t>
            </a:r>
            <a:r>
              <a:rPr lang="en-US" altLang="en-US" dirty="0">
                <a:latin typeface="Consolas" panose="020B0609020204030204" pitchFamily="49" charset="0"/>
              </a:rPr>
              <a:t> (</a:t>
            </a:r>
            <a:r>
              <a:rPr lang="en-US" altLang="en-US" b="1" dirty="0" err="1">
                <a:latin typeface="Consolas" panose="020B0609020204030204" pitchFamily="49" charset="0"/>
              </a:rPr>
              <a:t>int</a:t>
            </a:r>
            <a:r>
              <a:rPr lang="en-US" altLang="en-US" dirty="0">
                <a:latin typeface="Consolas" panose="020B0609020204030204" pitchFamily="49" charset="0"/>
              </a:rPr>
              <a:t> </a:t>
            </a:r>
            <a:r>
              <a:rPr lang="en-US" altLang="en-US" dirty="0" err="1">
                <a:latin typeface="Consolas" panose="020B0609020204030204" pitchFamily="49" charset="0"/>
              </a:rPr>
              <a:t>i</a:t>
            </a:r>
            <a:r>
              <a:rPr lang="en-US" altLang="en-US" dirty="0">
                <a:latin typeface="Consolas" panose="020B0609020204030204" pitchFamily="49" charset="0"/>
              </a:rPr>
              <a:t>=0; </a:t>
            </a:r>
            <a:r>
              <a:rPr lang="en-US" altLang="en-US" dirty="0" err="1">
                <a:latin typeface="Consolas" panose="020B0609020204030204" pitchFamily="49" charset="0"/>
              </a:rPr>
              <a:t>i</a:t>
            </a:r>
            <a:r>
              <a:rPr lang="en-US" altLang="en-US" dirty="0">
                <a:latin typeface="Consolas" panose="020B0609020204030204" pitchFamily="49" charset="0"/>
              </a:rPr>
              <a:t>&lt;n; </a:t>
            </a:r>
            <a:r>
              <a:rPr lang="en-US" altLang="en-US" dirty="0" err="1">
                <a:latin typeface="Consolas" panose="020B0609020204030204" pitchFamily="49" charset="0"/>
              </a:rPr>
              <a:t>i</a:t>
            </a: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a:solidFill>
                  <a:schemeClr val="accent3"/>
                </a:solidFill>
                <a:latin typeface="Consolas" panose="020B0609020204030204" pitchFamily="49" charset="0"/>
              </a:rPr>
              <a:t>// Check if the set can hold more pages</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b="1" dirty="0">
                <a:latin typeface="Consolas" panose="020B0609020204030204" pitchFamily="49" charset="0"/>
              </a:rPr>
              <a:t>if</a:t>
            </a:r>
            <a:r>
              <a:rPr lang="en-US" altLang="en-US" dirty="0">
                <a:latin typeface="Consolas" panose="020B0609020204030204" pitchFamily="49" charset="0"/>
              </a:rPr>
              <a:t> (</a:t>
            </a:r>
            <a:r>
              <a:rPr lang="en-US" altLang="en-US" dirty="0" err="1">
                <a:latin typeface="Consolas" panose="020B0609020204030204" pitchFamily="49" charset="0"/>
              </a:rPr>
              <a:t>s.size</a:t>
            </a:r>
            <a:r>
              <a:rPr lang="en-US" altLang="en-US" dirty="0">
                <a:latin typeface="Consolas" panose="020B0609020204030204" pitchFamily="49" charset="0"/>
              </a:rPr>
              <a:t>() &lt; capacity)</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smtClean="0">
                <a:solidFill>
                  <a:schemeClr val="accent3"/>
                </a:solidFill>
                <a:latin typeface="Consolas" panose="020B0609020204030204" pitchFamily="49" charset="0"/>
              </a:rPr>
              <a:t>/* </a:t>
            </a:r>
            <a:r>
              <a:rPr lang="en-US" altLang="en-US" dirty="0">
                <a:solidFill>
                  <a:schemeClr val="accent3"/>
                </a:solidFill>
                <a:latin typeface="Consolas" panose="020B0609020204030204" pitchFamily="49" charset="0"/>
              </a:rPr>
              <a:t>Insert it into set if not </a:t>
            </a:r>
            <a:r>
              <a:rPr lang="en-US" altLang="en-US" dirty="0" smtClean="0">
                <a:solidFill>
                  <a:schemeClr val="accent3"/>
                </a:solidFill>
                <a:latin typeface="Consolas" panose="020B0609020204030204" pitchFamily="49" charset="0"/>
              </a:rPr>
              <a:t>present</a:t>
            </a:r>
            <a:r>
              <a:rPr lang="en-US" altLang="en-US" dirty="0" smtClean="0">
                <a:solidFill>
                  <a:schemeClr val="accent3"/>
                </a:solidFill>
              </a:rPr>
              <a:t> </a:t>
            </a:r>
            <a:r>
              <a:rPr lang="en-US" altLang="en-US" dirty="0" smtClean="0">
                <a:solidFill>
                  <a:schemeClr val="accent3"/>
                </a:solidFill>
                <a:latin typeface="Consolas" panose="020B0609020204030204" pitchFamily="49" charset="0"/>
              </a:rPr>
              <a:t>already which 			   represents </a:t>
            </a:r>
            <a:r>
              <a:rPr lang="en-US" altLang="en-US" dirty="0">
                <a:solidFill>
                  <a:schemeClr val="accent3"/>
                </a:solidFill>
                <a:latin typeface="Consolas" panose="020B0609020204030204" pitchFamily="49" charset="0"/>
              </a:rPr>
              <a:t>page </a:t>
            </a:r>
            <a:r>
              <a:rPr lang="en-US" altLang="en-US" dirty="0" smtClean="0">
                <a:solidFill>
                  <a:schemeClr val="accent3"/>
                </a:solidFill>
                <a:latin typeface="Consolas" panose="020B0609020204030204" pitchFamily="49" charset="0"/>
              </a:rPr>
              <a:t>fault */</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b="1" dirty="0">
                <a:latin typeface="Consolas" panose="020B0609020204030204" pitchFamily="49" charset="0"/>
              </a:rPr>
              <a:t>if</a:t>
            </a:r>
            <a:r>
              <a:rPr lang="en-US" altLang="en-US" dirty="0">
                <a:latin typeface="Consolas" panose="020B0609020204030204" pitchFamily="49" charset="0"/>
              </a:rPr>
              <a:t> (</a:t>
            </a:r>
            <a:r>
              <a:rPr lang="en-US" altLang="en-US" dirty="0" err="1">
                <a:latin typeface="Consolas" panose="020B0609020204030204" pitchFamily="49" charset="0"/>
              </a:rPr>
              <a:t>s.find</a:t>
            </a:r>
            <a:r>
              <a:rPr lang="en-US" altLang="en-US" dirty="0">
                <a:latin typeface="Consolas" panose="020B0609020204030204" pitchFamily="49" charset="0"/>
              </a:rPr>
              <a:t>(pages[</a:t>
            </a:r>
            <a:r>
              <a:rPr lang="en-US" altLang="en-US" dirty="0" err="1">
                <a:latin typeface="Consolas" panose="020B0609020204030204" pitchFamily="49" charset="0"/>
              </a:rPr>
              <a:t>i</a:t>
            </a:r>
            <a:r>
              <a:rPr lang="en-US" altLang="en-US" dirty="0">
                <a:latin typeface="Consolas" panose="020B0609020204030204" pitchFamily="49" charset="0"/>
              </a:rPr>
              <a:t>])==</a:t>
            </a:r>
            <a:r>
              <a:rPr lang="en-US" altLang="en-US" dirty="0" err="1">
                <a:latin typeface="Consolas" panose="020B0609020204030204" pitchFamily="49" charset="0"/>
              </a:rPr>
              <a:t>s.end</a:t>
            </a: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a:solidFill>
                  <a:schemeClr val="accent3"/>
                </a:solidFill>
                <a:latin typeface="Consolas" panose="020B0609020204030204" pitchFamily="49" charset="0"/>
              </a:rPr>
              <a:t>// Insert the current page into the set</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err="1">
                <a:latin typeface="Consolas" panose="020B0609020204030204" pitchFamily="49" charset="0"/>
              </a:rPr>
              <a:t>s.insert</a:t>
            </a:r>
            <a:r>
              <a:rPr lang="en-US" altLang="en-US" dirty="0">
                <a:latin typeface="Consolas" panose="020B0609020204030204" pitchFamily="49" charset="0"/>
              </a:rPr>
              <a:t>(pages[</a:t>
            </a:r>
            <a:r>
              <a:rPr lang="en-US" altLang="en-US" dirty="0" err="1">
                <a:latin typeface="Consolas" panose="020B0609020204030204" pitchFamily="49" charset="0"/>
              </a:rPr>
              <a:t>i</a:t>
            </a: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endParaRPr kumimoji="0" lang="en-US" altLang="en-US" sz="4400" b="0" i="0" u="none" strike="noStrike" cap="none" normalizeH="0" baseline="0" dirty="0" smtClean="0">
              <a:ln>
                <a:noFill/>
              </a:ln>
              <a:effectLst/>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a:solidFill>
                  <a:schemeClr val="accent3"/>
                </a:solidFill>
                <a:latin typeface="Consolas" panose="020B0609020204030204" pitchFamily="49" charset="0"/>
              </a:rPr>
              <a:t>// increment page fault</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err="1">
                <a:latin typeface="Consolas" panose="020B0609020204030204" pitchFamily="49" charset="0"/>
              </a:rPr>
              <a:t>page_faults</a:t>
            </a: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endParaRPr kumimoji="0" lang="en-US" altLang="en-US" sz="4400" b="0" i="0" u="none" strike="noStrike" cap="none" normalizeH="0" baseline="0" dirty="0" smtClean="0">
              <a:ln>
                <a:noFill/>
              </a:ln>
              <a:effectLst/>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a:solidFill>
                  <a:schemeClr val="accent3"/>
                </a:solidFill>
                <a:latin typeface="Consolas" panose="020B0609020204030204" pitchFamily="49" charset="0"/>
              </a:rPr>
              <a:t>// Push the current page into the queue</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err="1">
                <a:latin typeface="Consolas" panose="020B0609020204030204" pitchFamily="49" charset="0"/>
              </a:rPr>
              <a:t>indexes.push</a:t>
            </a:r>
            <a:r>
              <a:rPr lang="en-US" altLang="en-US" dirty="0">
                <a:latin typeface="Consolas" panose="020B0609020204030204" pitchFamily="49" charset="0"/>
              </a:rPr>
              <a:t>(pages[</a:t>
            </a:r>
            <a:r>
              <a:rPr lang="en-US" altLang="en-US" dirty="0" err="1">
                <a:latin typeface="Consolas" panose="020B0609020204030204" pitchFamily="49" charset="0"/>
              </a:rPr>
              <a:t>i</a:t>
            </a: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endParaRPr kumimoji="0" lang="en-US" altLang="en-US" sz="4400" b="0" i="0" u="none" strike="noStrike" cap="none" normalizeH="0" baseline="0" dirty="0" smtClean="0">
              <a:ln>
                <a:noFill/>
              </a:ln>
              <a:effectLst/>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endParaRPr lang="en-US" dirty="0"/>
          </a:p>
        </p:txBody>
      </p:sp>
    </p:spTree>
    <p:extLst>
      <p:ext uri="{BB962C8B-B14F-4D97-AF65-F5344CB8AC3E}">
        <p14:creationId xmlns:p14="http://schemas.microsoft.com/office/powerpoint/2010/main" val="29428926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
            <a:ext cx="10515600" cy="6621100"/>
          </a:xfrm>
        </p:spPr>
        <p:txBody>
          <a:bodyPr>
            <a:noAutofit/>
          </a:bodyPr>
          <a:lstStyle/>
          <a:p>
            <a:pPr marL="0" lvl="0" indent="0" eaLnBrk="0" fontAlgn="base" hangingPunct="0">
              <a:lnSpc>
                <a:spcPct val="100000"/>
              </a:lnSpc>
              <a:spcBef>
                <a:spcPct val="0"/>
              </a:spcBef>
              <a:spcAft>
                <a:spcPct val="0"/>
              </a:spcAft>
              <a:buNone/>
            </a:pPr>
            <a:r>
              <a:rPr lang="en-US" altLang="en-US" sz="700" dirty="0" smtClean="0">
                <a:latin typeface="Consolas" panose="020B0609020204030204" pitchFamily="49" charset="0"/>
              </a:rPr>
              <a:t> </a:t>
            </a:r>
            <a:r>
              <a:rPr lang="en-US" altLang="en-US" sz="1400" dirty="0" smtClean="0">
                <a:latin typeface="Consolas" panose="020B0609020204030204" pitchFamily="49" charset="0"/>
              </a:rPr>
              <a:t>       </a:t>
            </a:r>
            <a:r>
              <a:rPr lang="en-US" altLang="en-US" sz="1400" dirty="0" smtClean="0">
                <a:solidFill>
                  <a:schemeClr val="accent3"/>
                </a:solidFill>
                <a:latin typeface="Consolas" panose="020B0609020204030204" pitchFamily="49" charset="0"/>
              </a:rPr>
              <a:t>/* If the set is full then need to perform FIFO</a:t>
            </a:r>
            <a:r>
              <a:rPr lang="en-US" altLang="en-US" sz="1400" dirty="0">
                <a:solidFill>
                  <a:schemeClr val="accent3"/>
                </a:solidFill>
              </a:rPr>
              <a:t> </a:t>
            </a:r>
            <a:r>
              <a:rPr lang="en-US" altLang="en-US" sz="1400" dirty="0" smtClean="0">
                <a:solidFill>
                  <a:schemeClr val="accent3"/>
                </a:solidFill>
              </a:rPr>
              <a:t> </a:t>
            </a:r>
            <a:r>
              <a:rPr lang="en-US" altLang="en-US" sz="1400" dirty="0" smtClean="0">
                <a:solidFill>
                  <a:schemeClr val="accent3"/>
                </a:solidFill>
                <a:latin typeface="Consolas" panose="020B0609020204030204" pitchFamily="49" charset="0"/>
              </a:rPr>
              <a:t>i.e. remove the first page of the queue from</a:t>
            </a:r>
            <a:r>
              <a:rPr lang="en-US" altLang="en-US" sz="1400" dirty="0">
                <a:solidFill>
                  <a:schemeClr val="accent3"/>
                </a:solidFill>
              </a:rPr>
              <a:t>  </a:t>
            </a:r>
            <a:r>
              <a:rPr lang="en-US" altLang="en-US" sz="1400" dirty="0" smtClean="0">
                <a:solidFill>
                  <a:schemeClr val="accent3"/>
                </a:solidFill>
                <a:latin typeface="Consolas" panose="020B0609020204030204" pitchFamily="49" charset="0"/>
              </a:rPr>
              <a:t>set           	and queue both and insert the current page */</a:t>
            </a:r>
            <a:endParaRPr lang="en-US" altLang="en-US" sz="1400" dirty="0" smtClean="0">
              <a:solidFill>
                <a:schemeClr val="accent3"/>
              </a:solidFill>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b="1" dirty="0" smtClean="0">
                <a:latin typeface="Consolas" panose="020B0609020204030204" pitchFamily="49" charset="0"/>
              </a:rPr>
              <a:t>else</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dirty="0" smtClean="0">
                <a:solidFill>
                  <a:schemeClr val="accent3"/>
                </a:solidFill>
                <a:latin typeface="Consolas" panose="020B0609020204030204" pitchFamily="49" charset="0"/>
              </a:rPr>
              <a:t>// Check if current page is not already</a:t>
            </a:r>
            <a:r>
              <a:rPr lang="en-US" altLang="en-US" sz="1400" dirty="0">
                <a:solidFill>
                  <a:schemeClr val="accent3"/>
                </a:solidFill>
              </a:rPr>
              <a:t> </a:t>
            </a:r>
            <a:r>
              <a:rPr lang="en-US" altLang="en-US" sz="1400" dirty="0" smtClean="0">
                <a:solidFill>
                  <a:schemeClr val="accent3"/>
                </a:solidFill>
                <a:latin typeface="Consolas" panose="020B0609020204030204" pitchFamily="49" charset="0"/>
              </a:rPr>
              <a:t>present in the set</a:t>
            </a:r>
            <a:endParaRPr lang="en-US" altLang="en-US" sz="1400" dirty="0" smtClean="0">
              <a:solidFill>
                <a:schemeClr val="accent3"/>
              </a:solidFill>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b="1" dirty="0" smtClean="0">
                <a:latin typeface="Consolas" panose="020B0609020204030204" pitchFamily="49" charset="0"/>
              </a:rPr>
              <a:t>if</a:t>
            </a:r>
            <a:r>
              <a:rPr lang="en-US" altLang="en-US" sz="1400" dirty="0" smtClean="0">
                <a:latin typeface="Consolas" panose="020B0609020204030204" pitchFamily="49" charset="0"/>
              </a:rPr>
              <a:t> (</a:t>
            </a:r>
            <a:r>
              <a:rPr lang="en-US" altLang="en-US" sz="1400" dirty="0" err="1" smtClean="0">
                <a:latin typeface="Consolas" panose="020B0609020204030204" pitchFamily="49" charset="0"/>
              </a:rPr>
              <a:t>s.find</a:t>
            </a:r>
            <a:r>
              <a:rPr lang="en-US" altLang="en-US" sz="1400" dirty="0" smtClean="0">
                <a:latin typeface="Consolas" panose="020B0609020204030204" pitchFamily="49" charset="0"/>
              </a:rPr>
              <a:t>(pages[</a:t>
            </a:r>
            <a:r>
              <a:rPr lang="en-US" altLang="en-US" sz="1400" dirty="0" err="1" smtClean="0">
                <a:latin typeface="Consolas" panose="020B0609020204030204" pitchFamily="49" charset="0"/>
              </a:rPr>
              <a:t>i</a:t>
            </a:r>
            <a:r>
              <a:rPr lang="en-US" altLang="en-US" sz="1400" dirty="0" smtClean="0">
                <a:latin typeface="Consolas" panose="020B0609020204030204" pitchFamily="49" charset="0"/>
              </a:rPr>
              <a:t>]) == </a:t>
            </a:r>
            <a:r>
              <a:rPr lang="en-US" altLang="en-US" sz="1400" dirty="0" err="1" smtClean="0">
                <a:latin typeface="Consolas" panose="020B0609020204030204" pitchFamily="49" charset="0"/>
              </a:rPr>
              <a:t>s.end</a:t>
            </a:r>
            <a:r>
              <a:rPr lang="en-US" altLang="en-US" sz="1400" dirty="0" smtClean="0">
                <a:latin typeface="Consolas" panose="020B0609020204030204" pitchFamily="49" charset="0"/>
              </a:rPr>
              <a:t>())</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dirty="0" smtClean="0">
                <a:solidFill>
                  <a:schemeClr val="accent3"/>
                </a:solidFill>
                <a:latin typeface="Consolas" panose="020B0609020204030204" pitchFamily="49" charset="0"/>
              </a:rPr>
              <a:t>// Store the first page in the queue to be used to find and</a:t>
            </a:r>
            <a:r>
              <a:rPr lang="en-US" altLang="en-US" sz="1400" dirty="0">
                <a:solidFill>
                  <a:schemeClr val="accent3"/>
                </a:solidFill>
              </a:rPr>
              <a:t> </a:t>
            </a:r>
            <a:r>
              <a:rPr lang="en-US" altLang="en-US" sz="1400" dirty="0" smtClean="0">
                <a:solidFill>
                  <a:schemeClr val="accent3"/>
                </a:solidFill>
                <a:latin typeface="Consolas" panose="020B0609020204030204" pitchFamily="49" charset="0"/>
              </a:rPr>
              <a:t>erase the page from the set</a:t>
            </a:r>
            <a:endParaRPr lang="en-US" altLang="en-US" sz="1400" dirty="0" smtClean="0">
              <a:solidFill>
                <a:schemeClr val="accent3"/>
              </a:solidFill>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b="1" dirty="0" err="1" smtClean="0">
                <a:latin typeface="Consolas" panose="020B0609020204030204" pitchFamily="49" charset="0"/>
              </a:rPr>
              <a:t>int</a:t>
            </a:r>
            <a:r>
              <a:rPr lang="en-US" altLang="en-US" sz="1400" dirty="0" smtClean="0">
                <a:latin typeface="Consolas" panose="020B0609020204030204" pitchFamily="49" charset="0"/>
              </a:rPr>
              <a:t> </a:t>
            </a:r>
            <a:r>
              <a:rPr lang="en-US" altLang="en-US" sz="1400" dirty="0" err="1" smtClean="0">
                <a:latin typeface="Consolas" panose="020B0609020204030204" pitchFamily="49" charset="0"/>
              </a:rPr>
              <a:t>val</a:t>
            </a:r>
            <a:r>
              <a:rPr lang="en-US" altLang="en-US" sz="1400" dirty="0" smtClean="0">
                <a:latin typeface="Consolas" panose="020B0609020204030204" pitchFamily="49" charset="0"/>
              </a:rPr>
              <a:t> = </a:t>
            </a:r>
            <a:r>
              <a:rPr lang="en-US" altLang="en-US" sz="1400" dirty="0" err="1" smtClean="0">
                <a:latin typeface="Consolas" panose="020B0609020204030204" pitchFamily="49" charset="0"/>
              </a:rPr>
              <a:t>indexes.front</a:t>
            </a:r>
            <a:r>
              <a:rPr lang="en-US" altLang="en-US" sz="1400" dirty="0" smtClean="0">
                <a:latin typeface="Consolas" panose="020B0609020204030204" pitchFamily="49" charset="0"/>
              </a:rPr>
              <a:t>();</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endParaRPr kumimoji="0" lang="en-US" altLang="en-US" sz="2400" b="0" i="0" u="none" strike="noStrike" cap="none" normalizeH="0" baseline="0" dirty="0" smtClean="0">
              <a:ln>
                <a:noFill/>
              </a:ln>
              <a:effectLst/>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dirty="0" smtClean="0">
                <a:solidFill>
                  <a:schemeClr val="accent3"/>
                </a:solidFill>
                <a:latin typeface="Consolas" panose="020B0609020204030204" pitchFamily="49" charset="0"/>
              </a:rPr>
              <a:t>// Pop the first page from the queue</a:t>
            </a:r>
            <a:endParaRPr lang="en-US" altLang="en-US" sz="1400" dirty="0" smtClean="0">
              <a:solidFill>
                <a:schemeClr val="accent3"/>
              </a:solidFill>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dirty="0" err="1" smtClean="0">
                <a:latin typeface="Consolas" panose="020B0609020204030204" pitchFamily="49" charset="0"/>
              </a:rPr>
              <a:t>indexes.pop</a:t>
            </a:r>
            <a:r>
              <a:rPr lang="en-US" altLang="en-US" sz="1400" dirty="0" smtClean="0">
                <a:latin typeface="Consolas" panose="020B0609020204030204" pitchFamily="49" charset="0"/>
              </a:rPr>
              <a:t>();</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endParaRPr kumimoji="0" lang="en-US" altLang="en-US" sz="2400" b="0" i="0" u="none" strike="noStrike" cap="none" normalizeH="0" baseline="0" dirty="0" smtClean="0">
              <a:ln>
                <a:noFill/>
              </a:ln>
              <a:effectLst/>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dirty="0" smtClean="0">
                <a:solidFill>
                  <a:schemeClr val="accent3"/>
                </a:solidFill>
                <a:latin typeface="Consolas" panose="020B0609020204030204" pitchFamily="49" charset="0"/>
              </a:rPr>
              <a:t>// Remove the indexes page from the set</a:t>
            </a:r>
            <a:endParaRPr lang="en-US" altLang="en-US" sz="1400" dirty="0" smtClean="0">
              <a:solidFill>
                <a:schemeClr val="accent3"/>
              </a:solidFill>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dirty="0" err="1" smtClean="0">
                <a:latin typeface="Consolas" panose="020B0609020204030204" pitchFamily="49" charset="0"/>
              </a:rPr>
              <a:t>s.erase</a:t>
            </a:r>
            <a:r>
              <a:rPr lang="en-US" altLang="en-US" sz="1400" dirty="0" smtClean="0">
                <a:latin typeface="Consolas" panose="020B0609020204030204" pitchFamily="49" charset="0"/>
              </a:rPr>
              <a:t>(</a:t>
            </a:r>
            <a:r>
              <a:rPr lang="en-US" altLang="en-US" sz="1400" dirty="0" err="1" smtClean="0">
                <a:latin typeface="Consolas" panose="020B0609020204030204" pitchFamily="49" charset="0"/>
              </a:rPr>
              <a:t>val</a:t>
            </a:r>
            <a:r>
              <a:rPr lang="en-US" altLang="en-US" sz="1400" dirty="0" smtClean="0">
                <a:latin typeface="Consolas" panose="020B0609020204030204" pitchFamily="49" charset="0"/>
              </a:rPr>
              <a:t>);</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endParaRPr kumimoji="0" lang="en-US" altLang="en-US" sz="2400" b="0" i="0" u="none" strike="noStrike" cap="none" normalizeH="0" baseline="0" dirty="0" smtClean="0">
              <a:ln>
                <a:noFill/>
              </a:ln>
              <a:effectLst/>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dirty="0" smtClean="0">
                <a:solidFill>
                  <a:schemeClr val="accent3"/>
                </a:solidFill>
                <a:latin typeface="Consolas" panose="020B0609020204030204" pitchFamily="49" charset="0"/>
              </a:rPr>
              <a:t>// insert the current page in the set</a:t>
            </a:r>
            <a:endParaRPr lang="en-US" altLang="en-US" sz="1400" dirty="0" smtClean="0">
              <a:solidFill>
                <a:schemeClr val="accent3"/>
              </a:solidFill>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dirty="0" err="1" smtClean="0">
                <a:latin typeface="Consolas" panose="020B0609020204030204" pitchFamily="49" charset="0"/>
              </a:rPr>
              <a:t>s.insert</a:t>
            </a:r>
            <a:r>
              <a:rPr lang="en-US" altLang="en-US" sz="1400" dirty="0" smtClean="0">
                <a:latin typeface="Consolas" panose="020B0609020204030204" pitchFamily="49" charset="0"/>
              </a:rPr>
              <a:t>(pages[</a:t>
            </a:r>
            <a:r>
              <a:rPr lang="en-US" altLang="en-US" sz="1400" dirty="0" err="1" smtClean="0">
                <a:latin typeface="Consolas" panose="020B0609020204030204" pitchFamily="49" charset="0"/>
              </a:rPr>
              <a:t>i</a:t>
            </a:r>
            <a:r>
              <a:rPr lang="en-US" altLang="en-US" sz="1400" dirty="0" smtClean="0">
                <a:latin typeface="Consolas" panose="020B0609020204030204" pitchFamily="49" charset="0"/>
              </a:rPr>
              <a:t>]);</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endParaRPr kumimoji="0" lang="en-US" altLang="en-US" sz="2400" b="0" i="0" u="none" strike="noStrike" cap="none" normalizeH="0" baseline="0" dirty="0" smtClean="0">
              <a:ln>
                <a:noFill/>
              </a:ln>
              <a:effectLst/>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dirty="0" smtClean="0">
                <a:solidFill>
                  <a:schemeClr val="accent3"/>
                </a:solidFill>
                <a:latin typeface="Consolas" panose="020B0609020204030204" pitchFamily="49" charset="0"/>
              </a:rPr>
              <a:t>// push the current page into</a:t>
            </a:r>
            <a:r>
              <a:rPr lang="en-US" altLang="en-US" sz="1400" dirty="0">
                <a:solidFill>
                  <a:schemeClr val="accent3"/>
                </a:solidFill>
              </a:rPr>
              <a:t> </a:t>
            </a:r>
            <a:r>
              <a:rPr lang="en-US" altLang="en-US" sz="1400" dirty="0" smtClean="0">
                <a:solidFill>
                  <a:schemeClr val="accent3"/>
                </a:solidFill>
                <a:latin typeface="Consolas" panose="020B0609020204030204" pitchFamily="49" charset="0"/>
              </a:rPr>
              <a:t>the queue</a:t>
            </a:r>
            <a:endParaRPr lang="en-US" altLang="en-US" sz="1400" dirty="0" smtClean="0">
              <a:solidFill>
                <a:schemeClr val="accent3"/>
              </a:solidFill>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dirty="0" err="1" smtClean="0">
                <a:latin typeface="Consolas" panose="020B0609020204030204" pitchFamily="49" charset="0"/>
              </a:rPr>
              <a:t>indexes.push</a:t>
            </a:r>
            <a:r>
              <a:rPr lang="en-US" altLang="en-US" sz="1400" dirty="0" smtClean="0">
                <a:latin typeface="Consolas" panose="020B0609020204030204" pitchFamily="49" charset="0"/>
              </a:rPr>
              <a:t>(pages[</a:t>
            </a:r>
            <a:r>
              <a:rPr lang="en-US" altLang="en-US" sz="1400" dirty="0" err="1" smtClean="0">
                <a:latin typeface="Consolas" panose="020B0609020204030204" pitchFamily="49" charset="0"/>
              </a:rPr>
              <a:t>i</a:t>
            </a:r>
            <a:r>
              <a:rPr lang="en-US" altLang="en-US" sz="1400" dirty="0" smtClean="0">
                <a:latin typeface="Consolas" panose="020B0609020204030204" pitchFamily="49" charset="0"/>
              </a:rPr>
              <a:t>]);</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endParaRPr kumimoji="0" lang="en-US" altLang="en-US" sz="2400" b="0" i="0" u="none" strike="noStrike" cap="none" normalizeH="0" baseline="0" dirty="0" smtClean="0">
              <a:ln>
                <a:noFill/>
              </a:ln>
              <a:effectLst/>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dirty="0" smtClean="0">
                <a:solidFill>
                  <a:schemeClr val="accent3"/>
                </a:solidFill>
                <a:latin typeface="Consolas" panose="020B0609020204030204" pitchFamily="49" charset="0"/>
              </a:rPr>
              <a:t>// Increment page faults</a:t>
            </a:r>
            <a:endParaRPr lang="en-US" altLang="en-US" sz="1400" dirty="0" smtClean="0">
              <a:solidFill>
                <a:schemeClr val="accent3"/>
              </a:solidFill>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dirty="0" err="1" smtClean="0">
                <a:latin typeface="Consolas" panose="020B0609020204030204" pitchFamily="49" charset="0"/>
              </a:rPr>
              <a:t>page_faults</a:t>
            </a:r>
            <a:r>
              <a:rPr lang="en-US" altLang="en-US" sz="1400" dirty="0" smtClean="0">
                <a:latin typeface="Consolas" panose="020B0609020204030204" pitchFamily="49" charset="0"/>
              </a:rPr>
              <a:t>++;</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endParaRPr kumimoji="0" lang="en-US" altLang="en-US" sz="2400" b="0" i="0" u="none" strike="noStrike" cap="none" normalizeH="0" baseline="0" dirty="0" smtClean="0">
              <a:ln>
                <a:noFill/>
              </a:ln>
              <a:effectLst/>
            </a:endParaRPr>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r>
              <a:rPr lang="en-US" altLang="en-US" sz="1400" b="1" dirty="0" smtClean="0">
                <a:latin typeface="Consolas" panose="020B0609020204030204" pitchFamily="49" charset="0"/>
              </a:rPr>
              <a:t>return</a:t>
            </a:r>
            <a:r>
              <a:rPr lang="en-US" altLang="en-US" sz="1400" dirty="0" smtClean="0">
                <a:latin typeface="Consolas" panose="020B0609020204030204" pitchFamily="49" charset="0"/>
              </a:rPr>
              <a:t> </a:t>
            </a:r>
            <a:r>
              <a:rPr lang="en-US" altLang="en-US" sz="1400" dirty="0" err="1" smtClean="0">
                <a:latin typeface="Consolas" panose="020B0609020204030204" pitchFamily="49" charset="0"/>
              </a:rPr>
              <a:t>page_faults</a:t>
            </a:r>
            <a:r>
              <a:rPr lang="en-US" altLang="en-US" sz="1400" dirty="0" smtClean="0">
                <a:latin typeface="Consolas" panose="020B0609020204030204" pitchFamily="49" charset="0"/>
              </a:rPr>
              <a:t>;</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a:t>
            </a:r>
            <a:endParaRPr lang="en-US" altLang="en-US" sz="1400" dirty="0" smtClean="0"/>
          </a:p>
          <a:p>
            <a:pPr marL="0" lvl="0" indent="0" eaLnBrk="0" fontAlgn="base" hangingPunct="0">
              <a:lnSpc>
                <a:spcPct val="100000"/>
              </a:lnSpc>
              <a:spcBef>
                <a:spcPct val="0"/>
              </a:spcBef>
              <a:spcAft>
                <a:spcPct val="0"/>
              </a:spcAft>
              <a:buNone/>
            </a:pPr>
            <a:r>
              <a:rPr lang="en-US" altLang="en-US" sz="1400" dirty="0" smtClean="0">
                <a:latin typeface="Consolas" panose="020B0609020204030204" pitchFamily="49" charset="0"/>
              </a:rPr>
              <a:t>  </a:t>
            </a:r>
            <a:endParaRPr kumimoji="0" lang="en-US" altLang="en-US" sz="2400" b="0" i="0" u="none" strike="noStrike" cap="none" normalizeH="0" baseline="0" dirty="0" smtClean="0">
              <a:ln>
                <a:noFill/>
              </a:ln>
              <a:effectLst/>
            </a:endParaRPr>
          </a:p>
        </p:txBody>
      </p:sp>
    </p:spTree>
    <p:extLst>
      <p:ext uri="{BB962C8B-B14F-4D97-AF65-F5344CB8AC3E}">
        <p14:creationId xmlns:p14="http://schemas.microsoft.com/office/powerpoint/2010/main" val="34918158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9823" y="0"/>
            <a:ext cx="10515600" cy="3735977"/>
          </a:xfrm>
        </p:spPr>
        <p:txBody>
          <a:bodyPr>
            <a:noAutofit/>
          </a:bodyPr>
          <a:lstStyle/>
          <a:p>
            <a:pPr marL="0" lvl="0" indent="0" eaLnBrk="0" fontAlgn="base" hangingPunct="0">
              <a:lnSpc>
                <a:spcPct val="100000"/>
              </a:lnSpc>
              <a:spcBef>
                <a:spcPct val="0"/>
              </a:spcBef>
              <a:spcAft>
                <a:spcPct val="0"/>
              </a:spcAft>
              <a:buNone/>
            </a:pPr>
            <a:r>
              <a:rPr lang="en-US" altLang="en-US" sz="1600" b="1" dirty="0" err="1" smtClean="0">
                <a:latin typeface="Consolas" panose="020B0609020204030204" pitchFamily="49" charset="0"/>
              </a:rPr>
              <a:t>int</a:t>
            </a:r>
            <a:r>
              <a:rPr lang="en-US" altLang="en-US" sz="1600" dirty="0" smtClean="0">
                <a:latin typeface="Consolas" panose="020B0609020204030204" pitchFamily="49" charset="0"/>
              </a:rPr>
              <a:t> main()</a:t>
            </a:r>
            <a:endParaRPr lang="en-US" altLang="en-US" sz="1600" dirty="0" smtClean="0"/>
          </a:p>
          <a:p>
            <a:pPr marL="0" lvl="0" indent="0" eaLnBrk="0" fontAlgn="base" hangingPunct="0">
              <a:lnSpc>
                <a:spcPct val="100000"/>
              </a:lnSpc>
              <a:spcBef>
                <a:spcPct val="0"/>
              </a:spcBef>
              <a:spcAft>
                <a:spcPct val="0"/>
              </a:spcAft>
              <a:buNone/>
            </a:pPr>
            <a:r>
              <a:rPr lang="en-US" altLang="en-US" sz="1600" dirty="0" smtClean="0">
                <a:latin typeface="Consolas" panose="020B0609020204030204" pitchFamily="49" charset="0"/>
              </a:rPr>
              <a:t>{</a:t>
            </a:r>
            <a:endParaRPr lang="en-US" altLang="en-US" sz="1600" dirty="0" smtClean="0"/>
          </a:p>
          <a:p>
            <a:pPr marL="0" lvl="0" indent="0" eaLnBrk="0" fontAlgn="base" hangingPunct="0">
              <a:lnSpc>
                <a:spcPct val="100000"/>
              </a:lnSpc>
              <a:spcBef>
                <a:spcPct val="0"/>
              </a:spcBef>
              <a:spcAft>
                <a:spcPct val="0"/>
              </a:spcAft>
              <a:buNone/>
            </a:pPr>
            <a:r>
              <a:rPr lang="en-US" altLang="en-US" sz="1600" dirty="0" smtClean="0">
                <a:latin typeface="Consolas" panose="020B0609020204030204" pitchFamily="49" charset="0"/>
              </a:rPr>
              <a:t>    </a:t>
            </a:r>
            <a:r>
              <a:rPr lang="fr-FR" altLang="en-US" sz="1600" dirty="0" err="1" smtClean="0">
                <a:latin typeface="Consolas" panose="020B0609020204030204" pitchFamily="49" charset="0"/>
              </a:rPr>
              <a:t>int</a:t>
            </a:r>
            <a:r>
              <a:rPr lang="fr-FR" altLang="en-US" sz="1600" dirty="0" smtClean="0">
                <a:latin typeface="Consolas" panose="020B0609020204030204" pitchFamily="49" charset="0"/>
              </a:rPr>
              <a:t> pages[] = {7, 0, 1, 2, 0, 3, 0, 4,</a:t>
            </a:r>
          </a:p>
          <a:p>
            <a:pPr marL="0" lvl="0" indent="0" eaLnBrk="0" fontAlgn="base" hangingPunct="0">
              <a:lnSpc>
                <a:spcPct val="100000"/>
              </a:lnSpc>
              <a:spcBef>
                <a:spcPct val="0"/>
              </a:spcBef>
              <a:spcAft>
                <a:spcPct val="0"/>
              </a:spcAft>
              <a:buNone/>
            </a:pPr>
            <a:r>
              <a:rPr lang="fr-FR" altLang="en-US" sz="1600" dirty="0" smtClean="0">
                <a:latin typeface="Consolas" panose="020B0609020204030204" pitchFamily="49" charset="0"/>
              </a:rPr>
              <a:t>                   2, 3, 0, 3, 2};</a:t>
            </a:r>
          </a:p>
          <a:p>
            <a:pPr marL="0" lvl="0" indent="0" eaLnBrk="0" fontAlgn="base" hangingPunct="0">
              <a:lnSpc>
                <a:spcPct val="100000"/>
              </a:lnSpc>
              <a:spcBef>
                <a:spcPct val="0"/>
              </a:spcBef>
              <a:spcAft>
                <a:spcPct val="0"/>
              </a:spcAft>
              <a:buNone/>
            </a:pPr>
            <a:r>
              <a:rPr lang="fr-FR" altLang="en-US" sz="1600" dirty="0" smtClean="0">
                <a:latin typeface="Consolas" panose="020B0609020204030204" pitchFamily="49" charset="0"/>
              </a:rPr>
              <a:t>    </a:t>
            </a:r>
            <a:r>
              <a:rPr lang="fr-FR" altLang="en-US" sz="1600" dirty="0" err="1" smtClean="0">
                <a:latin typeface="Consolas" panose="020B0609020204030204" pitchFamily="49" charset="0"/>
              </a:rPr>
              <a:t>int</a:t>
            </a:r>
            <a:r>
              <a:rPr lang="fr-FR" altLang="en-US" sz="1600" dirty="0" smtClean="0">
                <a:latin typeface="Consolas" panose="020B0609020204030204" pitchFamily="49" charset="0"/>
              </a:rPr>
              <a:t> n = </a:t>
            </a:r>
            <a:r>
              <a:rPr lang="fr-FR" altLang="en-US" sz="1600" dirty="0" err="1" smtClean="0">
                <a:latin typeface="Consolas" panose="020B0609020204030204" pitchFamily="49" charset="0"/>
              </a:rPr>
              <a:t>sizeof</a:t>
            </a:r>
            <a:r>
              <a:rPr lang="fr-FR" altLang="en-US" sz="1600" dirty="0" smtClean="0">
                <a:latin typeface="Consolas" panose="020B0609020204030204" pitchFamily="49" charset="0"/>
              </a:rPr>
              <a:t>(pages)/</a:t>
            </a:r>
            <a:r>
              <a:rPr lang="fr-FR" altLang="en-US" sz="1600" dirty="0" err="1" smtClean="0">
                <a:latin typeface="Consolas" panose="020B0609020204030204" pitchFamily="49" charset="0"/>
              </a:rPr>
              <a:t>sizeof</a:t>
            </a:r>
            <a:r>
              <a:rPr lang="fr-FR" altLang="en-US" sz="1600" dirty="0" smtClean="0">
                <a:latin typeface="Consolas" panose="020B0609020204030204" pitchFamily="49" charset="0"/>
              </a:rPr>
              <a:t>(pages[0]);</a:t>
            </a:r>
          </a:p>
          <a:p>
            <a:pPr marL="0" lvl="0" indent="0" eaLnBrk="0" fontAlgn="base" hangingPunct="0">
              <a:lnSpc>
                <a:spcPct val="100000"/>
              </a:lnSpc>
              <a:spcBef>
                <a:spcPct val="0"/>
              </a:spcBef>
              <a:spcAft>
                <a:spcPct val="0"/>
              </a:spcAft>
              <a:buNone/>
            </a:pPr>
            <a:r>
              <a:rPr lang="fr-FR" altLang="en-US" sz="1600" dirty="0" smtClean="0">
                <a:latin typeface="Consolas" panose="020B0609020204030204" pitchFamily="49" charset="0"/>
              </a:rPr>
              <a:t>    </a:t>
            </a:r>
            <a:r>
              <a:rPr lang="fr-FR" altLang="en-US" sz="1600" dirty="0" err="1" smtClean="0">
                <a:latin typeface="Consolas" panose="020B0609020204030204" pitchFamily="49" charset="0"/>
              </a:rPr>
              <a:t>int</a:t>
            </a:r>
            <a:r>
              <a:rPr lang="fr-FR" altLang="en-US" sz="1600" dirty="0" smtClean="0">
                <a:latin typeface="Consolas" panose="020B0609020204030204" pitchFamily="49" charset="0"/>
              </a:rPr>
              <a:t> </a:t>
            </a:r>
            <a:r>
              <a:rPr lang="fr-FR" altLang="en-US" sz="1600" dirty="0" err="1" smtClean="0">
                <a:latin typeface="Consolas" panose="020B0609020204030204" pitchFamily="49" charset="0"/>
              </a:rPr>
              <a:t>capacity</a:t>
            </a:r>
            <a:r>
              <a:rPr lang="fr-FR" altLang="en-US" sz="1600" dirty="0" smtClean="0">
                <a:latin typeface="Consolas" panose="020B0609020204030204" pitchFamily="49" charset="0"/>
              </a:rPr>
              <a:t> = 4;</a:t>
            </a:r>
          </a:p>
          <a:p>
            <a:pPr marL="0" lvl="0" indent="0" eaLnBrk="0" fontAlgn="base" hangingPunct="0">
              <a:lnSpc>
                <a:spcPct val="100000"/>
              </a:lnSpc>
              <a:spcBef>
                <a:spcPct val="0"/>
              </a:spcBef>
              <a:spcAft>
                <a:spcPct val="0"/>
              </a:spcAft>
              <a:buNone/>
            </a:pPr>
            <a:r>
              <a:rPr lang="fr-FR" altLang="en-US" sz="1600" dirty="0">
                <a:latin typeface="Consolas" panose="020B0609020204030204" pitchFamily="49" charset="0"/>
              </a:rPr>
              <a:t>    </a:t>
            </a:r>
            <a:r>
              <a:rPr lang="fr-FR" altLang="en-US" sz="1600" dirty="0" err="1">
                <a:latin typeface="Consolas" panose="020B0609020204030204" pitchFamily="49" charset="0"/>
              </a:rPr>
              <a:t>float</a:t>
            </a:r>
            <a:r>
              <a:rPr lang="fr-FR" altLang="en-US" sz="1600" dirty="0">
                <a:latin typeface="Consolas" panose="020B0609020204030204" pitchFamily="49" charset="0"/>
              </a:rPr>
              <a:t> </a:t>
            </a:r>
            <a:r>
              <a:rPr lang="fr-FR" altLang="en-US" sz="1600" dirty="0" err="1">
                <a:latin typeface="Consolas" panose="020B0609020204030204" pitchFamily="49" charset="0"/>
              </a:rPr>
              <a:t>miss_per</a:t>
            </a:r>
            <a:r>
              <a:rPr lang="fr-FR" altLang="en-US" sz="1600" dirty="0">
                <a:latin typeface="Consolas" panose="020B0609020204030204" pitchFamily="49" charset="0"/>
              </a:rPr>
              <a:t>, </a:t>
            </a:r>
            <a:r>
              <a:rPr lang="fr-FR" altLang="en-US" sz="1600" dirty="0" err="1">
                <a:latin typeface="Consolas" panose="020B0609020204030204" pitchFamily="49" charset="0"/>
              </a:rPr>
              <a:t>hit_per</a:t>
            </a:r>
            <a:r>
              <a:rPr lang="fr-FR" altLang="en-US" sz="1600" dirty="0">
                <a:latin typeface="Consolas" panose="020B0609020204030204" pitchFamily="49" charset="0"/>
              </a:rPr>
              <a:t>;</a:t>
            </a:r>
            <a:endParaRPr lang="fr-FR" altLang="en-US" sz="1600" dirty="0" smtClean="0">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1600" dirty="0" smtClean="0">
                <a:latin typeface="Consolas" panose="020B0609020204030204" pitchFamily="49" charset="0"/>
              </a:rPr>
              <a:t>    </a:t>
            </a:r>
            <a:r>
              <a:rPr lang="en-US" altLang="en-US" sz="1600" dirty="0" err="1" smtClean="0">
                <a:latin typeface="Consolas" panose="020B0609020204030204" pitchFamily="49" charset="0"/>
              </a:rPr>
              <a:t>cout</a:t>
            </a:r>
            <a:r>
              <a:rPr lang="en-US" altLang="en-US" sz="1600" dirty="0" smtClean="0">
                <a:latin typeface="Consolas" panose="020B0609020204030204" pitchFamily="49" charset="0"/>
              </a:rPr>
              <a:t> &lt;&lt; </a:t>
            </a:r>
            <a:r>
              <a:rPr lang="en-US" altLang="en-US" sz="1600" dirty="0" err="1" smtClean="0">
                <a:latin typeface="Consolas" panose="020B0609020204030204" pitchFamily="49" charset="0"/>
              </a:rPr>
              <a:t>pageFaults</a:t>
            </a:r>
            <a:r>
              <a:rPr lang="en-US" altLang="en-US" sz="1600" dirty="0" smtClean="0">
                <a:latin typeface="Consolas" panose="020B0609020204030204" pitchFamily="49" charset="0"/>
              </a:rPr>
              <a:t>(pages, n, capacity);</a:t>
            </a:r>
          </a:p>
          <a:p>
            <a:pPr marL="0" lvl="0" indent="0" eaLnBrk="0" fontAlgn="base" hangingPunct="0">
              <a:lnSpc>
                <a:spcPct val="100000"/>
              </a:lnSpc>
              <a:spcBef>
                <a:spcPct val="0"/>
              </a:spcBef>
              <a:spcAft>
                <a:spcPct val="0"/>
              </a:spcAft>
              <a:buNone/>
            </a:pPr>
            <a:r>
              <a:rPr lang="en-US" altLang="en-US" sz="1600" dirty="0" smtClean="0"/>
              <a:t>          </a:t>
            </a:r>
            <a:r>
              <a:rPr lang="en-US" altLang="en-US" sz="1600" dirty="0" err="1" smtClean="0">
                <a:latin typeface="Consolas" panose="020B0609020204030204" pitchFamily="49" charset="0"/>
              </a:rPr>
              <a:t>miss_per</a:t>
            </a:r>
            <a:r>
              <a:rPr lang="en-US" altLang="en-US" sz="1600" dirty="0" smtClean="0">
                <a:latin typeface="Consolas" panose="020B0609020204030204" pitchFamily="49" charset="0"/>
              </a:rPr>
              <a:t> </a:t>
            </a:r>
            <a:r>
              <a:rPr lang="en-US" altLang="en-US" sz="1600" dirty="0">
                <a:latin typeface="Consolas" panose="020B0609020204030204" pitchFamily="49" charset="0"/>
              </a:rPr>
              <a:t>= ((</a:t>
            </a:r>
            <a:r>
              <a:rPr lang="en-US" altLang="en-US" sz="1600" dirty="0" err="1">
                <a:latin typeface="Consolas" panose="020B0609020204030204" pitchFamily="49" charset="0"/>
              </a:rPr>
              <a:t>pageFaults</a:t>
            </a:r>
            <a:r>
              <a:rPr lang="en-US" altLang="en-US" sz="1600" dirty="0">
                <a:latin typeface="Consolas" panose="020B0609020204030204" pitchFamily="49" charset="0"/>
              </a:rPr>
              <a:t>(pages, n, capacity)*1.0)/n)*100;</a:t>
            </a:r>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dirty="0" err="1" smtClean="0">
                <a:latin typeface="Consolas" panose="020B0609020204030204" pitchFamily="49" charset="0"/>
              </a:rPr>
              <a:t>hit_per</a:t>
            </a:r>
            <a:r>
              <a:rPr lang="en-US" altLang="en-US" sz="1600" dirty="0" smtClean="0">
                <a:latin typeface="Consolas" panose="020B0609020204030204" pitchFamily="49" charset="0"/>
              </a:rPr>
              <a:t> </a:t>
            </a:r>
            <a:r>
              <a:rPr lang="en-US" altLang="en-US" sz="1600" dirty="0">
                <a:latin typeface="Consolas" panose="020B0609020204030204" pitchFamily="49" charset="0"/>
              </a:rPr>
              <a:t>= 100 - </a:t>
            </a:r>
            <a:r>
              <a:rPr lang="en-US" altLang="en-US" sz="1600" dirty="0" err="1">
                <a:latin typeface="Consolas" panose="020B0609020204030204" pitchFamily="49" charset="0"/>
              </a:rPr>
              <a:t>miss_per</a:t>
            </a:r>
            <a:r>
              <a:rPr lang="en-US" altLang="en-US" sz="1600" dirty="0">
                <a:latin typeface="Consolas" panose="020B0609020204030204" pitchFamily="49" charset="0"/>
              </a:rPr>
              <a:t>;</a:t>
            </a:r>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dirty="0" err="1" smtClean="0">
                <a:latin typeface="Consolas" panose="020B0609020204030204" pitchFamily="49" charset="0"/>
              </a:rPr>
              <a:t>cout</a:t>
            </a:r>
            <a:r>
              <a:rPr lang="en-US" altLang="en-US" sz="1600" dirty="0">
                <a:latin typeface="Consolas" panose="020B0609020204030204" pitchFamily="49" charset="0"/>
              </a:rPr>
              <a:t>&lt;&lt;"\</a:t>
            </a:r>
            <a:r>
              <a:rPr lang="en-US" altLang="en-US" sz="1600" dirty="0" err="1">
                <a:latin typeface="Consolas" panose="020B0609020204030204" pitchFamily="49" charset="0"/>
              </a:rPr>
              <a:t>nMiss</a:t>
            </a:r>
            <a:r>
              <a:rPr lang="en-US" altLang="en-US" sz="1600" dirty="0">
                <a:latin typeface="Consolas" panose="020B0609020204030204" pitchFamily="49" charset="0"/>
              </a:rPr>
              <a:t> ratio = "&lt;&lt;</a:t>
            </a:r>
            <a:r>
              <a:rPr lang="en-US" altLang="en-US" sz="1600" dirty="0" err="1">
                <a:latin typeface="Consolas" panose="020B0609020204030204" pitchFamily="49" charset="0"/>
              </a:rPr>
              <a:t>miss_per</a:t>
            </a:r>
            <a:r>
              <a:rPr lang="en-US" altLang="en-US" sz="1600" dirty="0">
                <a:latin typeface="Consolas" panose="020B0609020204030204" pitchFamily="49" charset="0"/>
              </a:rPr>
              <a:t>&lt;&lt;"%";</a:t>
            </a:r>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dirty="0" err="1" smtClean="0">
                <a:latin typeface="Consolas" panose="020B0609020204030204" pitchFamily="49" charset="0"/>
              </a:rPr>
              <a:t>cout</a:t>
            </a:r>
            <a:r>
              <a:rPr lang="en-US" altLang="en-US" sz="1600" dirty="0">
                <a:latin typeface="Consolas" panose="020B0609020204030204" pitchFamily="49" charset="0"/>
              </a:rPr>
              <a:t>&lt;&lt;"\</a:t>
            </a:r>
            <a:r>
              <a:rPr lang="en-US" altLang="en-US" sz="1600" dirty="0" err="1">
                <a:latin typeface="Consolas" panose="020B0609020204030204" pitchFamily="49" charset="0"/>
              </a:rPr>
              <a:t>nHit</a:t>
            </a:r>
            <a:r>
              <a:rPr lang="en-US" altLang="en-US" sz="1600" dirty="0">
                <a:latin typeface="Consolas" panose="020B0609020204030204" pitchFamily="49" charset="0"/>
              </a:rPr>
              <a:t> ratio = "&lt;&lt;</a:t>
            </a:r>
            <a:r>
              <a:rPr lang="en-US" altLang="en-US" sz="1600" dirty="0" err="1">
                <a:latin typeface="Consolas" panose="020B0609020204030204" pitchFamily="49" charset="0"/>
              </a:rPr>
              <a:t>hit_per</a:t>
            </a:r>
            <a:r>
              <a:rPr lang="en-US" altLang="en-US" sz="1600" dirty="0">
                <a:latin typeface="Consolas" panose="020B0609020204030204" pitchFamily="49" charset="0"/>
              </a:rPr>
              <a:t>&lt;&lt;"%";</a:t>
            </a:r>
          </a:p>
          <a:p>
            <a:pPr marL="0" lvl="0" indent="0" eaLnBrk="0" fontAlgn="base" hangingPunct="0">
              <a:lnSpc>
                <a:spcPct val="100000"/>
              </a:lnSpc>
              <a:spcBef>
                <a:spcPct val="0"/>
              </a:spcBef>
              <a:spcAft>
                <a:spcPct val="0"/>
              </a:spcAft>
              <a:buNone/>
            </a:pPr>
            <a:r>
              <a:rPr lang="en-US" altLang="en-US" sz="1600" dirty="0" smtClean="0">
                <a:latin typeface="Consolas" panose="020B0609020204030204" pitchFamily="49" charset="0"/>
              </a:rPr>
              <a:t>    </a:t>
            </a:r>
            <a:r>
              <a:rPr lang="en-US" altLang="en-US" sz="1600" b="1" dirty="0" smtClean="0">
                <a:latin typeface="Consolas" panose="020B0609020204030204" pitchFamily="49" charset="0"/>
              </a:rPr>
              <a:t>return</a:t>
            </a:r>
            <a:r>
              <a:rPr lang="en-US" altLang="en-US" sz="1600" dirty="0" smtClean="0">
                <a:latin typeface="Consolas" panose="020B0609020204030204" pitchFamily="49" charset="0"/>
              </a:rPr>
              <a:t> 0;</a:t>
            </a:r>
            <a:endParaRPr lang="en-US" altLang="en-US" sz="1600" dirty="0" smtClean="0"/>
          </a:p>
          <a:p>
            <a:pPr marL="0" lvl="0" indent="0" eaLnBrk="0" fontAlgn="base" hangingPunct="0">
              <a:lnSpc>
                <a:spcPct val="100000"/>
              </a:lnSpc>
              <a:spcBef>
                <a:spcPct val="0"/>
              </a:spcBef>
              <a:spcAft>
                <a:spcPct val="0"/>
              </a:spcAft>
              <a:buNone/>
            </a:pPr>
            <a:r>
              <a:rPr lang="en-US" altLang="en-US" sz="1600" dirty="0" smtClean="0">
                <a:latin typeface="Consolas" panose="020B0609020204030204" pitchFamily="49" charset="0"/>
              </a:rPr>
              <a:t>}</a:t>
            </a:r>
            <a:endParaRPr kumimoji="0" lang="en-US" altLang="en-US" b="0" i="0" u="none" strike="noStrike" cap="none" normalizeH="0" baseline="0" dirty="0" smtClean="0">
              <a:ln>
                <a:noFill/>
              </a:ln>
              <a:effectLst/>
              <a:latin typeface="Arial" panose="020B0604020202020204" pitchFamily="34" charset="0"/>
            </a:endParaRPr>
          </a:p>
          <a:p>
            <a:pPr marL="0" indent="0">
              <a:buNone/>
            </a:pPr>
            <a:endParaRPr lang="en-US" sz="1800" dirty="0" smtClean="0"/>
          </a:p>
          <a:p>
            <a:pPr marL="0" indent="0">
              <a:buNone/>
            </a:pPr>
            <a:endParaRPr lang="en-US" sz="1800" dirty="0"/>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4935" t="15447" r="28831" b="48056"/>
          <a:stretch/>
        </p:blipFill>
        <p:spPr>
          <a:xfrm>
            <a:off x="3295093" y="3735977"/>
            <a:ext cx="5445060" cy="2416628"/>
          </a:xfrm>
          <a:prstGeom prst="rect">
            <a:avLst/>
          </a:prstGeom>
        </p:spPr>
      </p:pic>
    </p:spTree>
    <p:extLst>
      <p:ext uri="{BB962C8B-B14F-4D97-AF65-F5344CB8AC3E}">
        <p14:creationId xmlns:p14="http://schemas.microsoft.com/office/powerpoint/2010/main" val="42912998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635" y="663030"/>
            <a:ext cx="10515600" cy="4653553"/>
          </a:xfrm>
        </p:spPr>
        <p:txBody>
          <a:bodyPr>
            <a:normAutofit fontScale="77500" lnSpcReduction="20000"/>
          </a:bodyPr>
          <a:lstStyle/>
          <a:p>
            <a:r>
              <a:rPr lang="en-US" b="1" dirty="0"/>
              <a:t>Advantages:</a:t>
            </a:r>
          </a:p>
          <a:p>
            <a:pPr marL="342900" indent="-342900"/>
            <a:r>
              <a:rPr lang="en-US" dirty="0"/>
              <a:t>It is easy to understand and implement. </a:t>
            </a:r>
          </a:p>
          <a:p>
            <a:pPr marL="342900" indent="-342900"/>
            <a:r>
              <a:rPr lang="en-US" dirty="0"/>
              <a:t>The number of operations is limited in a queue makes the implementation simple.</a:t>
            </a:r>
          </a:p>
          <a:p>
            <a:pPr>
              <a:lnSpc>
                <a:spcPct val="150000"/>
              </a:lnSpc>
            </a:pPr>
            <a:r>
              <a:rPr lang="en-US" b="1" dirty="0"/>
              <a:t>Disadvantages:</a:t>
            </a:r>
          </a:p>
          <a:p>
            <a:pPr marL="342900" indent="-342900"/>
            <a:r>
              <a:rPr lang="en-US" dirty="0" smtClean="0"/>
              <a:t>It </a:t>
            </a:r>
            <a:r>
              <a:rPr lang="en-US" dirty="0"/>
              <a:t>does not consider the priority or burst time of the processes.</a:t>
            </a:r>
          </a:p>
          <a:p>
            <a:pPr marL="342900" indent="-342900"/>
            <a:r>
              <a:rPr lang="en-US" dirty="0"/>
              <a:t>When the number of incoming pages is large, it might not provide excellent performance.</a:t>
            </a:r>
          </a:p>
          <a:p>
            <a:pPr marL="342900" indent="-342900"/>
            <a:r>
              <a:rPr lang="en-US" dirty="0"/>
              <a:t>When we increase the number of frames or capacity to store pages in the queue, it should give us less number of page faults. </a:t>
            </a:r>
          </a:p>
          <a:p>
            <a:pPr marL="342900" indent="-342900"/>
            <a:r>
              <a:rPr lang="en-US" dirty="0"/>
              <a:t>Sometimes FIFO may behave abnormally, and it may increase the number of page faults. This behavior of FIFO is called </a:t>
            </a:r>
            <a:r>
              <a:rPr lang="en-US" dirty="0" err="1"/>
              <a:t>Belady’s</a:t>
            </a:r>
            <a:r>
              <a:rPr lang="en-US" dirty="0"/>
              <a:t> anomaly.</a:t>
            </a:r>
          </a:p>
          <a:p>
            <a:pPr marL="342900" indent="-342900"/>
            <a:r>
              <a:rPr lang="en-US" dirty="0"/>
              <a:t>In FIFO, the system should keep track of all the frames. Sometimes it results in slow process execution.</a:t>
            </a:r>
          </a:p>
          <a:p>
            <a:pPr marL="0" indent="0">
              <a:buNone/>
            </a:pPr>
            <a:endParaRPr lang="en-US" dirty="0"/>
          </a:p>
        </p:txBody>
      </p:sp>
    </p:spTree>
    <p:extLst>
      <p:ext uri="{BB962C8B-B14F-4D97-AF65-F5344CB8AC3E}">
        <p14:creationId xmlns:p14="http://schemas.microsoft.com/office/powerpoint/2010/main" val="1882415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normAutofit/>
          </a:bodyPr>
          <a:lstStyle/>
          <a:p>
            <a:r>
              <a:rPr lang="en-US" sz="3600" b="1" dirty="0" smtClean="0">
                <a:latin typeface="Bahnschrift SemiBold" panose="020B0502040204020203" pitchFamily="34" charset="0"/>
              </a:rPr>
              <a:t>FCFS</a:t>
            </a:r>
            <a:r>
              <a:rPr lang="en-US" sz="3600" b="1" dirty="0" smtClean="0"/>
              <a:t> </a:t>
            </a:r>
            <a:r>
              <a:rPr lang="en-US" sz="3600" dirty="0" smtClean="0"/>
              <a:t>(First Come First Serve CPU scheduling algorithm)</a:t>
            </a:r>
            <a:endParaRPr lang="en-US" sz="3600" b="1" dirty="0"/>
          </a:p>
        </p:txBody>
      </p:sp>
      <p:sp>
        <p:nvSpPr>
          <p:cNvPr id="3" name="Content Placeholder 2"/>
          <p:cNvSpPr>
            <a:spLocks noGrp="1"/>
          </p:cNvSpPr>
          <p:nvPr>
            <p:ph idx="1"/>
          </p:nvPr>
        </p:nvSpPr>
        <p:spPr>
          <a:xfrm>
            <a:off x="838200" y="1293223"/>
            <a:ext cx="10515600" cy="4883740"/>
          </a:xfrm>
        </p:spPr>
        <p:txBody>
          <a:bodyPr/>
          <a:lstStyle/>
          <a:p>
            <a:pPr marL="0" indent="0">
              <a:buNone/>
            </a:pPr>
            <a:r>
              <a:rPr lang="en-US" dirty="0" smtClean="0">
                <a:latin typeface="Times New Roman" panose="02020603050405020304" pitchFamily="18" charset="0"/>
                <a:cs typeface="Times New Roman" panose="02020603050405020304" pitchFamily="18" charset="0"/>
              </a:rPr>
              <a:t>Introduction:</a:t>
            </a:r>
          </a:p>
          <a:p>
            <a:pPr>
              <a:lnSpc>
                <a:spcPct val="150000"/>
              </a:lnSpc>
            </a:pPr>
            <a:r>
              <a:rPr lang="en-US" sz="2000" dirty="0" smtClean="0">
                <a:latin typeface="Times New Roman" panose="02020603050405020304" pitchFamily="18" charset="0"/>
                <a:cs typeface="Times New Roman" panose="02020603050405020304" pitchFamily="18" charset="0"/>
              </a:rPr>
              <a:t>A Process Scheduler schedules different processes to be assigned to the CPU based on particular scheduling algorithms. These algorithms are either non-preemptive or preemptive. Non-preemptive algorithms are designed so that once a process enters the running state, it cannot be preempted until it completes its allotted time, whereas the preemptive scheduling is based on priority where a scheduler may preempt a low priority running process anytime when a high priority process enters into a ready state.</a:t>
            </a:r>
          </a:p>
          <a:p>
            <a:pPr>
              <a:lnSpc>
                <a:spcPct val="150000"/>
              </a:lnSpc>
            </a:pPr>
            <a:r>
              <a:rPr lang="en-US" sz="2000" dirty="0" smtClean="0">
                <a:latin typeface="Times New Roman" panose="02020603050405020304" pitchFamily="18" charset="0"/>
                <a:cs typeface="Times New Roman" panose="02020603050405020304" pitchFamily="18" charset="0"/>
              </a:rPr>
              <a:t>First come first serve (</a:t>
            </a:r>
            <a:r>
              <a:rPr lang="en-US" sz="2000" b="1" dirty="0" smtClean="0">
                <a:latin typeface="Times New Roman" panose="02020603050405020304" pitchFamily="18" charset="0"/>
                <a:cs typeface="Times New Roman" panose="02020603050405020304" pitchFamily="18" charset="0"/>
              </a:rPr>
              <a:t>FCFS</a:t>
            </a:r>
            <a:r>
              <a:rPr lang="en-US" sz="2000" dirty="0" smtClean="0">
                <a:latin typeface="Times New Roman" panose="02020603050405020304" pitchFamily="18" charset="0"/>
                <a:cs typeface="Times New Roman" panose="02020603050405020304" pitchFamily="18" charset="0"/>
              </a:rPr>
              <a:t>) scheduling algorithm simply schedules the jobs according to their arrival time. The job which comes first in the ready queue will get the CPU first. The lesser the arrival time of the job, the sooner will the job get the CPU.</a:t>
            </a:r>
          </a:p>
          <a:p>
            <a:pPr marL="0" indent="0">
              <a:buNone/>
            </a:pPr>
            <a:endParaRPr lang="en-US" dirty="0" smtClean="0"/>
          </a:p>
        </p:txBody>
      </p:sp>
    </p:spTree>
    <p:extLst>
      <p:ext uri="{BB962C8B-B14F-4D97-AF65-F5344CB8AC3E}">
        <p14:creationId xmlns:p14="http://schemas.microsoft.com/office/powerpoint/2010/main" val="37605677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lstStyle/>
          <a:p>
            <a:r>
              <a:rPr lang="en-US" b="1" dirty="0" smtClean="0">
                <a:latin typeface="Times New Roman" panose="02020603050405020304" pitchFamily="18" charset="0"/>
                <a:cs typeface="Times New Roman" panose="02020603050405020304" pitchFamily="18" charset="0"/>
              </a:rPr>
              <a:t>How it works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54034"/>
            <a:ext cx="10515600" cy="4922929"/>
          </a:xfrm>
        </p:spPr>
        <p:txBody>
          <a:bodyPr>
            <a:normAutofit fontScale="62500" lnSpcReduction="20000"/>
          </a:bodyPr>
          <a:lstStyle/>
          <a:p>
            <a:pPr>
              <a:lnSpc>
                <a:spcPct val="120000"/>
              </a:lnSpc>
            </a:pPr>
            <a:r>
              <a:rPr lang="en-US" dirty="0" smtClean="0">
                <a:latin typeface="Times New Roman" panose="02020603050405020304" pitchFamily="18" charset="0"/>
                <a:cs typeface="Times New Roman" panose="02020603050405020304" pitchFamily="18" charset="0"/>
              </a:rPr>
              <a:t>Number of processes and process id’s are given as input in the order of their arrival time</a:t>
            </a:r>
          </a:p>
          <a:p>
            <a:pPr>
              <a:lnSpc>
                <a:spcPct val="120000"/>
              </a:lnSpc>
            </a:pPr>
            <a:r>
              <a:rPr lang="en-US" dirty="0" smtClean="0">
                <a:latin typeface="Times New Roman" panose="02020603050405020304" pitchFamily="18" charset="0"/>
                <a:cs typeface="Times New Roman" panose="02020603050405020304" pitchFamily="18" charset="0"/>
              </a:rPr>
              <a:t>Waiting Time and Turn Around Time is calculated with Burst Time known</a:t>
            </a:r>
          </a:p>
          <a:p>
            <a:pPr>
              <a:lnSpc>
                <a:spcPct val="120000"/>
              </a:lnSpc>
            </a:pPr>
            <a:r>
              <a:rPr lang="en-US" dirty="0" smtClean="0">
                <a:latin typeface="Times New Roman" panose="02020603050405020304" pitchFamily="18" charset="0"/>
                <a:cs typeface="Times New Roman" panose="02020603050405020304" pitchFamily="18" charset="0"/>
              </a:rPr>
              <a:t>The following formulas are used for calculation </a:t>
            </a:r>
          </a:p>
          <a:p>
            <a:pPr marL="0" indent="0">
              <a:lnSpc>
                <a:spcPct val="120000"/>
              </a:lnSpc>
              <a:buNone/>
            </a:pPr>
            <a:r>
              <a:rPr lang="en-US" dirty="0" smtClean="0">
                <a:latin typeface="Times New Roman" panose="02020603050405020304" pitchFamily="18" charset="0"/>
                <a:cs typeface="Times New Roman" panose="02020603050405020304" pitchFamily="18" charset="0"/>
              </a:rPr>
              <a:t>       1. Completion time of current process = Completion </a:t>
            </a:r>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ime of previous process + Burst Time of previous process</a:t>
            </a:r>
          </a:p>
          <a:p>
            <a:pPr marL="0" indent="0">
              <a:lnSpc>
                <a:spcPct val="120000"/>
              </a:lnSpc>
              <a:buNone/>
            </a:pPr>
            <a:r>
              <a:rPr lang="en-US" dirty="0" smtClean="0">
                <a:latin typeface="Times New Roman" panose="02020603050405020304" pitchFamily="18" charset="0"/>
                <a:cs typeface="Times New Roman" panose="02020603050405020304" pitchFamily="18" charset="0"/>
              </a:rPr>
              <a:t>2. Wait Time of current process = Completion Time of current process - Arrival Time of current process</a:t>
            </a:r>
          </a:p>
          <a:p>
            <a:pPr marL="0" indent="0">
              <a:lnSpc>
                <a:spcPct val="120000"/>
              </a:lnSpc>
              <a:buNone/>
            </a:pPr>
            <a:r>
              <a:rPr lang="en-US" dirty="0" smtClean="0">
                <a:latin typeface="Times New Roman" panose="02020603050405020304" pitchFamily="18" charset="0"/>
                <a:cs typeface="Times New Roman" panose="02020603050405020304" pitchFamily="18" charset="0"/>
              </a:rPr>
              <a:t>3. Turn Around Time of current process = Burst Time of current process + Waiting Time of 						   current process</a:t>
            </a:r>
          </a:p>
          <a:p>
            <a:pPr>
              <a:lnSpc>
                <a:spcPct val="120000"/>
              </a:lnSpc>
            </a:pPr>
            <a:r>
              <a:rPr lang="en-US" dirty="0" smtClean="0">
                <a:latin typeface="Times New Roman" panose="02020603050405020304" pitchFamily="18" charset="0"/>
                <a:cs typeface="Times New Roman" panose="02020603050405020304" pitchFamily="18" charset="0"/>
              </a:rPr>
              <a:t>Total Waiting Time and Total Turn Around Time are calculated</a:t>
            </a:r>
          </a:p>
          <a:p>
            <a:pPr>
              <a:lnSpc>
                <a:spcPct val="120000"/>
              </a:lnSpc>
            </a:pPr>
            <a:r>
              <a:rPr lang="en-US" dirty="0" smtClean="0">
                <a:latin typeface="Times New Roman" panose="02020603050405020304" pitchFamily="18" charset="0"/>
                <a:cs typeface="Times New Roman" panose="02020603050405020304" pitchFamily="18" charset="0"/>
              </a:rPr>
              <a:t>Finally, Average Waiting Time and Average Turn Around Time are calculated by using following formulas</a:t>
            </a:r>
          </a:p>
          <a:p>
            <a:pPr marL="0" indent="0">
              <a:lnSpc>
                <a:spcPct val="120000"/>
              </a:lnSpc>
              <a:buNone/>
            </a:pPr>
            <a:r>
              <a:rPr lang="en-US" dirty="0" smtClean="0">
                <a:latin typeface="Times New Roman" panose="02020603050405020304" pitchFamily="18" charset="0"/>
                <a:cs typeface="Times New Roman" panose="02020603050405020304" pitchFamily="18" charset="0"/>
              </a:rPr>
              <a:t>       1. Average Waiting Time = Total Waiting Time / Number of processes       </a:t>
            </a:r>
          </a:p>
          <a:p>
            <a:pPr marL="0" indent="0">
              <a:lnSpc>
                <a:spcPct val="120000"/>
              </a:lnSpc>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2. Average Turn Around Time = Total Turn Around Time / Number of processes       </a:t>
            </a:r>
          </a:p>
          <a:p>
            <a:pPr marL="0" indent="0">
              <a:lnSpc>
                <a:spcPct val="12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7988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526"/>
          </a:xfrm>
        </p:spPr>
        <p:txBody>
          <a:bodyPr>
            <a:normAutofit fontScale="90000"/>
          </a:bodyPr>
          <a:lstStyle/>
          <a:p>
            <a:r>
              <a:rPr lang="en-US" b="1" dirty="0" smtClean="0"/>
              <a:t>Pseudocode</a:t>
            </a:r>
            <a:endParaRPr lang="en-US" b="1" dirty="0"/>
          </a:p>
        </p:txBody>
      </p:sp>
      <p:sp>
        <p:nvSpPr>
          <p:cNvPr id="3" name="Content Placeholder 2"/>
          <p:cNvSpPr>
            <a:spLocks noGrp="1"/>
          </p:cNvSpPr>
          <p:nvPr>
            <p:ph idx="1"/>
          </p:nvPr>
        </p:nvSpPr>
        <p:spPr>
          <a:xfrm>
            <a:off x="838200" y="1371600"/>
            <a:ext cx="10515600" cy="4909866"/>
          </a:xfrm>
        </p:spPr>
        <p:txBody>
          <a:bodyPr>
            <a:normAutofit lnSpcReduction="10000"/>
          </a:bodyPr>
          <a:lstStyle/>
          <a:p>
            <a:pPr marL="0" indent="0">
              <a:buNone/>
            </a:pPr>
            <a:r>
              <a:rPr lang="en-US" sz="2000" dirty="0" smtClean="0"/>
              <a:t>Data: Processes p[], No. of Processes n, </a:t>
            </a:r>
          </a:p>
          <a:p>
            <a:pPr marL="0" indent="0">
              <a:buNone/>
            </a:pPr>
            <a:r>
              <a:rPr lang="en-US" sz="2000" dirty="0" smtClean="0"/>
              <a:t>           Burst </a:t>
            </a:r>
            <a:r>
              <a:rPr lang="en-US" sz="2000" dirty="0"/>
              <a:t>T</a:t>
            </a:r>
            <a:r>
              <a:rPr lang="en-US" sz="2000" dirty="0" smtClean="0"/>
              <a:t>ime </a:t>
            </a:r>
            <a:r>
              <a:rPr lang="en-US" sz="2000" dirty="0" err="1" smtClean="0"/>
              <a:t>bt</a:t>
            </a:r>
            <a:r>
              <a:rPr lang="en-US" sz="2000" dirty="0" smtClean="0"/>
              <a:t>[], Wait </a:t>
            </a:r>
            <a:r>
              <a:rPr lang="en-US" sz="2000" dirty="0"/>
              <a:t>T</a:t>
            </a:r>
            <a:r>
              <a:rPr lang="en-US" sz="2000" dirty="0" smtClean="0"/>
              <a:t>ime </a:t>
            </a:r>
            <a:r>
              <a:rPr lang="en-US" sz="2000" dirty="0" err="1" smtClean="0"/>
              <a:t>wt</a:t>
            </a:r>
            <a:r>
              <a:rPr lang="en-US" sz="2000" dirty="0" smtClean="0"/>
              <a:t>[n], Turn </a:t>
            </a:r>
            <a:r>
              <a:rPr lang="en-US" sz="2000" dirty="0"/>
              <a:t>A</a:t>
            </a:r>
            <a:r>
              <a:rPr lang="en-US" sz="2000" dirty="0" smtClean="0"/>
              <a:t>round </a:t>
            </a:r>
            <a:r>
              <a:rPr lang="en-US" sz="2000" dirty="0"/>
              <a:t>T</a:t>
            </a:r>
            <a:r>
              <a:rPr lang="en-US" sz="2000" dirty="0" smtClean="0"/>
              <a:t>ime tat[n], </a:t>
            </a:r>
          </a:p>
          <a:p>
            <a:pPr marL="0" indent="0">
              <a:buNone/>
            </a:pPr>
            <a:r>
              <a:rPr lang="en-US" sz="2000" dirty="0" smtClean="0"/>
              <a:t>           </a:t>
            </a:r>
            <a:r>
              <a:rPr lang="en-US" sz="2000" dirty="0" err="1" smtClean="0"/>
              <a:t>findWaitingTime</a:t>
            </a:r>
            <a:r>
              <a:rPr lang="en-US" sz="2000" dirty="0" smtClean="0"/>
              <a:t>(</a:t>
            </a:r>
            <a:r>
              <a:rPr lang="en-US" sz="2000" dirty="0" err="1" smtClean="0"/>
              <a:t>processes,n,bt,wt</a:t>
            </a:r>
            <a:r>
              <a:rPr lang="en-US" sz="2000" dirty="0" smtClean="0"/>
              <a:t>), </a:t>
            </a:r>
            <a:r>
              <a:rPr lang="en-US" sz="2000" dirty="0" err="1" smtClean="0"/>
              <a:t>findTurnAroundTime</a:t>
            </a:r>
            <a:r>
              <a:rPr lang="en-US" sz="2000" dirty="0" smtClean="0"/>
              <a:t>(</a:t>
            </a:r>
            <a:r>
              <a:rPr lang="en-US" sz="2000" dirty="0" err="1" smtClean="0"/>
              <a:t>processes,n,bt,wt,tat</a:t>
            </a:r>
            <a:r>
              <a:rPr lang="en-US" sz="2000" dirty="0" smtClean="0"/>
              <a:t>)</a:t>
            </a:r>
          </a:p>
          <a:p>
            <a:pPr marL="0" indent="0">
              <a:buNone/>
            </a:pPr>
            <a:endParaRPr lang="en-US" sz="2000" dirty="0" smtClean="0"/>
          </a:p>
          <a:p>
            <a:pPr marL="0" indent="0">
              <a:buNone/>
            </a:pPr>
            <a:r>
              <a:rPr lang="en-US" sz="2000" dirty="0" smtClean="0"/>
              <a:t> </a:t>
            </a:r>
            <a:r>
              <a:rPr lang="en-US" sz="2000" dirty="0" err="1" smtClean="0"/>
              <a:t>findAvgTime</a:t>
            </a:r>
            <a:r>
              <a:rPr lang="en-US" sz="2000" dirty="0" smtClean="0"/>
              <a:t>(</a:t>
            </a:r>
            <a:r>
              <a:rPr lang="en-US" sz="2000" dirty="0" err="1" smtClean="0"/>
              <a:t>processes,n,bt</a:t>
            </a:r>
            <a:r>
              <a:rPr lang="en-US" sz="2000" dirty="0" smtClean="0"/>
              <a:t>)</a:t>
            </a:r>
          </a:p>
          <a:p>
            <a:pPr marL="0" indent="0">
              <a:buNone/>
            </a:pPr>
            <a:r>
              <a:rPr lang="en-US" sz="2000" dirty="0"/>
              <a:t> </a:t>
            </a:r>
            <a:r>
              <a:rPr lang="en-US" sz="2000" dirty="0" smtClean="0"/>
              <a:t>    for(</a:t>
            </a:r>
            <a:r>
              <a:rPr lang="en-US" sz="2000" dirty="0" err="1" smtClean="0"/>
              <a:t>i</a:t>
            </a:r>
            <a:r>
              <a:rPr lang="en-US" sz="2000" dirty="0" smtClean="0"/>
              <a:t>=0;i&lt;</a:t>
            </a:r>
            <a:r>
              <a:rPr lang="en-US" sz="2000" dirty="0" err="1" smtClean="0"/>
              <a:t>n;i</a:t>
            </a:r>
            <a:r>
              <a:rPr lang="en-US" sz="2000" dirty="0" smtClean="0"/>
              <a:t>++) do</a:t>
            </a:r>
          </a:p>
          <a:p>
            <a:pPr marL="0" indent="0">
              <a:buNone/>
            </a:pPr>
            <a:r>
              <a:rPr lang="en-US" sz="2000" dirty="0" smtClean="0"/>
              <a:t>        </a:t>
            </a:r>
            <a:r>
              <a:rPr lang="en-US" sz="2000" dirty="0" err="1" smtClean="0"/>
              <a:t>total_wt</a:t>
            </a:r>
            <a:r>
              <a:rPr lang="en-US" sz="2000" dirty="0" smtClean="0"/>
              <a:t> = </a:t>
            </a:r>
            <a:r>
              <a:rPr lang="en-US" sz="2000" dirty="0" err="1" smtClean="0"/>
              <a:t>total_wt</a:t>
            </a:r>
            <a:r>
              <a:rPr lang="en-US" sz="2000" dirty="0" smtClean="0"/>
              <a:t> + </a:t>
            </a:r>
            <a:r>
              <a:rPr lang="en-US" sz="2000" dirty="0" err="1" smtClean="0"/>
              <a:t>wt</a:t>
            </a:r>
            <a:r>
              <a:rPr lang="en-US" sz="2000" dirty="0" smtClean="0"/>
              <a:t>[</a:t>
            </a:r>
            <a:r>
              <a:rPr lang="en-US" sz="2000" dirty="0" err="1" smtClean="0"/>
              <a:t>i</a:t>
            </a:r>
            <a:r>
              <a:rPr lang="en-US" sz="2000" dirty="0" smtClean="0"/>
              <a:t>]</a:t>
            </a:r>
          </a:p>
          <a:p>
            <a:pPr marL="0" indent="0">
              <a:buNone/>
            </a:pPr>
            <a:r>
              <a:rPr lang="en-US" sz="2000" dirty="0"/>
              <a:t> </a:t>
            </a:r>
            <a:r>
              <a:rPr lang="en-US" sz="2000" dirty="0" smtClean="0"/>
              <a:t>       </a:t>
            </a:r>
            <a:r>
              <a:rPr lang="en-US" sz="2000" dirty="0" err="1" smtClean="0"/>
              <a:t>total_tat</a:t>
            </a:r>
            <a:r>
              <a:rPr lang="en-US" sz="2000" dirty="0" smtClean="0"/>
              <a:t> = </a:t>
            </a:r>
            <a:r>
              <a:rPr lang="en-US" sz="2000" dirty="0" err="1" smtClean="0"/>
              <a:t>total_tat</a:t>
            </a:r>
            <a:r>
              <a:rPr lang="en-US" sz="2000" dirty="0" smtClean="0"/>
              <a:t> + tat[</a:t>
            </a:r>
            <a:r>
              <a:rPr lang="en-US" sz="2000" dirty="0" err="1" smtClean="0"/>
              <a:t>i</a:t>
            </a:r>
            <a:r>
              <a:rPr lang="en-US" sz="2000" dirty="0" smtClean="0"/>
              <a:t>]</a:t>
            </a:r>
          </a:p>
          <a:p>
            <a:pPr marL="0" indent="0">
              <a:buNone/>
            </a:pPr>
            <a:r>
              <a:rPr lang="en-US" sz="2000" dirty="0"/>
              <a:t> </a:t>
            </a:r>
            <a:r>
              <a:rPr lang="en-US" sz="2000" dirty="0" smtClean="0"/>
              <a:t>       </a:t>
            </a:r>
            <a:r>
              <a:rPr lang="en-US" sz="2000" dirty="0" err="1" smtClean="0"/>
              <a:t>avgWaitingTime</a:t>
            </a:r>
            <a:r>
              <a:rPr lang="en-US" sz="2000" dirty="0" smtClean="0"/>
              <a:t> = </a:t>
            </a:r>
            <a:r>
              <a:rPr lang="en-US" sz="2000" dirty="0" err="1" smtClean="0"/>
              <a:t>total_wt</a:t>
            </a:r>
            <a:r>
              <a:rPr lang="en-US" sz="2000" dirty="0"/>
              <a:t> </a:t>
            </a:r>
            <a:r>
              <a:rPr lang="en-US" sz="2000" dirty="0" smtClean="0"/>
              <a:t>/ n</a:t>
            </a:r>
          </a:p>
          <a:p>
            <a:pPr marL="0" indent="0">
              <a:buNone/>
            </a:pPr>
            <a:r>
              <a:rPr lang="en-US" sz="2000" dirty="0"/>
              <a:t> </a:t>
            </a:r>
            <a:r>
              <a:rPr lang="en-US" sz="2000" dirty="0" smtClean="0"/>
              <a:t>       </a:t>
            </a:r>
            <a:r>
              <a:rPr lang="en-US" sz="2000" dirty="0" err="1" smtClean="0"/>
              <a:t>avgTurnAroundTime</a:t>
            </a:r>
            <a:r>
              <a:rPr lang="en-US" sz="2000" dirty="0" smtClean="0"/>
              <a:t> = </a:t>
            </a:r>
            <a:r>
              <a:rPr lang="en-US" sz="2000" dirty="0" err="1" smtClean="0"/>
              <a:t>total_tat</a:t>
            </a:r>
            <a:r>
              <a:rPr lang="en-US" sz="2000" dirty="0" smtClean="0"/>
              <a:t> / n</a:t>
            </a:r>
          </a:p>
          <a:p>
            <a:pPr marL="0" indent="0">
              <a:buNone/>
            </a:pPr>
            <a:r>
              <a:rPr lang="en-US" sz="2000" dirty="0"/>
              <a:t> </a:t>
            </a:r>
            <a:r>
              <a:rPr lang="en-US" sz="2000" dirty="0" smtClean="0"/>
              <a:t>    end</a:t>
            </a:r>
          </a:p>
          <a:p>
            <a:pPr marL="0" indent="0">
              <a:buNone/>
            </a:pPr>
            <a:r>
              <a:rPr lang="en-US" sz="2000" dirty="0"/>
              <a:t> </a:t>
            </a:r>
            <a:r>
              <a:rPr lang="en-US" sz="2000" dirty="0" smtClean="0"/>
              <a:t>end</a:t>
            </a:r>
          </a:p>
          <a:p>
            <a:pPr marL="0" indent="0">
              <a:buNone/>
            </a:pPr>
            <a:r>
              <a:rPr lang="en-US" dirty="0"/>
              <a:t> </a:t>
            </a:r>
            <a:r>
              <a:rPr lang="en-US" dirty="0" smtClean="0"/>
              <a:t>       </a:t>
            </a:r>
            <a:endParaRPr lang="en-US" dirty="0"/>
          </a:p>
        </p:txBody>
      </p:sp>
    </p:spTree>
    <p:extLst>
      <p:ext uri="{BB962C8B-B14F-4D97-AF65-F5344CB8AC3E}">
        <p14:creationId xmlns:p14="http://schemas.microsoft.com/office/powerpoint/2010/main" val="30365842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r>
              <a:rPr lang="en-US" b="1" dirty="0" smtClean="0"/>
              <a:t>Program</a:t>
            </a:r>
            <a:endParaRPr lang="en-US" b="1" dirty="0"/>
          </a:p>
        </p:txBody>
      </p:sp>
      <p:sp>
        <p:nvSpPr>
          <p:cNvPr id="3" name="Rectangle 1"/>
          <p:cNvSpPr>
            <a:spLocks noGrp="1" noChangeArrowheads="1"/>
          </p:cNvSpPr>
          <p:nvPr>
            <p:ph idx="1"/>
          </p:nvPr>
        </p:nvSpPr>
        <p:spPr bwMode="auto">
          <a:xfrm>
            <a:off x="838200" y="1528171"/>
            <a:ext cx="10160726" cy="49859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#include&lt;</a:t>
            </a:r>
            <a:r>
              <a:rPr kumimoji="0" lang="en-US" altLang="en-US" sz="1400" b="0" i="0" u="none" strike="noStrike" cap="none" normalizeH="0" baseline="0" dirty="0" err="1" smtClean="0">
                <a:ln>
                  <a:noFill/>
                </a:ln>
                <a:effectLst/>
                <a:latin typeface="Consolas" panose="020B0609020204030204" pitchFamily="49" charset="0"/>
              </a:rPr>
              <a:t>iostream</a:t>
            </a:r>
            <a:r>
              <a:rPr kumimoji="0" lang="en-US" altLang="en-US" sz="1400" b="0" i="0" u="none" strike="noStrike" cap="none" normalizeH="0" baseline="0" dirty="0" smtClean="0">
                <a:ln>
                  <a:noFill/>
                </a:ln>
                <a:effectLst/>
                <a:latin typeface="Consolas" panose="020B0609020204030204" pitchFamily="49" charset="0"/>
              </a:rPr>
              <a:t>&gt;</a:t>
            </a:r>
            <a:endParaRPr kumimoji="0" lang="en-US" altLang="en-US" sz="1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effectLst/>
                <a:latin typeface="Consolas" panose="020B0609020204030204" pitchFamily="49" charset="0"/>
              </a:rPr>
              <a:t>using</a:t>
            </a: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1" i="0" u="none" strike="noStrike" cap="none" normalizeH="0" baseline="0" dirty="0" smtClean="0">
                <a:ln>
                  <a:noFill/>
                </a:ln>
                <a:effectLst/>
                <a:latin typeface="Consolas" panose="020B0609020204030204" pitchFamily="49" charset="0"/>
              </a:rPr>
              <a:t>namespace</a:t>
            </a: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0" i="0" u="none" strike="noStrike" cap="none" normalizeH="0" baseline="0" dirty="0" err="1" smtClean="0">
                <a:ln>
                  <a:noFill/>
                </a:ln>
                <a:effectLst/>
                <a:latin typeface="Consolas" panose="020B0609020204030204" pitchFamily="49" charset="0"/>
              </a:rPr>
              <a:t>std</a:t>
            </a:r>
            <a:r>
              <a:rPr kumimoji="0" lang="en-US" altLang="en-US" sz="1400" b="0" i="0" u="none" strike="noStrike" cap="none" normalizeH="0" baseline="0" dirty="0" smtClean="0">
                <a:ln>
                  <a:noFill/>
                </a:ln>
                <a:effectLst/>
                <a:latin typeface="Consolas" panose="020B0609020204030204" pitchFamily="49" charset="0"/>
              </a:rPr>
              <a:t>;</a:t>
            </a:r>
            <a:endParaRPr kumimoji="0" lang="en-US" altLang="en-US" sz="1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effectLst/>
                <a:latin typeface="Consolas" panose="020B0609020204030204" pitchFamily="49" charset="0"/>
              </a:rPr>
              <a:t> </a:t>
            </a:r>
            <a:endParaRPr kumimoji="0" lang="en-US" altLang="en-US" sz="2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accent3"/>
                </a:solidFill>
                <a:effectLst/>
                <a:latin typeface="Consolas" panose="020B0609020204030204" pitchFamily="49" charset="0"/>
              </a:rPr>
              <a:t>// Function to find the waiting time for all</a:t>
            </a:r>
            <a:r>
              <a:rPr lang="en-US" altLang="en-US" sz="1400" dirty="0">
                <a:solidFill>
                  <a:schemeClr val="accent3"/>
                </a:solidFill>
              </a:rPr>
              <a:t> </a:t>
            </a:r>
            <a:r>
              <a:rPr kumimoji="0" lang="en-US" altLang="en-US" sz="1400" b="0" i="0" u="none" strike="noStrike" cap="none" normalizeH="0" baseline="0" dirty="0" smtClean="0">
                <a:ln>
                  <a:noFill/>
                </a:ln>
                <a:solidFill>
                  <a:schemeClr val="accent3"/>
                </a:solidFill>
                <a:effectLst/>
                <a:latin typeface="Consolas" panose="020B0609020204030204" pitchFamily="49" charset="0"/>
              </a:rPr>
              <a:t>processes</a:t>
            </a:r>
            <a:endParaRPr kumimoji="0" lang="en-US" altLang="en-US" sz="1400" b="0" i="0" u="none" strike="noStrike" cap="none" normalizeH="0" baseline="0" dirty="0" smtClean="0">
              <a:ln>
                <a:noFill/>
              </a:ln>
              <a:solidFill>
                <a:schemeClr val="accent3"/>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effectLst/>
                <a:latin typeface="Consolas" panose="020B0609020204030204" pitchFamily="49" charset="0"/>
              </a:rPr>
              <a:t>void</a:t>
            </a: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0" i="0" u="none" strike="noStrike" cap="none" normalizeH="0" baseline="0" dirty="0" err="1" smtClean="0">
                <a:ln>
                  <a:noFill/>
                </a:ln>
                <a:effectLst/>
                <a:latin typeface="Consolas" panose="020B0609020204030204" pitchFamily="49" charset="0"/>
              </a:rPr>
              <a:t>findWaitingTime</a:t>
            </a:r>
            <a:r>
              <a:rPr kumimoji="0" lang="en-US" altLang="en-US" sz="1400" b="0" i="0" u="none" strike="noStrike" cap="none" normalizeH="0" baseline="0" dirty="0" smtClean="0">
                <a:ln>
                  <a:noFill/>
                </a:ln>
                <a:effectLst/>
                <a:latin typeface="Consolas" panose="020B0609020204030204" pitchFamily="49" charset="0"/>
              </a:rPr>
              <a:t>(</a:t>
            </a:r>
            <a:r>
              <a:rPr kumimoji="0" lang="en-US" altLang="en-US" sz="1400" b="1" i="0" u="none" strike="noStrike" cap="none" normalizeH="0" baseline="0" dirty="0" err="1" smtClean="0">
                <a:ln>
                  <a:noFill/>
                </a:ln>
                <a:effectLst/>
                <a:latin typeface="Consolas" panose="020B0609020204030204" pitchFamily="49" charset="0"/>
              </a:rPr>
              <a:t>int</a:t>
            </a:r>
            <a:r>
              <a:rPr kumimoji="0" lang="en-US" altLang="en-US" sz="1400" b="0" i="0" u="none" strike="noStrike" cap="none" normalizeH="0" baseline="0" dirty="0" smtClean="0">
                <a:ln>
                  <a:noFill/>
                </a:ln>
                <a:effectLst/>
                <a:latin typeface="Consolas" panose="020B0609020204030204" pitchFamily="49" charset="0"/>
              </a:rPr>
              <a:t> processes[], </a:t>
            </a:r>
            <a:r>
              <a:rPr kumimoji="0" lang="en-US" altLang="en-US" sz="1400" b="1" i="0" u="none" strike="noStrike" cap="none" normalizeH="0" baseline="0" dirty="0" err="1" smtClean="0">
                <a:ln>
                  <a:noFill/>
                </a:ln>
                <a:effectLst/>
                <a:latin typeface="Consolas" panose="020B0609020204030204" pitchFamily="49" charset="0"/>
              </a:rPr>
              <a:t>int</a:t>
            </a:r>
            <a:r>
              <a:rPr kumimoji="0" lang="en-US" altLang="en-US" sz="1400" b="0" i="0" u="none" strike="noStrike" cap="none" normalizeH="0" baseline="0" dirty="0" smtClean="0">
                <a:ln>
                  <a:noFill/>
                </a:ln>
                <a:effectLst/>
                <a:latin typeface="Consolas" panose="020B0609020204030204" pitchFamily="49" charset="0"/>
              </a:rPr>
              <a:t> n, </a:t>
            </a:r>
            <a:r>
              <a:rPr kumimoji="0" lang="en-US" altLang="en-US" sz="1400" b="1" i="0" u="none" strike="noStrike" cap="none" normalizeH="0" baseline="0" dirty="0" err="1" smtClean="0">
                <a:ln>
                  <a:noFill/>
                </a:ln>
                <a:effectLst/>
                <a:latin typeface="Consolas" panose="020B0609020204030204" pitchFamily="49" charset="0"/>
              </a:rPr>
              <a:t>int</a:t>
            </a: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0" i="0" u="none" strike="noStrike" cap="none" normalizeH="0" baseline="0" dirty="0" err="1" smtClean="0">
                <a:ln>
                  <a:noFill/>
                </a:ln>
                <a:effectLst/>
                <a:latin typeface="Consolas" panose="020B0609020204030204" pitchFamily="49" charset="0"/>
              </a:rPr>
              <a:t>bt</a:t>
            </a:r>
            <a:r>
              <a:rPr kumimoji="0" lang="en-US" altLang="en-US" sz="1400" b="0" i="0" u="none" strike="noStrike" cap="none" normalizeH="0" baseline="0" dirty="0" smtClean="0">
                <a:ln>
                  <a:noFill/>
                </a:ln>
                <a:effectLst/>
                <a:latin typeface="Consolas" panose="020B0609020204030204" pitchFamily="49" charset="0"/>
              </a:rPr>
              <a:t>[],</a:t>
            </a:r>
            <a:endParaRPr kumimoji="0" lang="en-US" altLang="en-US" sz="1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1" i="0" u="none" strike="noStrike" cap="none" normalizeH="0" baseline="0" dirty="0" err="1" smtClean="0">
                <a:ln>
                  <a:noFill/>
                </a:ln>
                <a:effectLst/>
                <a:latin typeface="Consolas" panose="020B0609020204030204" pitchFamily="49" charset="0"/>
              </a:rPr>
              <a:t>int</a:t>
            </a: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0" i="0" u="none" strike="noStrike" cap="none" normalizeH="0" baseline="0" dirty="0" err="1" smtClean="0">
                <a:ln>
                  <a:noFill/>
                </a:ln>
                <a:effectLst/>
                <a:latin typeface="Consolas" panose="020B0609020204030204" pitchFamily="49" charset="0"/>
              </a:rPr>
              <a:t>wt</a:t>
            </a: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1" i="0" u="none" strike="noStrike" cap="none" normalizeH="0" baseline="0" dirty="0" err="1" smtClean="0">
                <a:ln>
                  <a:noFill/>
                </a:ln>
                <a:effectLst/>
                <a:latin typeface="Consolas" panose="020B0609020204030204" pitchFamily="49" charset="0"/>
              </a:rPr>
              <a:t>int</a:t>
            </a:r>
            <a:r>
              <a:rPr kumimoji="0" lang="en-US" altLang="en-US" sz="1400" b="0" i="0" u="none" strike="noStrike" cap="none" normalizeH="0" baseline="0" dirty="0" smtClean="0">
                <a:ln>
                  <a:noFill/>
                </a:ln>
                <a:effectLst/>
                <a:latin typeface="Consolas" panose="020B0609020204030204" pitchFamily="49" charset="0"/>
              </a:rPr>
              <a:t> at[])</a:t>
            </a:r>
            <a:endParaRPr kumimoji="0" lang="en-US" altLang="en-US" sz="1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a:t>
            </a:r>
            <a:endParaRPr kumimoji="0" lang="en-US" altLang="en-US" sz="1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1" i="0" u="none" strike="noStrike" cap="none" normalizeH="0" baseline="0" dirty="0" err="1" smtClean="0">
                <a:ln>
                  <a:noFill/>
                </a:ln>
                <a:effectLst/>
                <a:latin typeface="Consolas" panose="020B0609020204030204" pitchFamily="49" charset="0"/>
              </a:rPr>
              <a:t>int</a:t>
            </a:r>
            <a:r>
              <a:rPr kumimoji="0" lang="en-US" altLang="en-US" sz="1400" b="0" i="0" u="none" strike="noStrike" cap="none" normalizeH="0" baseline="0" dirty="0" smtClean="0">
                <a:ln>
                  <a:noFill/>
                </a:ln>
                <a:effectLst/>
                <a:latin typeface="Consolas" panose="020B0609020204030204" pitchFamily="49" charset="0"/>
              </a:rPr>
              <a:t> </a:t>
            </a:r>
            <a:r>
              <a:rPr lang="en-US" altLang="en-US" sz="1400" dirty="0" err="1" smtClean="0">
                <a:latin typeface="Consolas" panose="020B0609020204030204" pitchFamily="49" charset="0"/>
              </a:rPr>
              <a:t>completion</a:t>
            </a:r>
            <a:r>
              <a:rPr kumimoji="0" lang="en-US" altLang="en-US" sz="1400" b="0" i="0" u="none" strike="noStrike" cap="none" normalizeH="0" baseline="0" dirty="0" err="1" smtClean="0">
                <a:ln>
                  <a:noFill/>
                </a:ln>
                <a:effectLst/>
                <a:latin typeface="Consolas" panose="020B0609020204030204" pitchFamily="49" charset="0"/>
              </a:rPr>
              <a:t>_time</a:t>
            </a:r>
            <a:r>
              <a:rPr kumimoji="0" lang="en-US" altLang="en-US" sz="1400" b="0" i="0" u="none" strike="noStrike" cap="none" normalizeH="0" baseline="0" dirty="0" smtClean="0">
                <a:ln>
                  <a:noFill/>
                </a:ln>
                <a:effectLst/>
                <a:latin typeface="Consolas" panose="020B0609020204030204" pitchFamily="49" charset="0"/>
              </a:rPr>
              <a:t>[n];</a:t>
            </a:r>
            <a:endParaRPr kumimoji="0" lang="en-US" altLang="en-US" sz="1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0" i="0" u="none" strike="noStrike" cap="none" normalizeH="0" baseline="0" dirty="0" err="1" smtClean="0">
                <a:ln>
                  <a:noFill/>
                </a:ln>
                <a:effectLst/>
                <a:latin typeface="Consolas" panose="020B0609020204030204" pitchFamily="49" charset="0"/>
              </a:rPr>
              <a:t>completion_time</a:t>
            </a:r>
            <a:r>
              <a:rPr kumimoji="0" lang="en-US" altLang="en-US" sz="1400" b="0" i="0" u="none" strike="noStrike" cap="none" normalizeH="0" baseline="0" dirty="0" smtClean="0">
                <a:ln>
                  <a:noFill/>
                </a:ln>
                <a:effectLst/>
                <a:latin typeface="Consolas" panose="020B0609020204030204" pitchFamily="49" charset="0"/>
              </a:rPr>
              <a:t>[0] = at[0];</a:t>
            </a:r>
            <a:endParaRPr kumimoji="0" lang="en-US" altLang="en-US" sz="1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0" i="0" u="none" strike="noStrike" cap="none" normalizeH="0" baseline="0" dirty="0" err="1" smtClean="0">
                <a:ln>
                  <a:noFill/>
                </a:ln>
                <a:effectLst/>
                <a:latin typeface="Consolas" panose="020B0609020204030204" pitchFamily="49" charset="0"/>
              </a:rPr>
              <a:t>wt</a:t>
            </a:r>
            <a:r>
              <a:rPr kumimoji="0" lang="en-US" altLang="en-US" sz="1400" b="0" i="0" u="none" strike="noStrike" cap="none" normalizeH="0" baseline="0" dirty="0" smtClean="0">
                <a:ln>
                  <a:noFill/>
                </a:ln>
                <a:effectLst/>
                <a:latin typeface="Consolas" panose="020B0609020204030204" pitchFamily="49" charset="0"/>
              </a:rPr>
              <a:t>[0] = 0;</a:t>
            </a:r>
            <a:endParaRPr kumimoji="0" lang="en-US" altLang="en-US" sz="1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effectLst/>
                <a:latin typeface="Consolas" panose="020B0609020204030204" pitchFamily="49" charset="0"/>
              </a:rPr>
              <a:t> </a:t>
            </a:r>
            <a:endParaRPr kumimoji="0" lang="en-US" altLang="en-US" sz="2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0" i="0" u="none" strike="noStrike" cap="none" normalizeH="0" baseline="0" dirty="0" smtClean="0">
                <a:ln>
                  <a:noFill/>
                </a:ln>
                <a:solidFill>
                  <a:schemeClr val="accent3"/>
                </a:solidFill>
                <a:effectLst/>
                <a:latin typeface="Consolas" panose="020B0609020204030204" pitchFamily="49" charset="0"/>
              </a:rPr>
              <a:t>// calculating waiting time</a:t>
            </a:r>
            <a:endParaRPr kumimoji="0" lang="en-US" altLang="en-US" sz="1400" b="0" i="0" u="none" strike="noStrike" cap="none" normalizeH="0" baseline="0" dirty="0" smtClean="0">
              <a:ln>
                <a:noFill/>
              </a:ln>
              <a:solidFill>
                <a:schemeClr val="accent3"/>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1" i="0" u="none" strike="noStrike" cap="none" normalizeH="0" baseline="0" dirty="0" smtClean="0">
                <a:ln>
                  <a:noFill/>
                </a:ln>
                <a:effectLst/>
                <a:latin typeface="Consolas" panose="020B0609020204030204" pitchFamily="49" charset="0"/>
              </a:rPr>
              <a:t>for</a:t>
            </a: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1" i="0" u="none" strike="noStrike" cap="none" normalizeH="0" baseline="0" dirty="0" err="1" smtClean="0">
                <a:ln>
                  <a:noFill/>
                </a:ln>
                <a:effectLst/>
                <a:latin typeface="Consolas" panose="020B0609020204030204" pitchFamily="49" charset="0"/>
              </a:rPr>
              <a:t>int</a:t>
            </a: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0" i="0" u="none" strike="noStrike" cap="none" normalizeH="0" baseline="0" dirty="0" err="1" smtClean="0">
                <a:ln>
                  <a:noFill/>
                </a:ln>
                <a:effectLst/>
                <a:latin typeface="Consolas" panose="020B0609020204030204" pitchFamily="49" charset="0"/>
              </a:rPr>
              <a:t>i</a:t>
            </a:r>
            <a:r>
              <a:rPr kumimoji="0" lang="en-US" altLang="en-US" sz="1400" b="0" i="0" u="none" strike="noStrike" cap="none" normalizeH="0" baseline="0" dirty="0" smtClean="0">
                <a:ln>
                  <a:noFill/>
                </a:ln>
                <a:effectLst/>
                <a:latin typeface="Consolas" panose="020B0609020204030204" pitchFamily="49" charset="0"/>
              </a:rPr>
              <a:t> = 1; </a:t>
            </a:r>
            <a:r>
              <a:rPr kumimoji="0" lang="en-US" altLang="en-US" sz="1400" b="0" i="0" u="none" strike="noStrike" cap="none" normalizeH="0" baseline="0" dirty="0" err="1" smtClean="0">
                <a:ln>
                  <a:noFill/>
                </a:ln>
                <a:effectLst/>
                <a:latin typeface="Consolas" panose="020B0609020204030204" pitchFamily="49" charset="0"/>
              </a:rPr>
              <a:t>i</a:t>
            </a:r>
            <a:r>
              <a:rPr kumimoji="0" lang="en-US" altLang="en-US" sz="1400" b="0" i="0" u="none" strike="noStrike" cap="none" normalizeH="0" baseline="0" dirty="0" smtClean="0">
                <a:ln>
                  <a:noFill/>
                </a:ln>
                <a:effectLst/>
                <a:latin typeface="Consolas" panose="020B0609020204030204" pitchFamily="49" charset="0"/>
              </a:rPr>
              <a:t> &lt; n ; </a:t>
            </a:r>
            <a:r>
              <a:rPr kumimoji="0" lang="en-US" altLang="en-US" sz="1400" b="0" i="0" u="none" strike="noStrike" cap="none" normalizeH="0" baseline="0" dirty="0" err="1" smtClean="0">
                <a:ln>
                  <a:noFill/>
                </a:ln>
                <a:effectLst/>
                <a:latin typeface="Consolas" panose="020B0609020204030204" pitchFamily="49" charset="0"/>
              </a:rPr>
              <a:t>i</a:t>
            </a:r>
            <a:r>
              <a:rPr kumimoji="0" lang="en-US" altLang="en-US" sz="1400" b="0" i="0" u="none" strike="noStrike" cap="none" normalizeH="0" baseline="0" dirty="0" smtClean="0">
                <a:ln>
                  <a:noFill/>
                </a:ln>
                <a:effectLst/>
                <a:latin typeface="Consolas" panose="020B0609020204030204" pitchFamily="49" charset="0"/>
              </a:rPr>
              <a:t>++)</a:t>
            </a:r>
            <a:endParaRPr kumimoji="0" lang="en-US" altLang="en-US" sz="1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    {</a:t>
            </a:r>
            <a:endParaRPr kumimoji="0" lang="en-US" altLang="en-US" sz="1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0" i="0" u="none" strike="noStrike" cap="none" normalizeH="0" baseline="0" dirty="0" smtClean="0">
                <a:ln>
                  <a:noFill/>
                </a:ln>
                <a:solidFill>
                  <a:schemeClr val="accent3"/>
                </a:solidFill>
                <a:effectLst/>
                <a:latin typeface="Consolas" panose="020B0609020204030204" pitchFamily="49" charset="0"/>
              </a:rPr>
              <a:t>// Add burst time of previous processes</a:t>
            </a:r>
            <a:endParaRPr kumimoji="0" lang="en-US" altLang="en-US" sz="1400" b="0" i="0" u="none" strike="noStrike" cap="none" normalizeH="0" baseline="0" dirty="0" smtClean="0">
              <a:ln>
                <a:noFill/>
              </a:ln>
              <a:solidFill>
                <a:schemeClr val="accent3"/>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0" i="0" u="none" strike="noStrike" cap="none" normalizeH="0" baseline="0" dirty="0" err="1" smtClean="0">
                <a:ln>
                  <a:noFill/>
                </a:ln>
                <a:effectLst/>
                <a:latin typeface="Consolas" panose="020B0609020204030204" pitchFamily="49" charset="0"/>
              </a:rPr>
              <a:t>completion_time</a:t>
            </a:r>
            <a:r>
              <a:rPr kumimoji="0" lang="en-US" altLang="en-US" sz="1400" b="0" i="0" u="none" strike="noStrike" cap="none" normalizeH="0" baseline="0" dirty="0" smtClean="0">
                <a:ln>
                  <a:noFill/>
                </a:ln>
                <a:effectLst/>
                <a:latin typeface="Consolas" panose="020B0609020204030204" pitchFamily="49" charset="0"/>
              </a:rPr>
              <a:t>[</a:t>
            </a:r>
            <a:r>
              <a:rPr kumimoji="0" lang="en-US" altLang="en-US" sz="1400" b="0" i="0" u="none" strike="noStrike" cap="none" normalizeH="0" baseline="0" dirty="0" err="1" smtClean="0">
                <a:ln>
                  <a:noFill/>
                </a:ln>
                <a:effectLst/>
                <a:latin typeface="Consolas" panose="020B0609020204030204" pitchFamily="49" charset="0"/>
              </a:rPr>
              <a:t>i</a:t>
            </a:r>
            <a:r>
              <a:rPr kumimoji="0" lang="en-US" altLang="en-US" sz="1400" b="0" i="0" u="none" strike="noStrike" cap="none" normalizeH="0" baseline="0" dirty="0" smtClean="0">
                <a:ln>
                  <a:noFill/>
                </a:ln>
                <a:effectLst/>
                <a:latin typeface="Consolas" panose="020B0609020204030204" pitchFamily="49" charset="0"/>
              </a:rPr>
              <a:t>] = </a:t>
            </a:r>
            <a:r>
              <a:rPr kumimoji="0" lang="en-US" altLang="en-US" sz="1400" b="0" i="0" u="none" strike="noStrike" cap="none" normalizeH="0" baseline="0" dirty="0" err="1" smtClean="0">
                <a:ln>
                  <a:noFill/>
                </a:ln>
                <a:effectLst/>
                <a:latin typeface="Consolas" panose="020B0609020204030204" pitchFamily="49" charset="0"/>
              </a:rPr>
              <a:t>completion_time</a:t>
            </a:r>
            <a:r>
              <a:rPr kumimoji="0" lang="en-US" altLang="en-US" sz="1400" b="0" i="0" u="none" strike="noStrike" cap="none" normalizeH="0" baseline="0" dirty="0" smtClean="0">
                <a:ln>
                  <a:noFill/>
                </a:ln>
                <a:effectLst/>
                <a:latin typeface="Consolas" panose="020B0609020204030204" pitchFamily="49" charset="0"/>
              </a:rPr>
              <a:t>[i-1] + </a:t>
            </a:r>
            <a:r>
              <a:rPr kumimoji="0" lang="en-US" altLang="en-US" sz="1400" b="0" i="0" u="none" strike="noStrike" cap="none" normalizeH="0" baseline="0" dirty="0" err="1" smtClean="0">
                <a:ln>
                  <a:noFill/>
                </a:ln>
                <a:effectLst/>
                <a:latin typeface="Consolas" panose="020B0609020204030204" pitchFamily="49" charset="0"/>
              </a:rPr>
              <a:t>bt</a:t>
            </a:r>
            <a:r>
              <a:rPr kumimoji="0" lang="en-US" altLang="en-US" sz="1400" b="0" i="0" u="none" strike="noStrike" cap="none" normalizeH="0" baseline="0" dirty="0" smtClean="0">
                <a:ln>
                  <a:noFill/>
                </a:ln>
                <a:effectLst/>
                <a:latin typeface="Consolas" panose="020B0609020204030204" pitchFamily="49" charset="0"/>
              </a:rPr>
              <a:t>[i-1];</a:t>
            </a:r>
            <a:endParaRPr kumimoji="0" lang="en-US" altLang="en-US" sz="1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effectLst/>
                <a:latin typeface="Consolas" panose="020B0609020204030204" pitchFamily="49" charset="0"/>
              </a:rPr>
              <a:t> </a:t>
            </a:r>
            <a:endParaRPr kumimoji="0" lang="en-US" altLang="en-US" sz="2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        </a:t>
            </a:r>
            <a:r>
              <a:rPr kumimoji="0" lang="en-US" altLang="en-US" sz="1400" b="0" i="0" u="none" strike="noStrike" cap="none" normalizeH="0" baseline="0" dirty="0" smtClean="0">
                <a:ln>
                  <a:noFill/>
                </a:ln>
                <a:solidFill>
                  <a:schemeClr val="accent3"/>
                </a:solidFill>
                <a:effectLst/>
                <a:latin typeface="Consolas" panose="020B0609020204030204" pitchFamily="49" charset="0"/>
              </a:rPr>
              <a:t>// Find waiting time for current process = sum - at[</a:t>
            </a:r>
            <a:r>
              <a:rPr kumimoji="0" lang="en-US" altLang="en-US" sz="1400" b="0" i="0" u="none" strike="noStrike" cap="none" normalizeH="0" baseline="0" dirty="0" err="1" smtClean="0">
                <a:ln>
                  <a:noFill/>
                </a:ln>
                <a:solidFill>
                  <a:schemeClr val="accent3"/>
                </a:solidFill>
                <a:effectLst/>
                <a:latin typeface="Consolas" panose="020B0609020204030204" pitchFamily="49" charset="0"/>
              </a:rPr>
              <a:t>i</a:t>
            </a:r>
            <a:r>
              <a:rPr kumimoji="0" lang="en-US" altLang="en-US" sz="1400" b="0" i="0" u="none" strike="noStrike" cap="none" normalizeH="0" baseline="0" dirty="0" smtClean="0">
                <a:ln>
                  <a:noFill/>
                </a:ln>
                <a:solidFill>
                  <a:schemeClr val="accent3"/>
                </a:solidFill>
                <a:effectLst/>
                <a:latin typeface="Consolas" panose="020B0609020204030204" pitchFamily="49" charset="0"/>
              </a:rPr>
              <a:t>]</a:t>
            </a:r>
            <a:endParaRPr kumimoji="0" lang="en-US" altLang="en-US" sz="1400" b="0" i="0" u="none" strike="noStrike" cap="none" normalizeH="0" baseline="0" dirty="0" smtClean="0">
              <a:ln>
                <a:noFill/>
              </a:ln>
              <a:solidFill>
                <a:schemeClr val="accent3"/>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effectLst/>
                <a:latin typeface="Consolas" panose="020B0609020204030204" pitchFamily="49" charset="0"/>
              </a:rPr>
              <a:t>        </a:t>
            </a:r>
            <a:r>
              <a:rPr kumimoji="0" lang="en-US" altLang="en-US" sz="2400" b="0" i="0" u="none" strike="noStrike" cap="none" normalizeH="0" baseline="0" dirty="0" smtClean="0">
                <a:ln>
                  <a:noFill/>
                </a:ln>
                <a:effectLst/>
                <a:latin typeface="Consolas" panose="020B0609020204030204" pitchFamily="49" charset="0"/>
              </a:rPr>
              <a:t> </a:t>
            </a:r>
            <a:endParaRPr kumimoji="0" lang="en-US" altLang="en-US" sz="2400" b="0" i="0" u="none" strike="noStrike" cap="none" normalizeH="0" baseline="0" dirty="0" smtClean="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effectLst/>
              <a:latin typeface="Arial" panose="020B0604020202020204" pitchFamily="34" charset="0"/>
            </a:endParaRPr>
          </a:p>
        </p:txBody>
      </p:sp>
    </p:spTree>
    <p:extLst>
      <p:ext uri="{BB962C8B-B14F-4D97-AF65-F5344CB8AC3E}">
        <p14:creationId xmlns:p14="http://schemas.microsoft.com/office/powerpoint/2010/main" val="33941662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18456"/>
            <a:ext cx="10515600" cy="6257109"/>
          </a:xfrm>
        </p:spPr>
        <p:txBody>
          <a:bodyPr>
            <a:normAutofit fontScale="55000" lnSpcReduction="20000"/>
          </a:bodyPr>
          <a:lstStyle/>
          <a:p>
            <a:pPr marL="0" lvl="0" indent="0" eaLnBrk="0" fontAlgn="base" hangingPunct="0">
              <a:lnSpc>
                <a:spcPct val="100000"/>
              </a:lnSpc>
              <a:spcBef>
                <a:spcPct val="0"/>
              </a:spcBef>
              <a:spcAft>
                <a:spcPct val="0"/>
              </a:spcAft>
              <a:buNone/>
            </a:pPr>
            <a:r>
              <a:rPr lang="en-US" altLang="en-US" dirty="0" err="1">
                <a:latin typeface="Consolas" panose="020B0609020204030204" pitchFamily="49" charset="0"/>
              </a:rPr>
              <a:t>wt</a:t>
            </a:r>
            <a:r>
              <a:rPr lang="en-US" altLang="en-US" dirty="0">
                <a:latin typeface="Consolas" panose="020B0609020204030204" pitchFamily="49" charset="0"/>
              </a:rPr>
              <a:t>[</a:t>
            </a:r>
            <a:r>
              <a:rPr lang="en-US" altLang="en-US" dirty="0" err="1">
                <a:latin typeface="Consolas" panose="020B0609020204030204" pitchFamily="49" charset="0"/>
              </a:rPr>
              <a:t>i</a:t>
            </a:r>
            <a:r>
              <a:rPr lang="en-US" altLang="en-US" dirty="0">
                <a:latin typeface="Consolas" panose="020B0609020204030204" pitchFamily="49" charset="0"/>
              </a:rPr>
              <a:t>] = </a:t>
            </a:r>
            <a:r>
              <a:rPr lang="en-US" altLang="en-US" dirty="0" err="1" smtClean="0">
                <a:latin typeface="Consolas" panose="020B0609020204030204" pitchFamily="49" charset="0"/>
              </a:rPr>
              <a:t>completion_time</a:t>
            </a:r>
            <a:r>
              <a:rPr lang="en-US" altLang="en-US" dirty="0" smtClean="0">
                <a:latin typeface="Consolas" panose="020B0609020204030204" pitchFamily="49" charset="0"/>
              </a:rPr>
              <a:t>[</a:t>
            </a:r>
            <a:r>
              <a:rPr lang="en-US" altLang="en-US" dirty="0" err="1" smtClean="0">
                <a:latin typeface="Consolas" panose="020B0609020204030204" pitchFamily="49" charset="0"/>
              </a:rPr>
              <a:t>i</a:t>
            </a:r>
            <a:r>
              <a:rPr lang="en-US" altLang="en-US" dirty="0">
                <a:latin typeface="Consolas" panose="020B0609020204030204" pitchFamily="49" charset="0"/>
              </a:rPr>
              <a:t>] - at[</a:t>
            </a:r>
            <a:r>
              <a:rPr lang="en-US" altLang="en-US" dirty="0" err="1">
                <a:latin typeface="Consolas" panose="020B0609020204030204" pitchFamily="49" charset="0"/>
              </a:rPr>
              <a:t>i</a:t>
            </a: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sz="4400" dirty="0">
                <a:latin typeface="Consolas" panose="020B0609020204030204" pitchFamily="49" charset="0"/>
              </a:rPr>
              <a:t> </a:t>
            </a:r>
            <a:endParaRPr lang="en-US" altLang="en-US" sz="4400"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a:solidFill>
                  <a:schemeClr val="accent3"/>
                </a:solidFill>
                <a:latin typeface="Consolas" panose="020B0609020204030204" pitchFamily="49" charset="0"/>
              </a:rPr>
              <a:t>// If waiting time for a process is in negative</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solidFill>
                  <a:schemeClr val="accent3"/>
                </a:solidFill>
                <a:latin typeface="Consolas" panose="020B0609020204030204" pitchFamily="49" charset="0"/>
              </a:rPr>
              <a:t>        // that means it is already in the ready queue</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solidFill>
                  <a:schemeClr val="accent3"/>
                </a:solidFill>
                <a:latin typeface="Consolas" panose="020B0609020204030204" pitchFamily="49" charset="0"/>
              </a:rPr>
              <a:t>        // before CPU becomes idle so its waiting time is 0</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b="1" dirty="0">
                <a:latin typeface="Consolas" panose="020B0609020204030204" pitchFamily="49" charset="0"/>
              </a:rPr>
              <a:t>if</a:t>
            </a:r>
            <a:r>
              <a:rPr lang="en-US" altLang="en-US" dirty="0">
                <a:latin typeface="Consolas" panose="020B0609020204030204" pitchFamily="49" charset="0"/>
              </a:rPr>
              <a:t> (</a:t>
            </a:r>
            <a:r>
              <a:rPr lang="en-US" altLang="en-US" dirty="0" err="1">
                <a:latin typeface="Consolas" panose="020B0609020204030204" pitchFamily="49" charset="0"/>
              </a:rPr>
              <a:t>wt</a:t>
            </a:r>
            <a:r>
              <a:rPr lang="en-US" altLang="en-US" dirty="0">
                <a:latin typeface="Consolas" panose="020B0609020204030204" pitchFamily="49" charset="0"/>
              </a:rPr>
              <a:t>[</a:t>
            </a:r>
            <a:r>
              <a:rPr lang="en-US" altLang="en-US" dirty="0" err="1">
                <a:latin typeface="Consolas" panose="020B0609020204030204" pitchFamily="49" charset="0"/>
              </a:rPr>
              <a:t>i</a:t>
            </a:r>
            <a:r>
              <a:rPr lang="en-US" altLang="en-US" dirty="0">
                <a:latin typeface="Consolas" panose="020B0609020204030204" pitchFamily="49" charset="0"/>
              </a:rPr>
              <a:t>] &lt; 0)</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err="1">
                <a:latin typeface="Consolas" panose="020B0609020204030204" pitchFamily="49" charset="0"/>
              </a:rPr>
              <a:t>wt</a:t>
            </a:r>
            <a:r>
              <a:rPr lang="en-US" altLang="en-US" dirty="0">
                <a:latin typeface="Consolas" panose="020B0609020204030204" pitchFamily="49" charset="0"/>
              </a:rPr>
              <a:t>[</a:t>
            </a:r>
            <a:r>
              <a:rPr lang="en-US" altLang="en-US" dirty="0" err="1">
                <a:latin typeface="Consolas" panose="020B0609020204030204" pitchFamily="49" charset="0"/>
              </a:rPr>
              <a:t>i</a:t>
            </a:r>
            <a:r>
              <a:rPr lang="en-US" altLang="en-US" dirty="0">
                <a:latin typeface="Consolas" panose="020B0609020204030204" pitchFamily="49" charset="0"/>
              </a:rPr>
              <a:t>] = 0;</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endParaRPr lang="en-US" altLang="en-US" dirty="0" smtClean="0">
              <a:solidFill>
                <a:schemeClr val="accent3"/>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smtClean="0">
                <a:solidFill>
                  <a:schemeClr val="accent3"/>
                </a:solidFill>
                <a:latin typeface="Consolas" panose="020B0609020204030204" pitchFamily="49" charset="0"/>
              </a:rPr>
              <a:t>// </a:t>
            </a:r>
            <a:r>
              <a:rPr lang="en-US" altLang="en-US" dirty="0">
                <a:solidFill>
                  <a:schemeClr val="accent3"/>
                </a:solidFill>
                <a:latin typeface="Consolas" panose="020B0609020204030204" pitchFamily="49" charset="0"/>
              </a:rPr>
              <a:t>Function to calculate turn around time</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b="1" dirty="0">
                <a:latin typeface="Consolas" panose="020B0609020204030204" pitchFamily="49" charset="0"/>
              </a:rPr>
              <a:t>void</a:t>
            </a:r>
            <a:r>
              <a:rPr lang="en-US" altLang="en-US" dirty="0">
                <a:latin typeface="Consolas" panose="020B0609020204030204" pitchFamily="49" charset="0"/>
              </a:rPr>
              <a:t> </a:t>
            </a:r>
            <a:r>
              <a:rPr lang="en-US" altLang="en-US" dirty="0" err="1">
                <a:latin typeface="Consolas" panose="020B0609020204030204" pitchFamily="49" charset="0"/>
              </a:rPr>
              <a:t>findTurnAroundTime</a:t>
            </a:r>
            <a:r>
              <a:rPr lang="en-US" altLang="en-US" dirty="0">
                <a:latin typeface="Consolas" panose="020B0609020204030204" pitchFamily="49" charset="0"/>
              </a:rPr>
              <a:t>(</a:t>
            </a:r>
            <a:r>
              <a:rPr lang="en-US" altLang="en-US" b="1" dirty="0" err="1">
                <a:latin typeface="Consolas" panose="020B0609020204030204" pitchFamily="49" charset="0"/>
              </a:rPr>
              <a:t>int</a:t>
            </a:r>
            <a:r>
              <a:rPr lang="en-US" altLang="en-US" dirty="0">
                <a:latin typeface="Consolas" panose="020B0609020204030204" pitchFamily="49" charset="0"/>
              </a:rPr>
              <a:t> processes[], </a:t>
            </a:r>
            <a:r>
              <a:rPr lang="en-US" altLang="en-US" b="1" dirty="0" err="1">
                <a:latin typeface="Consolas" panose="020B0609020204030204" pitchFamily="49" charset="0"/>
              </a:rPr>
              <a:t>int</a:t>
            </a:r>
            <a:r>
              <a:rPr lang="en-US" altLang="en-US" dirty="0">
                <a:latin typeface="Consolas" panose="020B0609020204030204" pitchFamily="49" charset="0"/>
              </a:rPr>
              <a:t> n, </a:t>
            </a:r>
            <a:r>
              <a:rPr lang="en-US" altLang="en-US" b="1" dirty="0" err="1">
                <a:latin typeface="Consolas" panose="020B0609020204030204" pitchFamily="49" charset="0"/>
              </a:rPr>
              <a:t>int</a:t>
            </a:r>
            <a:r>
              <a:rPr lang="en-US" altLang="en-US" dirty="0">
                <a:latin typeface="Consolas" panose="020B0609020204030204" pitchFamily="49" charset="0"/>
              </a:rPr>
              <a:t> </a:t>
            </a:r>
            <a:r>
              <a:rPr lang="en-US" altLang="en-US" dirty="0" err="1">
                <a:latin typeface="Consolas" panose="020B0609020204030204" pitchFamily="49" charset="0"/>
              </a:rPr>
              <a:t>bt</a:t>
            </a: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b="1" dirty="0" err="1">
                <a:latin typeface="Consolas" panose="020B0609020204030204" pitchFamily="49" charset="0"/>
              </a:rPr>
              <a:t>int</a:t>
            </a:r>
            <a:r>
              <a:rPr lang="en-US" altLang="en-US" dirty="0">
                <a:latin typeface="Consolas" panose="020B0609020204030204" pitchFamily="49" charset="0"/>
              </a:rPr>
              <a:t> </a:t>
            </a:r>
            <a:r>
              <a:rPr lang="en-US" altLang="en-US" dirty="0" err="1">
                <a:latin typeface="Consolas" panose="020B0609020204030204" pitchFamily="49" charset="0"/>
              </a:rPr>
              <a:t>wt</a:t>
            </a:r>
            <a:r>
              <a:rPr lang="en-US" altLang="en-US" dirty="0">
                <a:latin typeface="Consolas" panose="020B0609020204030204" pitchFamily="49" charset="0"/>
              </a:rPr>
              <a:t>[], </a:t>
            </a:r>
            <a:r>
              <a:rPr lang="en-US" altLang="en-US" b="1" dirty="0" err="1">
                <a:latin typeface="Consolas" panose="020B0609020204030204" pitchFamily="49" charset="0"/>
              </a:rPr>
              <a:t>int</a:t>
            </a:r>
            <a:r>
              <a:rPr lang="en-US" altLang="en-US" dirty="0">
                <a:latin typeface="Consolas" panose="020B0609020204030204" pitchFamily="49" charset="0"/>
              </a:rPr>
              <a:t> tat[])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a:solidFill>
                  <a:schemeClr val="accent3"/>
                </a:solidFill>
                <a:latin typeface="Consolas" panose="020B0609020204030204" pitchFamily="49" charset="0"/>
              </a:rPr>
              <a:t>// Calculating turnaround time by adding </a:t>
            </a:r>
            <a:r>
              <a:rPr lang="en-US" altLang="en-US" dirty="0" err="1">
                <a:solidFill>
                  <a:schemeClr val="accent3"/>
                </a:solidFill>
                <a:latin typeface="Consolas" panose="020B0609020204030204" pitchFamily="49" charset="0"/>
              </a:rPr>
              <a:t>bt</a:t>
            </a:r>
            <a:r>
              <a:rPr lang="en-US" altLang="en-US" dirty="0">
                <a:solidFill>
                  <a:schemeClr val="accent3"/>
                </a:solidFill>
                <a:latin typeface="Consolas" panose="020B0609020204030204" pitchFamily="49" charset="0"/>
              </a:rPr>
              <a:t>[</a:t>
            </a:r>
            <a:r>
              <a:rPr lang="en-US" altLang="en-US" dirty="0" err="1">
                <a:solidFill>
                  <a:schemeClr val="accent3"/>
                </a:solidFill>
                <a:latin typeface="Consolas" panose="020B0609020204030204" pitchFamily="49" charset="0"/>
              </a:rPr>
              <a:t>i</a:t>
            </a:r>
            <a:r>
              <a:rPr lang="en-US" altLang="en-US" dirty="0">
                <a:solidFill>
                  <a:schemeClr val="accent3"/>
                </a:solidFill>
                <a:latin typeface="Consolas" panose="020B0609020204030204" pitchFamily="49" charset="0"/>
              </a:rPr>
              <a:t>] + </a:t>
            </a:r>
            <a:r>
              <a:rPr lang="en-US" altLang="en-US" dirty="0" err="1">
                <a:solidFill>
                  <a:schemeClr val="accent3"/>
                </a:solidFill>
                <a:latin typeface="Consolas" panose="020B0609020204030204" pitchFamily="49" charset="0"/>
              </a:rPr>
              <a:t>wt</a:t>
            </a:r>
            <a:r>
              <a:rPr lang="en-US" altLang="en-US" dirty="0">
                <a:solidFill>
                  <a:schemeClr val="accent3"/>
                </a:solidFill>
                <a:latin typeface="Consolas" panose="020B0609020204030204" pitchFamily="49" charset="0"/>
              </a:rPr>
              <a:t>[</a:t>
            </a:r>
            <a:r>
              <a:rPr lang="en-US" altLang="en-US" dirty="0" err="1">
                <a:solidFill>
                  <a:schemeClr val="accent3"/>
                </a:solidFill>
                <a:latin typeface="Consolas" panose="020B0609020204030204" pitchFamily="49" charset="0"/>
              </a:rPr>
              <a:t>i</a:t>
            </a:r>
            <a:r>
              <a:rPr lang="en-US" altLang="en-US" dirty="0">
                <a:solidFill>
                  <a:schemeClr val="accent3"/>
                </a:solidFill>
                <a:latin typeface="Consolas" panose="020B0609020204030204" pitchFamily="49" charset="0"/>
              </a:rPr>
              <a:t>]</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b="1" dirty="0">
                <a:latin typeface="Consolas" panose="020B0609020204030204" pitchFamily="49" charset="0"/>
              </a:rPr>
              <a:t>for</a:t>
            </a:r>
            <a:r>
              <a:rPr lang="en-US" altLang="en-US" dirty="0">
                <a:latin typeface="Consolas" panose="020B0609020204030204" pitchFamily="49" charset="0"/>
              </a:rPr>
              <a:t> (</a:t>
            </a:r>
            <a:r>
              <a:rPr lang="en-US" altLang="en-US" b="1" dirty="0" err="1">
                <a:latin typeface="Consolas" panose="020B0609020204030204" pitchFamily="49" charset="0"/>
              </a:rPr>
              <a:t>int</a:t>
            </a:r>
            <a:r>
              <a:rPr lang="en-US" altLang="en-US" dirty="0">
                <a:latin typeface="Consolas" panose="020B0609020204030204" pitchFamily="49" charset="0"/>
              </a:rPr>
              <a:t> </a:t>
            </a:r>
            <a:r>
              <a:rPr lang="en-US" altLang="en-US" dirty="0" err="1">
                <a:latin typeface="Consolas" panose="020B0609020204030204" pitchFamily="49" charset="0"/>
              </a:rPr>
              <a:t>i</a:t>
            </a:r>
            <a:r>
              <a:rPr lang="en-US" altLang="en-US" dirty="0">
                <a:latin typeface="Consolas" panose="020B0609020204030204" pitchFamily="49" charset="0"/>
              </a:rPr>
              <a:t> = 0; </a:t>
            </a:r>
            <a:r>
              <a:rPr lang="en-US" altLang="en-US" dirty="0" err="1">
                <a:latin typeface="Consolas" panose="020B0609020204030204" pitchFamily="49" charset="0"/>
              </a:rPr>
              <a:t>i</a:t>
            </a:r>
            <a:r>
              <a:rPr lang="en-US" altLang="en-US" dirty="0">
                <a:latin typeface="Consolas" panose="020B0609020204030204" pitchFamily="49" charset="0"/>
              </a:rPr>
              <a:t> &lt; n ; </a:t>
            </a:r>
            <a:r>
              <a:rPr lang="en-US" altLang="en-US" dirty="0" err="1">
                <a:latin typeface="Consolas" panose="020B0609020204030204" pitchFamily="49" charset="0"/>
              </a:rPr>
              <a:t>i</a:t>
            </a: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tat[</a:t>
            </a:r>
            <a:r>
              <a:rPr lang="en-US" altLang="en-US" dirty="0" err="1">
                <a:latin typeface="Consolas" panose="020B0609020204030204" pitchFamily="49" charset="0"/>
              </a:rPr>
              <a:t>i</a:t>
            </a:r>
            <a:r>
              <a:rPr lang="en-US" altLang="en-US" dirty="0">
                <a:latin typeface="Consolas" panose="020B0609020204030204" pitchFamily="49" charset="0"/>
              </a:rPr>
              <a:t>] = </a:t>
            </a:r>
            <a:r>
              <a:rPr lang="en-US" altLang="en-US" dirty="0" err="1">
                <a:latin typeface="Consolas" panose="020B0609020204030204" pitchFamily="49" charset="0"/>
              </a:rPr>
              <a:t>bt</a:t>
            </a:r>
            <a:r>
              <a:rPr lang="en-US" altLang="en-US" dirty="0">
                <a:latin typeface="Consolas" panose="020B0609020204030204" pitchFamily="49" charset="0"/>
              </a:rPr>
              <a:t>[</a:t>
            </a:r>
            <a:r>
              <a:rPr lang="en-US" altLang="en-US" dirty="0" err="1">
                <a:latin typeface="Consolas" panose="020B0609020204030204" pitchFamily="49" charset="0"/>
              </a:rPr>
              <a:t>i</a:t>
            </a:r>
            <a:r>
              <a:rPr lang="en-US" altLang="en-US" dirty="0">
                <a:latin typeface="Consolas" panose="020B0609020204030204" pitchFamily="49" charset="0"/>
              </a:rPr>
              <a:t>] + </a:t>
            </a:r>
            <a:r>
              <a:rPr lang="en-US" altLang="en-US" dirty="0" err="1">
                <a:latin typeface="Consolas" panose="020B0609020204030204" pitchFamily="49" charset="0"/>
              </a:rPr>
              <a:t>wt</a:t>
            </a:r>
            <a:r>
              <a:rPr lang="en-US" altLang="en-US" dirty="0">
                <a:latin typeface="Consolas" panose="020B0609020204030204" pitchFamily="49" charset="0"/>
              </a:rPr>
              <a:t>[</a:t>
            </a:r>
            <a:r>
              <a:rPr lang="en-US" altLang="en-US" dirty="0" err="1">
                <a:latin typeface="Consolas" panose="020B0609020204030204" pitchFamily="49" charset="0"/>
              </a:rPr>
              <a:t>i</a:t>
            </a: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sz="4400" dirty="0">
                <a:latin typeface="Consolas" panose="020B0609020204030204" pitchFamily="49" charset="0"/>
              </a:rPr>
              <a:t> </a:t>
            </a:r>
            <a:endParaRPr lang="en-US" altLang="en-US" sz="4400" dirty="0"/>
          </a:p>
          <a:p>
            <a:pPr marL="0" lvl="0" indent="0" eaLnBrk="0" fontAlgn="base" hangingPunct="0">
              <a:lnSpc>
                <a:spcPct val="100000"/>
              </a:lnSpc>
              <a:spcBef>
                <a:spcPct val="0"/>
              </a:spcBef>
              <a:spcAft>
                <a:spcPct val="0"/>
              </a:spcAft>
              <a:buNone/>
            </a:pPr>
            <a:r>
              <a:rPr lang="en-US" altLang="en-US" dirty="0">
                <a:solidFill>
                  <a:schemeClr val="accent3"/>
                </a:solidFill>
                <a:latin typeface="Consolas" panose="020B0609020204030204" pitchFamily="49" charset="0"/>
              </a:rPr>
              <a:t>// Function to calculate average waiting and </a:t>
            </a:r>
            <a:r>
              <a:rPr lang="en-US" altLang="en-US" dirty="0" smtClean="0">
                <a:solidFill>
                  <a:schemeClr val="accent3"/>
                </a:solidFill>
                <a:latin typeface="Consolas" panose="020B0609020204030204" pitchFamily="49" charset="0"/>
              </a:rPr>
              <a:t>turn-around</a:t>
            </a:r>
            <a:r>
              <a:rPr lang="en-US" altLang="en-US" dirty="0" smtClean="0">
                <a:solidFill>
                  <a:schemeClr val="accent3"/>
                </a:solidFill>
              </a:rPr>
              <a:t> </a:t>
            </a:r>
            <a:r>
              <a:rPr lang="en-US" altLang="en-US" dirty="0" smtClean="0">
                <a:solidFill>
                  <a:schemeClr val="accent3"/>
                </a:solidFill>
                <a:latin typeface="Consolas" panose="020B0609020204030204" pitchFamily="49" charset="0"/>
              </a:rPr>
              <a:t>times</a:t>
            </a:r>
            <a:r>
              <a:rPr lang="en-US" altLang="en-US" dirty="0">
                <a:solidFill>
                  <a:schemeClr val="accent3"/>
                </a:solidFill>
                <a:latin typeface="Consolas" panose="020B0609020204030204" pitchFamily="49" charset="0"/>
              </a:rPr>
              <a:t>.</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b="1" dirty="0">
                <a:latin typeface="Consolas" panose="020B0609020204030204" pitchFamily="49" charset="0"/>
              </a:rPr>
              <a:t>void</a:t>
            </a:r>
            <a:r>
              <a:rPr lang="en-US" altLang="en-US" dirty="0">
                <a:latin typeface="Consolas" panose="020B0609020204030204" pitchFamily="49" charset="0"/>
              </a:rPr>
              <a:t> </a:t>
            </a:r>
            <a:r>
              <a:rPr lang="en-US" altLang="en-US" dirty="0" err="1">
                <a:latin typeface="Consolas" panose="020B0609020204030204" pitchFamily="49" charset="0"/>
              </a:rPr>
              <a:t>findavgTime</a:t>
            </a:r>
            <a:r>
              <a:rPr lang="en-US" altLang="en-US" dirty="0">
                <a:latin typeface="Consolas" panose="020B0609020204030204" pitchFamily="49" charset="0"/>
              </a:rPr>
              <a:t>(</a:t>
            </a:r>
            <a:r>
              <a:rPr lang="en-US" altLang="en-US" b="1" dirty="0" err="1">
                <a:latin typeface="Consolas" panose="020B0609020204030204" pitchFamily="49" charset="0"/>
              </a:rPr>
              <a:t>int</a:t>
            </a:r>
            <a:r>
              <a:rPr lang="en-US" altLang="en-US" dirty="0">
                <a:latin typeface="Consolas" panose="020B0609020204030204" pitchFamily="49" charset="0"/>
              </a:rPr>
              <a:t> processes[], </a:t>
            </a:r>
            <a:r>
              <a:rPr lang="en-US" altLang="en-US" b="1" dirty="0" err="1">
                <a:latin typeface="Consolas" panose="020B0609020204030204" pitchFamily="49" charset="0"/>
              </a:rPr>
              <a:t>int</a:t>
            </a:r>
            <a:r>
              <a:rPr lang="en-US" altLang="en-US" dirty="0">
                <a:latin typeface="Consolas" panose="020B0609020204030204" pitchFamily="49" charset="0"/>
              </a:rPr>
              <a:t> n, </a:t>
            </a:r>
            <a:r>
              <a:rPr lang="en-US" altLang="en-US" b="1" dirty="0" err="1">
                <a:latin typeface="Consolas" panose="020B0609020204030204" pitchFamily="49" charset="0"/>
              </a:rPr>
              <a:t>int</a:t>
            </a:r>
            <a:r>
              <a:rPr lang="en-US" altLang="en-US" dirty="0">
                <a:latin typeface="Consolas" panose="020B0609020204030204" pitchFamily="49" charset="0"/>
              </a:rPr>
              <a:t> </a:t>
            </a:r>
            <a:r>
              <a:rPr lang="en-US" altLang="en-US" dirty="0" err="1">
                <a:latin typeface="Consolas" panose="020B0609020204030204" pitchFamily="49" charset="0"/>
              </a:rPr>
              <a:t>bt</a:t>
            </a:r>
            <a:r>
              <a:rPr lang="en-US" altLang="en-US" dirty="0">
                <a:latin typeface="Consolas" panose="020B0609020204030204" pitchFamily="49" charset="0"/>
              </a:rPr>
              <a:t>[], </a:t>
            </a:r>
            <a:r>
              <a:rPr lang="en-US" altLang="en-US" b="1" dirty="0" err="1">
                <a:latin typeface="Consolas" panose="020B0609020204030204" pitchFamily="49" charset="0"/>
              </a:rPr>
              <a:t>int</a:t>
            </a:r>
            <a:r>
              <a:rPr lang="en-US" altLang="en-US" dirty="0">
                <a:latin typeface="Consolas" panose="020B0609020204030204" pitchFamily="49" charset="0"/>
              </a:rPr>
              <a:t> 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b="1" dirty="0" err="1">
                <a:latin typeface="Consolas" panose="020B0609020204030204" pitchFamily="49" charset="0"/>
              </a:rPr>
              <a:t>int</a:t>
            </a:r>
            <a:r>
              <a:rPr lang="en-US" altLang="en-US" dirty="0">
                <a:latin typeface="Consolas" panose="020B0609020204030204" pitchFamily="49" charset="0"/>
              </a:rPr>
              <a:t> </a:t>
            </a:r>
            <a:r>
              <a:rPr lang="en-US" altLang="en-US" dirty="0" err="1">
                <a:latin typeface="Consolas" panose="020B0609020204030204" pitchFamily="49" charset="0"/>
              </a:rPr>
              <a:t>wt</a:t>
            </a:r>
            <a:r>
              <a:rPr lang="en-US" altLang="en-US" dirty="0">
                <a:latin typeface="Consolas" panose="020B0609020204030204" pitchFamily="49" charset="0"/>
              </a:rPr>
              <a:t>[n], tat[n];</a:t>
            </a:r>
            <a:endParaRPr lang="en-US" altLang="en-US" dirty="0"/>
          </a:p>
          <a:p>
            <a:pPr marL="0" lvl="0" indent="0" eaLnBrk="0" fontAlgn="base" hangingPunct="0">
              <a:lnSpc>
                <a:spcPct val="100000"/>
              </a:lnSpc>
              <a:spcBef>
                <a:spcPct val="0"/>
              </a:spcBef>
              <a:spcAft>
                <a:spcPct val="0"/>
              </a:spcAft>
              <a:buNone/>
            </a:pPr>
            <a:r>
              <a:rPr lang="en-US" altLang="en-US" sz="4400" dirty="0">
                <a:latin typeface="Consolas" panose="020B0609020204030204" pitchFamily="49" charset="0"/>
              </a:rPr>
              <a:t> </a:t>
            </a:r>
            <a:endParaRPr lang="en-US" altLang="en-US" sz="4400"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a:solidFill>
                  <a:schemeClr val="accent3"/>
                </a:solidFill>
                <a:latin typeface="Consolas" panose="020B0609020204030204" pitchFamily="49" charset="0"/>
              </a:rPr>
              <a:t>// Function to find waiting time of all processes</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err="1">
                <a:latin typeface="Consolas" panose="020B0609020204030204" pitchFamily="49" charset="0"/>
              </a:rPr>
              <a:t>findWaitingTime</a:t>
            </a:r>
            <a:r>
              <a:rPr lang="en-US" altLang="en-US" dirty="0">
                <a:latin typeface="Consolas" panose="020B0609020204030204" pitchFamily="49" charset="0"/>
              </a:rPr>
              <a:t>(processes, n, </a:t>
            </a:r>
            <a:r>
              <a:rPr lang="en-US" altLang="en-US" dirty="0" err="1">
                <a:latin typeface="Consolas" panose="020B0609020204030204" pitchFamily="49" charset="0"/>
              </a:rPr>
              <a:t>bt</a:t>
            </a:r>
            <a:r>
              <a:rPr lang="en-US" altLang="en-US" dirty="0">
                <a:latin typeface="Consolas" panose="020B0609020204030204" pitchFamily="49" charset="0"/>
              </a:rPr>
              <a:t>, </a:t>
            </a:r>
            <a:r>
              <a:rPr lang="en-US" altLang="en-US" dirty="0" err="1">
                <a:latin typeface="Consolas" panose="020B0609020204030204" pitchFamily="49" charset="0"/>
              </a:rPr>
              <a:t>wt</a:t>
            </a:r>
            <a:r>
              <a:rPr lang="en-US" altLang="en-US" dirty="0">
                <a:latin typeface="Consolas" panose="020B0609020204030204" pitchFamily="49" charset="0"/>
              </a:rPr>
              <a:t>, at);</a:t>
            </a:r>
            <a:endParaRPr lang="en-US" altLang="en-US" dirty="0"/>
          </a:p>
          <a:p>
            <a:pPr marL="0" lvl="0" indent="0" eaLnBrk="0" fontAlgn="base" hangingPunct="0">
              <a:lnSpc>
                <a:spcPct val="100000"/>
              </a:lnSpc>
              <a:spcBef>
                <a:spcPct val="0"/>
              </a:spcBef>
              <a:spcAft>
                <a:spcPct val="0"/>
              </a:spcAft>
              <a:buNone/>
            </a:pPr>
            <a:r>
              <a:rPr lang="en-US" altLang="en-US" sz="4400" dirty="0">
                <a:latin typeface="Consolas" panose="020B0609020204030204" pitchFamily="49" charset="0"/>
              </a:rPr>
              <a:t> </a:t>
            </a:r>
            <a:endParaRPr lang="en-US" altLang="en-US" sz="4400"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endParaRPr lang="en-US" dirty="0"/>
          </a:p>
        </p:txBody>
      </p:sp>
    </p:spTree>
    <p:extLst>
      <p:ext uri="{BB962C8B-B14F-4D97-AF65-F5344CB8AC3E}">
        <p14:creationId xmlns:p14="http://schemas.microsoft.com/office/powerpoint/2010/main" val="34014093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880"/>
            <a:ext cx="10515600" cy="5994083"/>
          </a:xfrm>
        </p:spPr>
        <p:txBody>
          <a:bodyPr>
            <a:noAutofit/>
          </a:bodyPr>
          <a:lstStyle/>
          <a:p>
            <a:pPr marL="0" lvl="0" indent="0" eaLnBrk="0" fontAlgn="base" hangingPunct="0">
              <a:lnSpc>
                <a:spcPct val="100000"/>
              </a:lnSpc>
              <a:spcBef>
                <a:spcPct val="0"/>
              </a:spcBef>
              <a:spcAft>
                <a:spcPct val="0"/>
              </a:spcAft>
              <a:buNone/>
            </a:pPr>
            <a:r>
              <a:rPr lang="en-US" altLang="en-US" sz="1600" dirty="0">
                <a:solidFill>
                  <a:schemeClr val="accent3"/>
                </a:solidFill>
                <a:latin typeface="Consolas" panose="020B0609020204030204" pitchFamily="49" charset="0"/>
              </a:rPr>
              <a:t>// Function to find turn around time for all processes</a:t>
            </a:r>
            <a:endParaRPr lang="en-US" altLang="en-US" sz="1600" dirty="0">
              <a:solidFill>
                <a:schemeClr val="accent3"/>
              </a:solidFill>
            </a:endParaRPr>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dirty="0" err="1">
                <a:latin typeface="Consolas" panose="020B0609020204030204" pitchFamily="49" charset="0"/>
              </a:rPr>
              <a:t>findTurnAroundTime</a:t>
            </a:r>
            <a:r>
              <a:rPr lang="en-US" altLang="en-US" sz="1600" dirty="0">
                <a:latin typeface="Consolas" panose="020B0609020204030204" pitchFamily="49" charset="0"/>
              </a:rPr>
              <a:t>(processes, n, </a:t>
            </a:r>
            <a:r>
              <a:rPr lang="en-US" altLang="en-US" sz="1600" dirty="0" err="1">
                <a:latin typeface="Consolas" panose="020B0609020204030204" pitchFamily="49" charset="0"/>
              </a:rPr>
              <a:t>bt</a:t>
            </a:r>
            <a:r>
              <a:rPr lang="en-US" altLang="en-US" sz="1600" dirty="0">
                <a:latin typeface="Consolas" panose="020B0609020204030204" pitchFamily="49" charset="0"/>
              </a:rPr>
              <a:t>, </a:t>
            </a:r>
            <a:r>
              <a:rPr lang="en-US" altLang="en-US" sz="1600" dirty="0" err="1">
                <a:latin typeface="Consolas" panose="020B0609020204030204" pitchFamily="49" charset="0"/>
              </a:rPr>
              <a:t>wt</a:t>
            </a:r>
            <a:r>
              <a:rPr lang="en-US" altLang="en-US" sz="1600" dirty="0">
                <a:latin typeface="Consolas" panose="020B0609020204030204" pitchFamily="49" charset="0"/>
              </a:rPr>
              <a:t>, tat);</a:t>
            </a:r>
            <a:endParaRPr lang="en-US" altLang="en-US" sz="1600" dirty="0"/>
          </a:p>
          <a:p>
            <a:pPr marL="0" lvl="0" indent="0" eaLnBrk="0" fontAlgn="base" hangingPunct="0">
              <a:lnSpc>
                <a:spcPct val="100000"/>
              </a:lnSpc>
              <a:spcBef>
                <a:spcPct val="0"/>
              </a:spcBef>
              <a:spcAft>
                <a:spcPct val="0"/>
              </a:spcAft>
              <a:buNone/>
            </a:pPr>
            <a:r>
              <a:rPr lang="en-US" altLang="en-US" sz="2400" dirty="0">
                <a:latin typeface="Consolas" panose="020B0609020204030204" pitchFamily="49" charset="0"/>
              </a:rPr>
              <a:t> </a:t>
            </a:r>
            <a:endParaRPr lang="en-US" altLang="en-US" sz="2400" dirty="0">
              <a:solidFill>
                <a:schemeClr val="accent3"/>
              </a:solidFill>
            </a:endParaRPr>
          </a:p>
          <a:p>
            <a:pPr marL="0" lvl="0" indent="0" eaLnBrk="0" fontAlgn="base" hangingPunct="0">
              <a:lnSpc>
                <a:spcPct val="100000"/>
              </a:lnSpc>
              <a:spcBef>
                <a:spcPct val="0"/>
              </a:spcBef>
              <a:spcAft>
                <a:spcPct val="0"/>
              </a:spcAft>
              <a:buNone/>
            </a:pPr>
            <a:r>
              <a:rPr lang="en-US" altLang="en-US" sz="1600" dirty="0">
                <a:solidFill>
                  <a:schemeClr val="accent3"/>
                </a:solidFill>
                <a:latin typeface="Consolas" panose="020B0609020204030204" pitchFamily="49" charset="0"/>
              </a:rPr>
              <a:t>    // Display processes along with all details</a:t>
            </a:r>
            <a:endParaRPr lang="en-US" altLang="en-US" sz="1600" dirty="0">
              <a:solidFill>
                <a:schemeClr val="accent3"/>
              </a:solidFill>
            </a:endParaRPr>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dirty="0" err="1">
                <a:latin typeface="Consolas" panose="020B0609020204030204" pitchFamily="49" charset="0"/>
              </a:rPr>
              <a:t>cout</a:t>
            </a:r>
            <a:r>
              <a:rPr lang="en-US" altLang="en-US" sz="1600" dirty="0">
                <a:latin typeface="Consolas" panose="020B0609020204030204" pitchFamily="49" charset="0"/>
              </a:rPr>
              <a:t> &lt;&lt; "Processes " &lt;&lt; " Burst Time " &lt;&lt; " Arrival Time "</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&lt;&lt; " Waiting Time " &lt;&lt; " Turn-Around Time "</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&lt;&lt; " Completion Time \n";</a:t>
            </a:r>
            <a:endParaRPr lang="en-US" altLang="en-US" sz="1600" dirty="0"/>
          </a:p>
          <a:p>
            <a:pPr marL="0" lvl="0" indent="0" eaLnBrk="0" fontAlgn="base" hangingPunct="0">
              <a:lnSpc>
                <a:spcPct val="100000"/>
              </a:lnSpc>
              <a:spcBef>
                <a:spcPct val="0"/>
              </a:spcBef>
              <a:spcAft>
                <a:spcPct val="0"/>
              </a:spcAft>
              <a:buNone/>
            </a:pPr>
            <a:endParaRPr lang="en-US" altLang="en-US" sz="1600" dirty="0" smtClean="0">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1600" b="1" dirty="0" smtClean="0">
                <a:latin typeface="Consolas" panose="020B0609020204030204" pitchFamily="49" charset="0"/>
              </a:rPr>
              <a:t>    </a:t>
            </a:r>
            <a:r>
              <a:rPr lang="en-US" altLang="en-US" sz="1600" b="1" dirty="0" err="1" smtClean="0">
                <a:latin typeface="Consolas" panose="020B0609020204030204" pitchFamily="49" charset="0"/>
              </a:rPr>
              <a:t>int</a:t>
            </a:r>
            <a:r>
              <a:rPr lang="en-US" altLang="en-US" sz="1600" dirty="0" smtClean="0">
                <a:latin typeface="Consolas" panose="020B0609020204030204" pitchFamily="49" charset="0"/>
              </a:rPr>
              <a:t> </a:t>
            </a:r>
            <a:r>
              <a:rPr lang="en-US" altLang="en-US" sz="1600" dirty="0" err="1">
                <a:latin typeface="Consolas" panose="020B0609020204030204" pitchFamily="49" charset="0"/>
              </a:rPr>
              <a:t>total_wt</a:t>
            </a:r>
            <a:r>
              <a:rPr lang="en-US" altLang="en-US" sz="1600" dirty="0">
                <a:latin typeface="Consolas" panose="020B0609020204030204" pitchFamily="49" charset="0"/>
              </a:rPr>
              <a:t> = 0, </a:t>
            </a:r>
            <a:r>
              <a:rPr lang="en-US" altLang="en-US" sz="1600" dirty="0" err="1">
                <a:latin typeface="Consolas" panose="020B0609020204030204" pitchFamily="49" charset="0"/>
              </a:rPr>
              <a:t>total_tat</a:t>
            </a:r>
            <a:r>
              <a:rPr lang="en-US" altLang="en-US" sz="1600" dirty="0">
                <a:latin typeface="Consolas" panose="020B0609020204030204" pitchFamily="49" charset="0"/>
              </a:rPr>
              <a:t> = 0;</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b="1" dirty="0">
                <a:latin typeface="Consolas" panose="020B0609020204030204" pitchFamily="49" charset="0"/>
              </a:rPr>
              <a:t>for</a:t>
            </a:r>
            <a:r>
              <a:rPr lang="en-US" altLang="en-US" sz="1600" dirty="0">
                <a:latin typeface="Consolas" panose="020B0609020204030204" pitchFamily="49" charset="0"/>
              </a:rPr>
              <a:t> (</a:t>
            </a:r>
            <a:r>
              <a:rPr lang="en-US" altLang="en-US" sz="1600" b="1" dirty="0" err="1">
                <a:latin typeface="Consolas" panose="020B0609020204030204" pitchFamily="49" charset="0"/>
              </a:rPr>
              <a:t>int</a:t>
            </a:r>
            <a:r>
              <a:rPr lang="en-US" altLang="en-US" sz="1600" dirty="0">
                <a:latin typeface="Consolas" panose="020B0609020204030204" pitchFamily="49" charset="0"/>
              </a:rPr>
              <a:t> </a:t>
            </a:r>
            <a:r>
              <a:rPr lang="en-US" altLang="en-US" sz="1600" dirty="0" err="1">
                <a:latin typeface="Consolas" panose="020B0609020204030204" pitchFamily="49" charset="0"/>
              </a:rPr>
              <a:t>i</a:t>
            </a:r>
            <a:r>
              <a:rPr lang="en-US" altLang="en-US" sz="1600" dirty="0">
                <a:latin typeface="Consolas" panose="020B0609020204030204" pitchFamily="49" charset="0"/>
              </a:rPr>
              <a:t> = 0 ; </a:t>
            </a:r>
            <a:r>
              <a:rPr lang="en-US" altLang="en-US" sz="1600" dirty="0" err="1">
                <a:latin typeface="Consolas" panose="020B0609020204030204" pitchFamily="49" charset="0"/>
              </a:rPr>
              <a:t>i</a:t>
            </a:r>
            <a:r>
              <a:rPr lang="en-US" altLang="en-US" sz="1600" dirty="0">
                <a:latin typeface="Consolas" panose="020B0609020204030204" pitchFamily="49" charset="0"/>
              </a:rPr>
              <a:t> &lt; n ; </a:t>
            </a:r>
            <a:r>
              <a:rPr lang="en-US" altLang="en-US" sz="1600" dirty="0" err="1">
                <a:latin typeface="Consolas" panose="020B0609020204030204" pitchFamily="49" charset="0"/>
              </a:rPr>
              <a:t>i</a:t>
            </a:r>
            <a:r>
              <a:rPr lang="en-US" altLang="en-US" sz="1600" dirty="0">
                <a:latin typeface="Consolas" panose="020B0609020204030204" pitchFamily="49" charset="0"/>
              </a:rPr>
              <a:t>++)</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dirty="0" err="1">
                <a:latin typeface="Consolas" panose="020B0609020204030204" pitchFamily="49" charset="0"/>
              </a:rPr>
              <a:t>total_wt</a:t>
            </a:r>
            <a:r>
              <a:rPr lang="en-US" altLang="en-US" sz="1600" dirty="0">
                <a:latin typeface="Consolas" panose="020B0609020204030204" pitchFamily="49" charset="0"/>
              </a:rPr>
              <a:t> = </a:t>
            </a:r>
            <a:r>
              <a:rPr lang="en-US" altLang="en-US" sz="1600" dirty="0" err="1">
                <a:latin typeface="Consolas" panose="020B0609020204030204" pitchFamily="49" charset="0"/>
              </a:rPr>
              <a:t>total_wt</a:t>
            </a:r>
            <a:r>
              <a:rPr lang="en-US" altLang="en-US" sz="1600" dirty="0">
                <a:latin typeface="Consolas" panose="020B0609020204030204" pitchFamily="49" charset="0"/>
              </a:rPr>
              <a:t> + </a:t>
            </a:r>
            <a:r>
              <a:rPr lang="en-US" altLang="en-US" sz="1600" dirty="0" err="1">
                <a:latin typeface="Consolas" panose="020B0609020204030204" pitchFamily="49" charset="0"/>
              </a:rPr>
              <a:t>wt</a:t>
            </a:r>
            <a:r>
              <a:rPr lang="en-US" altLang="en-US" sz="1600" dirty="0">
                <a:latin typeface="Consolas" panose="020B0609020204030204" pitchFamily="49" charset="0"/>
              </a:rPr>
              <a:t>[</a:t>
            </a:r>
            <a:r>
              <a:rPr lang="en-US" altLang="en-US" sz="1600" dirty="0" err="1">
                <a:latin typeface="Consolas" panose="020B0609020204030204" pitchFamily="49" charset="0"/>
              </a:rPr>
              <a:t>i</a:t>
            </a:r>
            <a:r>
              <a:rPr lang="en-US" altLang="en-US" sz="1600" dirty="0">
                <a:latin typeface="Consolas" panose="020B0609020204030204" pitchFamily="49" charset="0"/>
              </a:rPr>
              <a:t>];</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dirty="0" err="1">
                <a:latin typeface="Consolas" panose="020B0609020204030204" pitchFamily="49" charset="0"/>
              </a:rPr>
              <a:t>total_tat</a:t>
            </a:r>
            <a:r>
              <a:rPr lang="en-US" altLang="en-US" sz="1600" dirty="0">
                <a:latin typeface="Consolas" panose="020B0609020204030204" pitchFamily="49" charset="0"/>
              </a:rPr>
              <a:t> = </a:t>
            </a:r>
            <a:r>
              <a:rPr lang="en-US" altLang="en-US" sz="1600" dirty="0" err="1">
                <a:latin typeface="Consolas" panose="020B0609020204030204" pitchFamily="49" charset="0"/>
              </a:rPr>
              <a:t>total_tat</a:t>
            </a:r>
            <a:r>
              <a:rPr lang="en-US" altLang="en-US" sz="1600" dirty="0">
                <a:latin typeface="Consolas" panose="020B0609020204030204" pitchFamily="49" charset="0"/>
              </a:rPr>
              <a:t> + tat[</a:t>
            </a:r>
            <a:r>
              <a:rPr lang="en-US" altLang="en-US" sz="1600" dirty="0" err="1">
                <a:latin typeface="Consolas" panose="020B0609020204030204" pitchFamily="49" charset="0"/>
              </a:rPr>
              <a:t>i</a:t>
            </a:r>
            <a:r>
              <a:rPr lang="en-US" altLang="en-US" sz="1600" dirty="0">
                <a:latin typeface="Consolas" panose="020B0609020204030204" pitchFamily="49" charset="0"/>
              </a:rPr>
              <a:t>];</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b="1" dirty="0" err="1">
                <a:latin typeface="Consolas" panose="020B0609020204030204" pitchFamily="49" charset="0"/>
              </a:rPr>
              <a:t>int</a:t>
            </a:r>
            <a:r>
              <a:rPr lang="en-US" altLang="en-US" sz="1600" dirty="0">
                <a:latin typeface="Consolas" panose="020B0609020204030204" pitchFamily="49" charset="0"/>
              </a:rPr>
              <a:t> </a:t>
            </a:r>
            <a:r>
              <a:rPr lang="en-US" altLang="en-US" sz="1600" dirty="0" err="1">
                <a:latin typeface="Consolas" panose="020B0609020204030204" pitchFamily="49" charset="0"/>
              </a:rPr>
              <a:t>compl_time</a:t>
            </a:r>
            <a:r>
              <a:rPr lang="en-US" altLang="en-US" sz="1600" dirty="0">
                <a:latin typeface="Consolas" panose="020B0609020204030204" pitchFamily="49" charset="0"/>
              </a:rPr>
              <a:t> = tat[</a:t>
            </a:r>
            <a:r>
              <a:rPr lang="en-US" altLang="en-US" sz="1600" dirty="0" err="1">
                <a:latin typeface="Consolas" panose="020B0609020204030204" pitchFamily="49" charset="0"/>
              </a:rPr>
              <a:t>i</a:t>
            </a:r>
            <a:r>
              <a:rPr lang="en-US" altLang="en-US" sz="1600" dirty="0">
                <a:latin typeface="Consolas" panose="020B0609020204030204" pitchFamily="49" charset="0"/>
              </a:rPr>
              <a:t>] + at[</a:t>
            </a:r>
            <a:r>
              <a:rPr lang="en-US" altLang="en-US" sz="1600" dirty="0" err="1">
                <a:latin typeface="Consolas" panose="020B0609020204030204" pitchFamily="49" charset="0"/>
              </a:rPr>
              <a:t>i</a:t>
            </a:r>
            <a:r>
              <a:rPr lang="en-US" altLang="en-US" sz="1600" dirty="0">
                <a:latin typeface="Consolas" panose="020B0609020204030204" pitchFamily="49" charset="0"/>
              </a:rPr>
              <a:t>];</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dirty="0" err="1">
                <a:latin typeface="Consolas" panose="020B0609020204030204" pitchFamily="49" charset="0"/>
              </a:rPr>
              <a:t>cout</a:t>
            </a:r>
            <a:r>
              <a:rPr lang="en-US" altLang="en-US" sz="1600" dirty="0">
                <a:latin typeface="Consolas" panose="020B0609020204030204" pitchFamily="49" charset="0"/>
              </a:rPr>
              <a:t> &lt;&lt; " " &lt;&lt; i+1 &lt;&lt; "\t\t" &lt;&lt; </a:t>
            </a:r>
            <a:r>
              <a:rPr lang="en-US" altLang="en-US" sz="1600" dirty="0" err="1">
                <a:latin typeface="Consolas" panose="020B0609020204030204" pitchFamily="49" charset="0"/>
              </a:rPr>
              <a:t>bt</a:t>
            </a:r>
            <a:r>
              <a:rPr lang="en-US" altLang="en-US" sz="1600" dirty="0">
                <a:latin typeface="Consolas" panose="020B0609020204030204" pitchFamily="49" charset="0"/>
              </a:rPr>
              <a:t>[</a:t>
            </a:r>
            <a:r>
              <a:rPr lang="en-US" altLang="en-US" sz="1600" dirty="0" err="1">
                <a:latin typeface="Consolas" panose="020B0609020204030204" pitchFamily="49" charset="0"/>
              </a:rPr>
              <a:t>i</a:t>
            </a:r>
            <a:r>
              <a:rPr lang="en-US" altLang="en-US" sz="1600" dirty="0">
                <a:latin typeface="Consolas" panose="020B0609020204030204" pitchFamily="49" charset="0"/>
              </a:rPr>
              <a:t>] &lt;&lt; "\t\t"</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&lt;&lt; at[</a:t>
            </a:r>
            <a:r>
              <a:rPr lang="en-US" altLang="en-US" sz="1600" dirty="0" err="1">
                <a:latin typeface="Consolas" panose="020B0609020204030204" pitchFamily="49" charset="0"/>
              </a:rPr>
              <a:t>i</a:t>
            </a:r>
            <a:r>
              <a:rPr lang="en-US" altLang="en-US" sz="1600" dirty="0">
                <a:latin typeface="Consolas" panose="020B0609020204030204" pitchFamily="49" charset="0"/>
              </a:rPr>
              <a:t>] &lt;&lt; "\t\t" &lt;&lt; </a:t>
            </a:r>
            <a:r>
              <a:rPr lang="en-US" altLang="en-US" sz="1600" dirty="0" err="1">
                <a:latin typeface="Consolas" panose="020B0609020204030204" pitchFamily="49" charset="0"/>
              </a:rPr>
              <a:t>wt</a:t>
            </a:r>
            <a:r>
              <a:rPr lang="en-US" altLang="en-US" sz="1600" dirty="0">
                <a:latin typeface="Consolas" panose="020B0609020204030204" pitchFamily="49" charset="0"/>
              </a:rPr>
              <a:t>[</a:t>
            </a:r>
            <a:r>
              <a:rPr lang="en-US" altLang="en-US" sz="1600" dirty="0" err="1">
                <a:latin typeface="Consolas" panose="020B0609020204030204" pitchFamily="49" charset="0"/>
              </a:rPr>
              <a:t>i</a:t>
            </a:r>
            <a:r>
              <a:rPr lang="en-US" altLang="en-US" sz="1600" dirty="0">
                <a:latin typeface="Consolas" panose="020B0609020204030204" pitchFamily="49" charset="0"/>
              </a:rPr>
              <a:t>] &lt;&lt; "\t\t "</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&lt;&lt; tat[</a:t>
            </a:r>
            <a:r>
              <a:rPr lang="en-US" altLang="en-US" sz="1600" dirty="0" err="1">
                <a:latin typeface="Consolas" panose="020B0609020204030204" pitchFamily="49" charset="0"/>
              </a:rPr>
              <a:t>i</a:t>
            </a:r>
            <a:r>
              <a:rPr lang="en-US" altLang="en-US" sz="1600" dirty="0">
                <a:latin typeface="Consolas" panose="020B0609020204030204" pitchFamily="49" charset="0"/>
              </a:rPr>
              <a:t>]  &lt;&lt;  "\t\t " &lt;&lt; </a:t>
            </a:r>
            <a:r>
              <a:rPr lang="en-US" altLang="en-US" sz="1600" dirty="0" err="1">
                <a:latin typeface="Consolas" panose="020B0609020204030204" pitchFamily="49" charset="0"/>
              </a:rPr>
              <a:t>compl_time</a:t>
            </a:r>
            <a:r>
              <a:rPr lang="en-US" altLang="en-US" sz="1600" dirty="0">
                <a:latin typeface="Consolas" panose="020B0609020204030204" pitchFamily="49" charset="0"/>
              </a:rPr>
              <a:t> &lt;&lt; </a:t>
            </a:r>
            <a:r>
              <a:rPr lang="en-US" altLang="en-US" sz="1600" dirty="0" err="1">
                <a:latin typeface="Consolas" panose="020B0609020204030204" pitchFamily="49" charset="0"/>
              </a:rPr>
              <a:t>endl</a:t>
            </a:r>
            <a:r>
              <a:rPr lang="en-US" altLang="en-US" sz="1600" dirty="0">
                <a:latin typeface="Consolas" panose="020B0609020204030204" pitchFamily="49" charset="0"/>
              </a:rPr>
              <a:t>;</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dirty="0" smtClean="0">
                <a:latin typeface="Consolas" panose="020B0609020204030204" pitchFamily="49" charset="0"/>
              </a:rPr>
              <a:t>}</a:t>
            </a:r>
            <a:endParaRPr lang="en-US" altLang="en-US" sz="24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dirty="0" err="1">
                <a:latin typeface="Consolas" panose="020B0609020204030204" pitchFamily="49" charset="0"/>
              </a:rPr>
              <a:t>cout</a:t>
            </a:r>
            <a:r>
              <a:rPr lang="en-US" altLang="en-US" sz="1600" dirty="0">
                <a:latin typeface="Consolas" panose="020B0609020204030204" pitchFamily="49" charset="0"/>
              </a:rPr>
              <a:t> &lt;&lt; "Average waiting time = "</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&lt;&lt; (</a:t>
            </a:r>
            <a:r>
              <a:rPr lang="en-US" altLang="en-US" sz="1600" b="1" dirty="0">
                <a:latin typeface="Consolas" panose="020B0609020204030204" pitchFamily="49" charset="0"/>
              </a:rPr>
              <a:t>float</a:t>
            </a:r>
            <a:r>
              <a:rPr lang="en-US" altLang="en-US" sz="1600" dirty="0">
                <a:latin typeface="Consolas" panose="020B0609020204030204" pitchFamily="49" charset="0"/>
              </a:rPr>
              <a:t>)</a:t>
            </a:r>
            <a:r>
              <a:rPr lang="en-US" altLang="en-US" sz="1600" dirty="0" err="1">
                <a:latin typeface="Consolas" panose="020B0609020204030204" pitchFamily="49" charset="0"/>
              </a:rPr>
              <a:t>total_wt</a:t>
            </a:r>
            <a:r>
              <a:rPr lang="en-US" altLang="en-US" sz="1600" dirty="0">
                <a:latin typeface="Consolas" panose="020B0609020204030204" pitchFamily="49" charset="0"/>
              </a:rPr>
              <a:t> / (</a:t>
            </a:r>
            <a:r>
              <a:rPr lang="en-US" altLang="en-US" sz="1600" b="1" dirty="0">
                <a:latin typeface="Consolas" panose="020B0609020204030204" pitchFamily="49" charset="0"/>
              </a:rPr>
              <a:t>float</a:t>
            </a:r>
            <a:r>
              <a:rPr lang="en-US" altLang="en-US" sz="1600" dirty="0">
                <a:latin typeface="Consolas" panose="020B0609020204030204" pitchFamily="49" charset="0"/>
              </a:rPr>
              <a:t>)n;</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a:t>
            </a:r>
            <a:r>
              <a:rPr lang="en-US" altLang="en-US" sz="1600" dirty="0" err="1">
                <a:latin typeface="Consolas" panose="020B0609020204030204" pitchFamily="49" charset="0"/>
              </a:rPr>
              <a:t>cout</a:t>
            </a:r>
            <a:r>
              <a:rPr lang="en-US" altLang="en-US" sz="1600" dirty="0">
                <a:latin typeface="Consolas" panose="020B0609020204030204" pitchFamily="49" charset="0"/>
              </a:rPr>
              <a:t> &lt;&lt; "\</a:t>
            </a:r>
            <a:r>
              <a:rPr lang="en-US" altLang="en-US" sz="1600" dirty="0" err="1">
                <a:latin typeface="Consolas" panose="020B0609020204030204" pitchFamily="49" charset="0"/>
              </a:rPr>
              <a:t>nAverage</a:t>
            </a:r>
            <a:r>
              <a:rPr lang="en-US" altLang="en-US" sz="1600" dirty="0">
                <a:latin typeface="Consolas" panose="020B0609020204030204" pitchFamily="49" charset="0"/>
              </a:rPr>
              <a:t> turn around time = "</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         &lt;&lt; (</a:t>
            </a:r>
            <a:r>
              <a:rPr lang="en-US" altLang="en-US" sz="1600" b="1" dirty="0">
                <a:latin typeface="Consolas" panose="020B0609020204030204" pitchFamily="49" charset="0"/>
              </a:rPr>
              <a:t>float</a:t>
            </a:r>
            <a:r>
              <a:rPr lang="en-US" altLang="en-US" sz="1600" dirty="0">
                <a:latin typeface="Consolas" panose="020B0609020204030204" pitchFamily="49" charset="0"/>
              </a:rPr>
              <a:t>)</a:t>
            </a:r>
            <a:r>
              <a:rPr lang="en-US" altLang="en-US" sz="1600" dirty="0" err="1">
                <a:latin typeface="Consolas" panose="020B0609020204030204" pitchFamily="49" charset="0"/>
              </a:rPr>
              <a:t>total_tat</a:t>
            </a:r>
            <a:r>
              <a:rPr lang="en-US" altLang="en-US" sz="1600" dirty="0">
                <a:latin typeface="Consolas" panose="020B0609020204030204" pitchFamily="49" charset="0"/>
              </a:rPr>
              <a:t> / (</a:t>
            </a:r>
            <a:r>
              <a:rPr lang="en-US" altLang="en-US" sz="1600" b="1" dirty="0">
                <a:latin typeface="Consolas" panose="020B0609020204030204" pitchFamily="49" charset="0"/>
              </a:rPr>
              <a:t>float</a:t>
            </a:r>
            <a:r>
              <a:rPr lang="en-US" altLang="en-US" sz="1600" dirty="0">
                <a:latin typeface="Consolas" panose="020B0609020204030204" pitchFamily="49" charset="0"/>
              </a:rPr>
              <a:t>)n;</a:t>
            </a:r>
            <a:endParaRPr lang="en-US" altLang="en-US" sz="1600" dirty="0"/>
          </a:p>
          <a:p>
            <a:pPr marL="0" lvl="0" indent="0" eaLnBrk="0" fontAlgn="base" hangingPunct="0">
              <a:lnSpc>
                <a:spcPct val="100000"/>
              </a:lnSpc>
              <a:spcBef>
                <a:spcPct val="0"/>
              </a:spcBef>
              <a:spcAft>
                <a:spcPct val="0"/>
              </a:spcAft>
              <a:buNone/>
            </a:pPr>
            <a:r>
              <a:rPr lang="en-US" altLang="en-US" sz="1600" dirty="0">
                <a:latin typeface="Consolas" panose="020B0609020204030204" pitchFamily="49" charset="0"/>
              </a:rPr>
              <a:t>}</a:t>
            </a:r>
            <a:endParaRPr lang="en-US" altLang="en-US" sz="1600" dirty="0"/>
          </a:p>
          <a:p>
            <a:pPr marL="0" lvl="0" indent="0" eaLnBrk="0" fontAlgn="base" hangingPunct="0">
              <a:lnSpc>
                <a:spcPct val="100000"/>
              </a:lnSpc>
              <a:spcBef>
                <a:spcPct val="0"/>
              </a:spcBef>
              <a:spcAft>
                <a:spcPct val="0"/>
              </a:spcAft>
              <a:buNone/>
            </a:pPr>
            <a:r>
              <a:rPr lang="en-US" altLang="en-US" sz="2400" dirty="0">
                <a:latin typeface="Consolas" panose="020B0609020204030204" pitchFamily="49" charset="0"/>
              </a:rPr>
              <a:t> </a:t>
            </a:r>
            <a:endParaRPr lang="en-US" altLang="en-US" sz="2400" dirty="0"/>
          </a:p>
        </p:txBody>
      </p:sp>
    </p:spTree>
    <p:extLst>
      <p:ext uri="{BB962C8B-B14F-4D97-AF65-F5344CB8AC3E}">
        <p14:creationId xmlns:p14="http://schemas.microsoft.com/office/powerpoint/2010/main" val="26660921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5949" y="911225"/>
            <a:ext cx="10515600" cy="4351338"/>
          </a:xfrm>
        </p:spPr>
        <p:txBody>
          <a:bodyPr>
            <a:normAutofit fontScale="62500" lnSpcReduction="20000"/>
          </a:bodyPr>
          <a:lstStyle/>
          <a:p>
            <a:pPr marL="0" lvl="0" indent="0" eaLnBrk="0" fontAlgn="base" hangingPunct="0">
              <a:lnSpc>
                <a:spcPct val="100000"/>
              </a:lnSpc>
              <a:spcBef>
                <a:spcPct val="0"/>
              </a:spcBef>
              <a:spcAft>
                <a:spcPct val="0"/>
              </a:spcAft>
              <a:buNone/>
            </a:pPr>
            <a:r>
              <a:rPr lang="en-US" altLang="en-US" dirty="0">
                <a:solidFill>
                  <a:schemeClr val="accent3"/>
                </a:solidFill>
                <a:latin typeface="Consolas" panose="020B0609020204030204" pitchFamily="49" charset="0"/>
              </a:rPr>
              <a:t>// Driver code</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b="1" dirty="0" err="1">
                <a:latin typeface="Consolas" panose="020B0609020204030204" pitchFamily="49" charset="0"/>
              </a:rPr>
              <a:t>int</a:t>
            </a:r>
            <a:r>
              <a:rPr lang="en-US" altLang="en-US" dirty="0">
                <a:latin typeface="Consolas" panose="020B0609020204030204" pitchFamily="49" charset="0"/>
              </a:rPr>
              <a:t> main()</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a:solidFill>
                  <a:schemeClr val="accent3"/>
                </a:solidFill>
                <a:latin typeface="Consolas" panose="020B0609020204030204" pitchFamily="49" charset="0"/>
              </a:rPr>
              <a:t>// Process id's</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b="1" dirty="0" err="1">
                <a:latin typeface="Consolas" panose="020B0609020204030204" pitchFamily="49" charset="0"/>
              </a:rPr>
              <a:t>int</a:t>
            </a:r>
            <a:r>
              <a:rPr lang="en-US" altLang="en-US" dirty="0">
                <a:latin typeface="Consolas" panose="020B0609020204030204" pitchFamily="49" charset="0"/>
              </a:rPr>
              <a:t> processes[] = {1, 2, 3};</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b="1" dirty="0" err="1">
                <a:latin typeface="Consolas" panose="020B0609020204030204" pitchFamily="49" charset="0"/>
              </a:rPr>
              <a:t>int</a:t>
            </a:r>
            <a:r>
              <a:rPr lang="en-US" altLang="en-US" dirty="0">
                <a:latin typeface="Consolas" panose="020B0609020204030204" pitchFamily="49" charset="0"/>
              </a:rPr>
              <a:t> n = </a:t>
            </a:r>
            <a:r>
              <a:rPr lang="en-US" altLang="en-US" b="1" dirty="0" err="1">
                <a:latin typeface="Consolas" panose="020B0609020204030204" pitchFamily="49" charset="0"/>
              </a:rPr>
              <a:t>sizeof</a:t>
            </a:r>
            <a:r>
              <a:rPr lang="en-US" altLang="en-US" dirty="0">
                <a:latin typeface="Consolas" panose="020B0609020204030204" pitchFamily="49" charset="0"/>
              </a:rPr>
              <a:t> processes / </a:t>
            </a:r>
            <a:r>
              <a:rPr lang="en-US" altLang="en-US" b="1" dirty="0" err="1">
                <a:latin typeface="Consolas" panose="020B0609020204030204" pitchFamily="49" charset="0"/>
              </a:rPr>
              <a:t>sizeof</a:t>
            </a:r>
            <a:r>
              <a:rPr lang="en-US" altLang="en-US" dirty="0">
                <a:latin typeface="Consolas" panose="020B0609020204030204" pitchFamily="49" charset="0"/>
              </a:rPr>
              <a:t> processes[0];</a:t>
            </a:r>
            <a:endParaRPr lang="en-US" altLang="en-US" dirty="0"/>
          </a:p>
          <a:p>
            <a:pPr marL="0" lvl="0" indent="0" eaLnBrk="0" fontAlgn="base" hangingPunct="0">
              <a:lnSpc>
                <a:spcPct val="100000"/>
              </a:lnSpc>
              <a:spcBef>
                <a:spcPct val="0"/>
              </a:spcBef>
              <a:spcAft>
                <a:spcPct val="0"/>
              </a:spcAft>
              <a:buNone/>
            </a:pPr>
            <a:r>
              <a:rPr lang="en-US" altLang="en-US" sz="4400" dirty="0">
                <a:latin typeface="Consolas" panose="020B0609020204030204" pitchFamily="49" charset="0"/>
              </a:rPr>
              <a:t> </a:t>
            </a:r>
            <a:endParaRPr lang="en-US" altLang="en-US" sz="4400" dirty="0">
              <a:solidFill>
                <a:schemeClr val="accent3"/>
              </a:solidFill>
            </a:endParaRPr>
          </a:p>
          <a:p>
            <a:pPr marL="0" lvl="0" indent="0" eaLnBrk="0" fontAlgn="base" hangingPunct="0">
              <a:lnSpc>
                <a:spcPct val="100000"/>
              </a:lnSpc>
              <a:spcBef>
                <a:spcPct val="0"/>
              </a:spcBef>
              <a:spcAft>
                <a:spcPct val="0"/>
              </a:spcAft>
              <a:buNone/>
            </a:pPr>
            <a:r>
              <a:rPr lang="en-US" altLang="en-US" dirty="0">
                <a:solidFill>
                  <a:schemeClr val="accent3"/>
                </a:solidFill>
                <a:latin typeface="Consolas" panose="020B0609020204030204" pitchFamily="49" charset="0"/>
              </a:rPr>
              <a:t>    // Burst time of all processes</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b="1" dirty="0" err="1">
                <a:latin typeface="Consolas" panose="020B0609020204030204" pitchFamily="49" charset="0"/>
              </a:rPr>
              <a:t>int</a:t>
            </a:r>
            <a:r>
              <a:rPr lang="en-US" altLang="en-US" dirty="0">
                <a:latin typeface="Consolas" panose="020B0609020204030204" pitchFamily="49" charset="0"/>
              </a:rPr>
              <a:t> </a:t>
            </a:r>
            <a:r>
              <a:rPr lang="en-US" altLang="en-US" dirty="0" err="1">
                <a:latin typeface="Consolas" panose="020B0609020204030204" pitchFamily="49" charset="0"/>
              </a:rPr>
              <a:t>burst_time</a:t>
            </a:r>
            <a:r>
              <a:rPr lang="en-US" altLang="en-US" dirty="0">
                <a:latin typeface="Consolas" panose="020B0609020204030204" pitchFamily="49" charset="0"/>
              </a:rPr>
              <a:t>[] = {5, 9, 6};</a:t>
            </a:r>
            <a:endParaRPr lang="en-US" altLang="en-US" dirty="0"/>
          </a:p>
          <a:p>
            <a:pPr marL="0" lvl="0" indent="0" eaLnBrk="0" fontAlgn="base" hangingPunct="0">
              <a:lnSpc>
                <a:spcPct val="100000"/>
              </a:lnSpc>
              <a:spcBef>
                <a:spcPct val="0"/>
              </a:spcBef>
              <a:spcAft>
                <a:spcPct val="0"/>
              </a:spcAft>
              <a:buNone/>
            </a:pPr>
            <a:r>
              <a:rPr lang="en-US" altLang="en-US" sz="4400" dirty="0">
                <a:latin typeface="Consolas" panose="020B0609020204030204" pitchFamily="49" charset="0"/>
              </a:rPr>
              <a:t> </a:t>
            </a:r>
            <a:endParaRPr lang="en-US" altLang="en-US" sz="4400"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a:solidFill>
                  <a:schemeClr val="accent3"/>
                </a:solidFill>
                <a:latin typeface="Consolas" panose="020B0609020204030204" pitchFamily="49" charset="0"/>
              </a:rPr>
              <a:t>// Arrival time of all processes</a:t>
            </a:r>
            <a:endParaRPr lang="en-US" altLang="en-US" dirty="0">
              <a:solidFill>
                <a:schemeClr val="accent3"/>
              </a:solidFill>
            </a:endParaRPr>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b="1" dirty="0" err="1">
                <a:latin typeface="Consolas" panose="020B0609020204030204" pitchFamily="49" charset="0"/>
              </a:rPr>
              <a:t>int</a:t>
            </a:r>
            <a:r>
              <a:rPr lang="en-US" altLang="en-US" dirty="0">
                <a:latin typeface="Consolas" panose="020B0609020204030204" pitchFamily="49" charset="0"/>
              </a:rPr>
              <a:t> </a:t>
            </a:r>
            <a:r>
              <a:rPr lang="en-US" altLang="en-US" dirty="0" err="1">
                <a:latin typeface="Consolas" panose="020B0609020204030204" pitchFamily="49" charset="0"/>
              </a:rPr>
              <a:t>arrival_time</a:t>
            </a:r>
            <a:r>
              <a:rPr lang="en-US" altLang="en-US" dirty="0">
                <a:latin typeface="Consolas" panose="020B0609020204030204" pitchFamily="49" charset="0"/>
              </a:rPr>
              <a:t>[] = {0, 3, 6};</a:t>
            </a:r>
            <a:endParaRPr lang="en-US" altLang="en-US" dirty="0"/>
          </a:p>
          <a:p>
            <a:pPr marL="0" lvl="0" indent="0" eaLnBrk="0" fontAlgn="base" hangingPunct="0">
              <a:lnSpc>
                <a:spcPct val="100000"/>
              </a:lnSpc>
              <a:spcBef>
                <a:spcPct val="0"/>
              </a:spcBef>
              <a:spcAft>
                <a:spcPct val="0"/>
              </a:spcAft>
              <a:buNone/>
            </a:pPr>
            <a:r>
              <a:rPr lang="en-US" altLang="en-US" sz="4400" dirty="0">
                <a:latin typeface="Consolas" panose="020B0609020204030204" pitchFamily="49" charset="0"/>
              </a:rPr>
              <a:t> </a:t>
            </a:r>
            <a:endParaRPr lang="en-US" altLang="en-US" sz="4400"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dirty="0" err="1">
                <a:latin typeface="Consolas" panose="020B0609020204030204" pitchFamily="49" charset="0"/>
              </a:rPr>
              <a:t>findavgTime</a:t>
            </a:r>
            <a:r>
              <a:rPr lang="en-US" altLang="en-US" dirty="0">
                <a:latin typeface="Consolas" panose="020B0609020204030204" pitchFamily="49" charset="0"/>
              </a:rPr>
              <a:t>(processes, n, </a:t>
            </a:r>
            <a:r>
              <a:rPr lang="en-US" altLang="en-US" dirty="0" err="1">
                <a:latin typeface="Consolas" panose="020B0609020204030204" pitchFamily="49" charset="0"/>
              </a:rPr>
              <a:t>burst_time</a:t>
            </a:r>
            <a:r>
              <a:rPr lang="en-US" altLang="en-US" dirty="0">
                <a:latin typeface="Consolas" panose="020B0609020204030204" pitchFamily="49" charset="0"/>
              </a:rPr>
              <a:t>, </a:t>
            </a:r>
            <a:r>
              <a:rPr lang="en-US" altLang="en-US" dirty="0" err="1">
                <a:latin typeface="Consolas" panose="020B0609020204030204" pitchFamily="49" charset="0"/>
              </a:rPr>
              <a:t>arrival_time</a:t>
            </a:r>
            <a:r>
              <a:rPr lang="en-US" altLang="en-US" dirty="0">
                <a:latin typeface="Consolas" panose="020B0609020204030204" pitchFamily="49" charset="0"/>
              </a:rPr>
              <a:t>);</a:t>
            </a:r>
            <a:endParaRPr lang="en-US" altLang="en-US" dirty="0"/>
          </a:p>
          <a:p>
            <a:pPr marL="0" lvl="0" indent="0" eaLnBrk="0" fontAlgn="base" hangingPunct="0">
              <a:lnSpc>
                <a:spcPct val="100000"/>
              </a:lnSpc>
              <a:spcBef>
                <a:spcPct val="0"/>
              </a:spcBef>
              <a:spcAft>
                <a:spcPct val="0"/>
              </a:spcAft>
              <a:buNone/>
            </a:pPr>
            <a:r>
              <a:rPr lang="en-US" altLang="en-US" sz="4400" dirty="0">
                <a:latin typeface="Consolas" panose="020B0609020204030204" pitchFamily="49" charset="0"/>
              </a:rPr>
              <a:t> </a:t>
            </a:r>
            <a:endParaRPr lang="en-US" altLang="en-US" sz="4400"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r>
              <a:rPr lang="en-US" altLang="en-US" b="1" dirty="0">
                <a:latin typeface="Consolas" panose="020B0609020204030204" pitchFamily="49" charset="0"/>
              </a:rPr>
              <a:t>return</a:t>
            </a:r>
            <a:r>
              <a:rPr lang="en-US" altLang="en-US" dirty="0">
                <a:latin typeface="Consolas" panose="020B0609020204030204" pitchFamily="49" charset="0"/>
              </a:rPr>
              <a:t> 0;</a:t>
            </a:r>
            <a:endParaRPr lang="en-US" altLang="en-US" dirty="0"/>
          </a:p>
          <a:p>
            <a:pPr marL="0" lvl="0" indent="0" eaLnBrk="0" fontAlgn="base" hangingPunct="0">
              <a:lnSpc>
                <a:spcPct val="100000"/>
              </a:lnSpc>
              <a:spcBef>
                <a:spcPct val="0"/>
              </a:spcBef>
              <a:spcAft>
                <a:spcPct val="0"/>
              </a:spcAft>
              <a:buNone/>
            </a:pPr>
            <a:r>
              <a:rPr lang="en-US" altLang="en-US" dirty="0">
                <a:latin typeface="Consolas" panose="020B0609020204030204" pitchFamily="49" charset="0"/>
              </a:rPr>
              <a:t>}    </a:t>
            </a:r>
            <a:endParaRPr lang="en-US" dirty="0"/>
          </a:p>
          <a:p>
            <a:pPr marL="0" indent="0">
              <a:buNone/>
            </a:pPr>
            <a:endParaRPr lang="en-US" dirty="0"/>
          </a:p>
        </p:txBody>
      </p:sp>
      <p:pic>
        <p:nvPicPr>
          <p:cNvPr id="4" name="Picture 3"/>
          <p:cNvPicPr/>
          <p:nvPr/>
        </p:nvPicPr>
        <p:blipFill rotWithShape="1">
          <a:blip r:embed="rId2">
            <a:extLst>
              <a:ext uri="{28A0092B-C50C-407E-A947-70E740481C1C}">
                <a14:useLocalDpi xmlns:a14="http://schemas.microsoft.com/office/drawing/2010/main" val="0"/>
              </a:ext>
            </a:extLst>
          </a:blip>
          <a:srcRect l="24928" t="18030" r="25497" b="49733"/>
          <a:stretch/>
        </p:blipFill>
        <p:spPr bwMode="auto">
          <a:xfrm>
            <a:off x="7491548" y="1214847"/>
            <a:ext cx="4474029" cy="220762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09988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7389" y="862148"/>
            <a:ext cx="10515600" cy="4885509"/>
          </a:xfrm>
        </p:spPr>
        <p:txBody>
          <a:bodyPr>
            <a:normAutofit/>
          </a:bodyPr>
          <a:lstStyle/>
          <a:p>
            <a:pPr marL="0" indent="0">
              <a:buNone/>
            </a:pPr>
            <a:r>
              <a:rPr lang="en-US" sz="2400" b="1" dirty="0" smtClean="0"/>
              <a:t>Advantages: </a:t>
            </a:r>
          </a:p>
          <a:p>
            <a:pPr marL="0" indent="0">
              <a:buNone/>
            </a:pPr>
            <a:r>
              <a:rPr lang="en-US" sz="2400" dirty="0" smtClean="0"/>
              <a:t>This scheduling algorithm is simple, easy and based on First In First Out principle</a:t>
            </a:r>
          </a:p>
          <a:p>
            <a:pPr marL="0" indent="0">
              <a:buNone/>
            </a:pPr>
            <a:endParaRPr lang="en-US" sz="2400" dirty="0"/>
          </a:p>
          <a:p>
            <a:pPr marL="0" indent="0">
              <a:buNone/>
            </a:pPr>
            <a:r>
              <a:rPr lang="en-US" sz="2400" b="1" dirty="0" smtClean="0"/>
              <a:t>Disadvantages:</a:t>
            </a:r>
          </a:p>
          <a:p>
            <a:r>
              <a:rPr lang="en-US" sz="2400" dirty="0"/>
              <a:t>The scheduling method is non preemptive, the process will run to the completion.</a:t>
            </a:r>
          </a:p>
          <a:p>
            <a:r>
              <a:rPr lang="en-US" sz="2400" dirty="0"/>
              <a:t>Due to the non-preemptive nature of the algorithm, the problem of starvation may occur.</a:t>
            </a:r>
          </a:p>
          <a:p>
            <a:r>
              <a:rPr lang="en-US" sz="2400" dirty="0"/>
              <a:t>Although it is easy to implement, but it is poor in performance since the average waiting time is higher as compare to other scheduling algorithms.</a:t>
            </a:r>
          </a:p>
          <a:p>
            <a:pPr marL="0" indent="0">
              <a:buNone/>
            </a:pPr>
            <a:endParaRPr lang="en-US" sz="2400" dirty="0" smtClean="0"/>
          </a:p>
        </p:txBody>
      </p:sp>
    </p:spTree>
    <p:extLst>
      <p:ext uri="{BB962C8B-B14F-4D97-AF65-F5344CB8AC3E}">
        <p14:creationId xmlns:p14="http://schemas.microsoft.com/office/powerpoint/2010/main" val="30264409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TotalTime>
  <Words>1030</Words>
  <Application>Microsoft Office PowerPoint</Application>
  <PresentationFormat>Custom</PresentationFormat>
  <Paragraphs>264</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FIFO (First In First Out page replacement algorithm)</vt:lpstr>
      <vt:lpstr>How it works !</vt:lpstr>
      <vt:lpstr>Pseudocode</vt:lpstr>
      <vt:lpstr>PowerPoint Presentation</vt:lpstr>
      <vt:lpstr>Program</vt:lpstr>
      <vt:lpstr>PowerPoint Presentation</vt:lpstr>
      <vt:lpstr>PowerPoint Presentation</vt:lpstr>
      <vt:lpstr>PowerPoint Presentation</vt:lpstr>
      <vt:lpstr>PowerPoint Presentation</vt:lpstr>
      <vt:lpstr>FCFS (First Come First Serve CPU scheduling algorithm)</vt:lpstr>
      <vt:lpstr>How it works !</vt:lpstr>
      <vt:lpstr>Pseudocode</vt:lpstr>
      <vt:lpstr>Program</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ganana</dc:creator>
  <cp:lastModifiedBy>USER</cp:lastModifiedBy>
  <cp:revision>35</cp:revision>
  <dcterms:created xsi:type="dcterms:W3CDTF">2021-12-28T12:42:44Z</dcterms:created>
  <dcterms:modified xsi:type="dcterms:W3CDTF">2021-12-31T07:46:21Z</dcterms:modified>
</cp:coreProperties>
</file>